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1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104f3dc26b493b" /><Relationship Type="http://schemas.openxmlformats.org/officeDocument/2006/relationships/extended-properties" Target="/docProps/app.xml" Id="R8cc1b453403149cd" /><Relationship Type="http://schemas.openxmlformats.org/officeDocument/2006/relationships/officeDocument" Target="/ppt/presentation.xml" Id="R0066321920cf4a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798b216dfa438a"/>
  </p:sldMasterIdLst>
  <p:notesMasterIdLst>
    <p:notesMasterId xmlns:r="http://schemas.openxmlformats.org/officeDocument/2006/relationships" r:id="Ra4e26f62f8c24caa"/>
  </p:notesMasterIdLst>
  <p:sldIdLst>
    <p:sldId xmlns:r="http://schemas.openxmlformats.org/officeDocument/2006/relationships" id="256" r:id="Rb27e22b20a55479e"/>
    <p:sldId xmlns:r="http://schemas.openxmlformats.org/officeDocument/2006/relationships" id="257" r:id="Rff48b434b3c74c68"/>
    <p:sldId xmlns:r="http://schemas.openxmlformats.org/officeDocument/2006/relationships" id="258" r:id="R5ff67c7c3b2b4008"/>
    <p:sldId xmlns:r="http://schemas.openxmlformats.org/officeDocument/2006/relationships" id="259" r:id="Rf6d4953c5e10411e"/>
    <p:sldId xmlns:r="http://schemas.openxmlformats.org/officeDocument/2006/relationships" id="260" r:id="Rcc00c1fd62c44582"/>
    <p:sldId xmlns:r="http://schemas.openxmlformats.org/officeDocument/2006/relationships" id="261" r:id="R487ac25037b9414a"/>
    <p:sldId xmlns:r="http://schemas.openxmlformats.org/officeDocument/2006/relationships" id="262" r:id="R922092c0ae964d01"/>
    <p:sldId xmlns:r="http://schemas.openxmlformats.org/officeDocument/2006/relationships" id="263" r:id="R15fc8d3aa9da4611"/>
    <p:sldId xmlns:r="http://schemas.openxmlformats.org/officeDocument/2006/relationships" id="264" r:id="R2dee8b17e08a49ff"/>
    <p:sldId xmlns:r="http://schemas.openxmlformats.org/officeDocument/2006/relationships" id="265" r:id="R7cbf6f0dcc0a4e38"/>
    <p:sldId xmlns:r="http://schemas.openxmlformats.org/officeDocument/2006/relationships" id="266" r:id="Rfd32051364f14395"/>
    <p:sldId xmlns:r="http://schemas.openxmlformats.org/officeDocument/2006/relationships" id="267" r:id="R53e4a3259df24d43"/>
    <p:sldId xmlns:r="http://schemas.openxmlformats.org/officeDocument/2006/relationships" id="268" r:id="R84cac19dc554459b"/>
    <p:sldId xmlns:r="http://schemas.openxmlformats.org/officeDocument/2006/relationships" id="269" r:id="Rc3e3e0d3d46a4f06"/>
    <p:sldId xmlns:r="http://schemas.openxmlformats.org/officeDocument/2006/relationships" id="270" r:id="R25b17be49b48413d"/>
    <p:sldId xmlns:r="http://schemas.openxmlformats.org/officeDocument/2006/relationships" id="271" r:id="R48618d6698474c04"/>
    <p:sldId xmlns:r="http://schemas.openxmlformats.org/officeDocument/2006/relationships" id="272" r:id="R1ef9167983e54664"/>
    <p:sldId xmlns:r="http://schemas.openxmlformats.org/officeDocument/2006/relationships" id="273" r:id="Re8535f56fb024b5c"/>
    <p:sldId xmlns:r="http://schemas.openxmlformats.org/officeDocument/2006/relationships" id="274" r:id="R7a558cb97ee942b5"/>
    <p:sldId xmlns:r="http://schemas.openxmlformats.org/officeDocument/2006/relationships" id="275" r:id="R64057899e107472e"/>
    <p:sldId xmlns:r="http://schemas.openxmlformats.org/officeDocument/2006/relationships" id="276" r:id="R59a7a47e7d2f4b60"/>
    <p:sldId xmlns:r="http://schemas.openxmlformats.org/officeDocument/2006/relationships" id="277" r:id="R4145b13dee1540ae"/>
    <p:sldId xmlns:r="http://schemas.openxmlformats.org/officeDocument/2006/relationships" id="278" r:id="R018f13fa23af43cf"/>
    <p:sldId xmlns:r="http://schemas.openxmlformats.org/officeDocument/2006/relationships" id="279" r:id="R70eda652635a4fb1"/>
    <p:sldId xmlns:r="http://schemas.openxmlformats.org/officeDocument/2006/relationships" id="280" r:id="Re9cb14a7dd4347e5"/>
    <p:sldId xmlns:r="http://schemas.openxmlformats.org/officeDocument/2006/relationships" id="281" r:id="R8eb6839790b647ad"/>
    <p:sldId xmlns:r="http://schemas.openxmlformats.org/officeDocument/2006/relationships" id="282" r:id="R1e8ab19c587441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28d5d350ed49c6" /><Relationship Type="http://schemas.openxmlformats.org/officeDocument/2006/relationships/slideMaster" Target="/ppt/slideMasters/slideMaster1.xml" Id="Re9798b216dfa438a" /><Relationship Type="http://schemas.openxmlformats.org/officeDocument/2006/relationships/notesMaster" Target="/ppt/notesMasters/notesMaster1.xml" Id="Ra4e26f62f8c24caa" /><Relationship Type="http://schemas.openxmlformats.org/officeDocument/2006/relationships/presProps" Target="/ppt/presProps.xml" Id="R1ea3c669eeee4afd" /><Relationship Type="http://schemas.openxmlformats.org/officeDocument/2006/relationships/tableStyles" Target="/ppt/tableStyles.xml" Id="R82de52a0754c4b61" /><Relationship Type="http://schemas.openxmlformats.org/officeDocument/2006/relationships/slide" Target="/ppt/slides/slide1.xml" Id="Rb27e22b20a55479e" /><Relationship Type="http://schemas.openxmlformats.org/officeDocument/2006/relationships/slide" Target="/ppt/slides/slide2.xml" Id="Rff48b434b3c74c68" /><Relationship Type="http://schemas.openxmlformats.org/officeDocument/2006/relationships/slide" Target="/ppt/slides/slide3.xml" Id="R5ff67c7c3b2b4008" /><Relationship Type="http://schemas.openxmlformats.org/officeDocument/2006/relationships/slide" Target="/ppt/slides/slide4.xml" Id="Rf6d4953c5e10411e" /><Relationship Type="http://schemas.openxmlformats.org/officeDocument/2006/relationships/slide" Target="/ppt/slides/slide5.xml" Id="Rcc00c1fd62c44582" /><Relationship Type="http://schemas.openxmlformats.org/officeDocument/2006/relationships/slide" Target="/ppt/slides/slide6.xml" Id="R487ac25037b9414a" /><Relationship Type="http://schemas.openxmlformats.org/officeDocument/2006/relationships/slide" Target="/ppt/slides/slide7.xml" Id="R922092c0ae964d01" /><Relationship Type="http://schemas.openxmlformats.org/officeDocument/2006/relationships/slide" Target="/ppt/slides/slide8.xml" Id="R15fc8d3aa9da4611" /><Relationship Type="http://schemas.openxmlformats.org/officeDocument/2006/relationships/slide" Target="/ppt/slides/slide9.xml" Id="R2dee8b17e08a49ff" /><Relationship Type="http://schemas.openxmlformats.org/officeDocument/2006/relationships/slide" Target="/ppt/slides/slide10.xml" Id="R7cbf6f0dcc0a4e38" /><Relationship Type="http://schemas.openxmlformats.org/officeDocument/2006/relationships/slide" Target="/ppt/slides/slide11.xml" Id="Rfd32051364f14395" /><Relationship Type="http://schemas.openxmlformats.org/officeDocument/2006/relationships/slide" Target="/ppt/slides/slide12.xml" Id="R53e4a3259df24d43" /><Relationship Type="http://schemas.openxmlformats.org/officeDocument/2006/relationships/slide" Target="/ppt/slides/slide13.xml" Id="R84cac19dc554459b" /><Relationship Type="http://schemas.openxmlformats.org/officeDocument/2006/relationships/slide" Target="/ppt/slides/slide14.xml" Id="Rc3e3e0d3d46a4f06" /><Relationship Type="http://schemas.openxmlformats.org/officeDocument/2006/relationships/slide" Target="/ppt/slides/slide15.xml" Id="R25b17be49b48413d" /><Relationship Type="http://schemas.openxmlformats.org/officeDocument/2006/relationships/slide" Target="/ppt/slides/slide16.xml" Id="R48618d6698474c04" /><Relationship Type="http://schemas.openxmlformats.org/officeDocument/2006/relationships/slide" Target="/ppt/slides/slide17.xml" Id="R1ef9167983e54664" /><Relationship Type="http://schemas.openxmlformats.org/officeDocument/2006/relationships/slide" Target="/ppt/slides/slide18.xml" Id="Re8535f56fb024b5c" /><Relationship Type="http://schemas.openxmlformats.org/officeDocument/2006/relationships/slide" Target="/ppt/slides/slide19.xml" Id="R7a558cb97ee942b5" /><Relationship Type="http://schemas.openxmlformats.org/officeDocument/2006/relationships/slide" Target="/ppt/slides/slide20.xml" Id="R64057899e107472e" /><Relationship Type="http://schemas.openxmlformats.org/officeDocument/2006/relationships/slide" Target="/ppt/slides/slide21.xml" Id="R59a7a47e7d2f4b60" /><Relationship Type="http://schemas.openxmlformats.org/officeDocument/2006/relationships/slide" Target="/ppt/slides/slide22.xml" Id="R4145b13dee1540ae" /><Relationship Type="http://schemas.openxmlformats.org/officeDocument/2006/relationships/slide" Target="/ppt/slides/slide23.xml" Id="R018f13fa23af43cf" /><Relationship Type="http://schemas.openxmlformats.org/officeDocument/2006/relationships/slide" Target="/ppt/slides/slide24.xml" Id="R70eda652635a4fb1" /><Relationship Type="http://schemas.openxmlformats.org/officeDocument/2006/relationships/slide" Target="/ppt/slides/slide25.xml" Id="Re9cb14a7dd4347e5" /><Relationship Type="http://schemas.openxmlformats.org/officeDocument/2006/relationships/slide" Target="/ppt/slides/slide26.xml" Id="R8eb6839790b647ad" /><Relationship Type="http://schemas.openxmlformats.org/officeDocument/2006/relationships/slide" Target="/ppt/slides/slide27.xml" Id="R1e8ab19c587441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f2618c8a694f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802f49d4ee4d61" /><Relationship Type="http://schemas.openxmlformats.org/officeDocument/2006/relationships/notesMaster" Target="/ppt/notesMasters/notesMaster1.xml" Id="Rb7ab33f4328b4d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63471854c04cc7" /><Relationship Type="http://schemas.openxmlformats.org/officeDocument/2006/relationships/notesMaster" Target="/ppt/notesMasters/notesMaster1.xml" Id="R00416d73ddd241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f00dddad5f4c73" /><Relationship Type="http://schemas.openxmlformats.org/officeDocument/2006/relationships/notesMaster" Target="/ppt/notesMasters/notesMaster1.xml" Id="R1969790da93847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c91c8264db4d71" /><Relationship Type="http://schemas.openxmlformats.org/officeDocument/2006/relationships/notesMaster" Target="/ppt/notesMasters/notesMaster1.xml" Id="R661d6128a7aa4e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39fac40ef641c3" /><Relationship Type="http://schemas.openxmlformats.org/officeDocument/2006/relationships/notesMaster" Target="/ppt/notesMasters/notesMaster1.xml" Id="Rcdfaaba4c9c443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2d1d6d1b954902" /><Relationship Type="http://schemas.openxmlformats.org/officeDocument/2006/relationships/notesMaster" Target="/ppt/notesMasters/notesMaster1.xml" Id="R965568b367494d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2a64019baa40f1" /><Relationship Type="http://schemas.openxmlformats.org/officeDocument/2006/relationships/notesMaster" Target="/ppt/notesMasters/notesMaster1.xml" Id="R0867764784fe4b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99ee01a63e4b5a" /><Relationship Type="http://schemas.openxmlformats.org/officeDocument/2006/relationships/notesMaster" Target="/ppt/notesMasters/notesMaster1.xml" Id="R5f964575503148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bba7a7358f488e" /><Relationship Type="http://schemas.openxmlformats.org/officeDocument/2006/relationships/notesMaster" Target="/ppt/notesMasters/notesMaster1.xml" Id="R6c1ab95d27f041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7c007221a6497e" /><Relationship Type="http://schemas.openxmlformats.org/officeDocument/2006/relationships/notesMaster" Target="/ppt/notesMasters/notesMaster1.xml" Id="Rc12f172c4b1040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ebc9e5a92f4ada" /><Relationship Type="http://schemas.openxmlformats.org/officeDocument/2006/relationships/notesMaster" Target="/ppt/notesMasters/notesMaster1.xml" Id="R93c8ef0e330e44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79fbf3e0434a22" /><Relationship Type="http://schemas.openxmlformats.org/officeDocument/2006/relationships/notesMaster" Target="/ppt/notesMasters/notesMaster1.xml" Id="R9f526be68fac40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e4c6d89e2e4329" /><Relationship Type="http://schemas.openxmlformats.org/officeDocument/2006/relationships/notesMaster" Target="/ppt/notesMasters/notesMaster1.xml" Id="R21571d8cdea84b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198686b6da415d" /><Relationship Type="http://schemas.openxmlformats.org/officeDocument/2006/relationships/notesMaster" Target="/ppt/notesMasters/notesMaster1.xml" Id="R324e1f76baf546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48295804014cc3" /><Relationship Type="http://schemas.openxmlformats.org/officeDocument/2006/relationships/notesMaster" Target="/ppt/notesMasters/notesMaster1.xml" Id="Rd489cae90cf247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a47cf1c9cf415a" /><Relationship Type="http://schemas.openxmlformats.org/officeDocument/2006/relationships/notesMaster" Target="/ppt/notesMasters/notesMaster1.xml" Id="Red5d19e5ade949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464722b2ac4ef6" /><Relationship Type="http://schemas.openxmlformats.org/officeDocument/2006/relationships/notesMaster" Target="/ppt/notesMasters/notesMaster1.xml" Id="R71873c27887f49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10602d86f54eb3" /><Relationship Type="http://schemas.openxmlformats.org/officeDocument/2006/relationships/notesMaster" Target="/ppt/notesMasters/notesMaster1.xml" Id="R5373edcb13ab46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cb8ad7450254283" /><Relationship Type="http://schemas.openxmlformats.org/officeDocument/2006/relationships/notesMaster" Target="/ppt/notesMasters/notesMaster1.xml" Id="R32dde8f1d1194a6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095079f57954b57" /><Relationship Type="http://schemas.openxmlformats.org/officeDocument/2006/relationships/notesMaster" Target="/ppt/notesMasters/notesMaster1.xml" Id="R60613f390ff44a6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3e896a0012422c" /><Relationship Type="http://schemas.openxmlformats.org/officeDocument/2006/relationships/notesMaster" Target="/ppt/notesMasters/notesMaster1.xml" Id="R71199ab72699475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af527c9af1f49b8" /><Relationship Type="http://schemas.openxmlformats.org/officeDocument/2006/relationships/notesMaster" Target="/ppt/notesMasters/notesMaster1.xml" Id="Rba220c8130bd4c3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251ffaec8e4578" /><Relationship Type="http://schemas.openxmlformats.org/officeDocument/2006/relationships/notesMaster" Target="/ppt/notesMasters/notesMaster1.xml" Id="R35416268551c4d4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83c9b1183fe4c65" /><Relationship Type="http://schemas.openxmlformats.org/officeDocument/2006/relationships/notesMaster" Target="/ppt/notesMasters/notesMaster1.xml" Id="R591b636b360f42c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b7c9901f1944832" /><Relationship Type="http://schemas.openxmlformats.org/officeDocument/2006/relationships/notesMaster" Target="/ppt/notesMasters/notesMaster1.xml" Id="R9b46e8d1bed84aa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2cf5f37e6724e0f" /><Relationship Type="http://schemas.openxmlformats.org/officeDocument/2006/relationships/notesMaster" Target="/ppt/notesMasters/notesMaster1.xml" Id="Ra63698d159d041a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65a9b67fafa409c" /><Relationship Type="http://schemas.openxmlformats.org/officeDocument/2006/relationships/notesMaster" Target="/ppt/notesMasters/notesMaster1.xml" Id="Rdb1691adf0624b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08_defense/04_case/otf-case-retrospective.md</a:t>
            </a:r>
          </a:p>
          <a:p xmlns:a="http://schemas.openxmlformats.org/drawingml/2006/main">
            <a:r>
              <a:t>- Internal: output/doc/养老目标基金购买者认知与持有行为洞察报告_展示版.pdf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08_defense/04_case/otf-case-retrospective.md</a:t>
            </a:r>
          </a:p>
          <a:p xmlns:a="http://schemas.openxmlformats.org/drawingml/2006/main">
            <a:r>
              <a:t>- Internal: output/doc/养老目标基金购买者认知与持有行为洞察报告_展示版.pdf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08_defense/02_workflow/full-workflow-design.md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03_experts/cap-01-frame-research-question.md</a:t>
            </a:r>
          </a:p>
          <a:p xmlns:a="http://schemas.openxmlformats.org/drawingml/2006/main">
            <a:r>
              <a:t>- Internal: 08_defense/03_experts/expert-agent-prompt-handbook.md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03_experts/cap-02-design-research-plan.md</a:t>
            </a:r>
          </a:p>
          <a:p xmlns:a="http://schemas.openxmlformats.org/drawingml/2006/main">
            <a:r>
              <a:t>- Internal: 08_defense/03_experts/expert-agent-prompt-handbook.md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03_experts/cap-03-design-research-instrument.md</a:t>
            </a:r>
          </a:p>
          <a:p xmlns:a="http://schemas.openxmlformats.org/drawingml/2006/main">
            <a:r>
              <a:t>- Internal: 08_defense/03_experts/expert-agent-prompt-handbook.md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03_experts/cap-04-review-research-quality.md</a:t>
            </a:r>
          </a:p>
          <a:p xmlns:a="http://schemas.openxmlformats.org/drawingml/2006/main">
            <a:r>
              <a:t>- Internal: 08_defense/03_experts/expert-agent-prompt-handbook.md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03_experts/cap-05-synthesize-research-insights.md</a:t>
            </a:r>
          </a:p>
          <a:p xmlns:a="http://schemas.openxmlformats.org/drawingml/2006/main">
            <a:r>
              <a:t>- Internal: 08_defense/03_experts/expert-agent-prompt-handbook.md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03_experts/cap-06-compose-research-report.md</a:t>
            </a:r>
          </a:p>
          <a:p xmlns:a="http://schemas.openxmlformats.org/drawingml/2006/main">
            <a:r>
              <a:t>- Internal: 08_defense/03_experts/expert-agent-prompt-handbook.md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03_experts/ctrl-01-orchestrate-research-workflow.md</a:t>
            </a:r>
          </a:p>
          <a:p xmlns:a="http://schemas.openxmlformats.org/drawingml/2006/main">
            <a:r>
              <a:t>- Internal: 08_defense/03_experts/expert-agent-prompt-handbook.md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3178142ef4e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cf533359e641d4" /><Relationship Type="http://schemas.openxmlformats.org/officeDocument/2006/relationships/slideLayout" Target="/ppt/slideLayouts/slideLayout1.xml" Id="R3b39be212eff40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39be212eff40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317fdd3c94892" /><Relationship Type="http://schemas.openxmlformats.org/officeDocument/2006/relationships/notesSlide" Target="/ppt/notesSlides/notesSlide1.xml" Id="Rb2e85654995449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cc799ec244701" /><Relationship Type="http://schemas.openxmlformats.org/officeDocument/2006/relationships/notesSlide" Target="/ppt/notesSlides/notesSlide2.xml" Id="R420f334051b541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59663c3844a46" /><Relationship Type="http://schemas.openxmlformats.org/officeDocument/2006/relationships/slide" Target="slide6.xml" Id="R234d6dba038a489c" /><Relationship Type="http://schemas.openxmlformats.org/officeDocument/2006/relationships/slide" Target="slide7.xml" Id="Rd012139cf7e749bb" /><Relationship Type="http://schemas.openxmlformats.org/officeDocument/2006/relationships/slide" Target="slide8.xml" Id="R0f33708fe066427c" /><Relationship Type="http://schemas.openxmlformats.org/officeDocument/2006/relationships/slide" Target="slide9.xml" Id="R1b0b86a86487465d" /><Relationship Type="http://schemas.openxmlformats.org/officeDocument/2006/relationships/slide" Target="slide10.xml" Id="Rc1a7abf564d94e7e" /><Relationship Type="http://schemas.openxmlformats.org/officeDocument/2006/relationships/slide" Target="slide11.xml" Id="Rc7233116d5414c6c" /><Relationship Type="http://schemas.openxmlformats.org/officeDocument/2006/relationships/slide" Target="slide12.xml" Id="Rbc9cb7335c934cfc" /><Relationship Type="http://schemas.openxmlformats.org/officeDocument/2006/relationships/slide" Target="slide13.xml" Id="R03a258da028f4f2c" /><Relationship Type="http://schemas.openxmlformats.org/officeDocument/2006/relationships/notesSlide" Target="/ppt/notesSlides/notesSlide3.xml" Id="Re192d556075644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b7ff0d2354213" /><Relationship Type="http://schemas.openxmlformats.org/officeDocument/2006/relationships/slide" Target="slide21.xml" Id="Rd83334c82c334958" /><Relationship Type="http://schemas.openxmlformats.org/officeDocument/2006/relationships/slide" Target="slide22.xml" Id="Rb99e013f9eeb4026" /><Relationship Type="http://schemas.openxmlformats.org/officeDocument/2006/relationships/slide" Target="slide23.xml" Id="Rbc139834f6e84a4a" /><Relationship Type="http://schemas.openxmlformats.org/officeDocument/2006/relationships/slide" Target="slide24.xml" Id="Rd03e792dafdb4953" /><Relationship Type="http://schemas.openxmlformats.org/officeDocument/2006/relationships/slide" Target="slide25.xml" Id="Rfcb2f26410fd425c" /><Relationship Type="http://schemas.openxmlformats.org/officeDocument/2006/relationships/slide" Target="slide26.xml" Id="R203e86531efb4a8b" /><Relationship Type="http://schemas.openxmlformats.org/officeDocument/2006/relationships/slide" Target="slide27.xml" Id="Ra488aaac462d4751" /><Relationship Type="http://schemas.openxmlformats.org/officeDocument/2006/relationships/notesSlide" Target="/ppt/notesSlides/notesSlide4.xml" Id="R1013038def384d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d00395b6d475d" /><Relationship Type="http://schemas.openxmlformats.org/officeDocument/2006/relationships/notesSlide" Target="/ppt/notesSlides/notesSlide5.xml" Id="Rdc93670b27a943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822e6ce8b4db8" /><Relationship Type="http://schemas.openxmlformats.org/officeDocument/2006/relationships/slide" Target="slide6.xml" Id="R3e0c2847170147b6" /><Relationship Type="http://schemas.openxmlformats.org/officeDocument/2006/relationships/slide" Target="slide7.xml" Id="R7ab427bbd3ee4776" /><Relationship Type="http://schemas.openxmlformats.org/officeDocument/2006/relationships/slide" Target="slide8.xml" Id="Rd5ee2c7052e24ea1" /><Relationship Type="http://schemas.openxmlformats.org/officeDocument/2006/relationships/slide" Target="slide9.xml" Id="Rbe753249874e404e" /><Relationship Type="http://schemas.openxmlformats.org/officeDocument/2006/relationships/slide" Target="slide10.xml" Id="R472df223a1a448a8" /><Relationship Type="http://schemas.openxmlformats.org/officeDocument/2006/relationships/slide" Target="slide11.xml" Id="R427e7795298e4986" /><Relationship Type="http://schemas.openxmlformats.org/officeDocument/2006/relationships/slide" Target="slide12.xml" Id="R463a115bd0e240d9" /><Relationship Type="http://schemas.openxmlformats.org/officeDocument/2006/relationships/slide" Target="slide13.xml" Id="R8078e942cd6549ef" /><Relationship Type="http://schemas.openxmlformats.org/officeDocument/2006/relationships/slide" Target="slide27.xml" Id="R6157bd38e93f4404" /><Relationship Type="http://schemas.openxmlformats.org/officeDocument/2006/relationships/slide" Target="slide3.xml" Id="R877e3fb8ed1541d9" /><Relationship Type="http://schemas.openxmlformats.org/officeDocument/2006/relationships/notesSlide" Target="/ppt/notesSlides/notesSlide6.xml" Id="Re64bd03f71d249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223f5b4544c98" /><Relationship Type="http://schemas.openxmlformats.org/officeDocument/2006/relationships/slide" Target="slide6.xml" Id="R1e075f6dcef44cd4" /><Relationship Type="http://schemas.openxmlformats.org/officeDocument/2006/relationships/slide" Target="slide7.xml" Id="Rbd695cca97794bd8" /><Relationship Type="http://schemas.openxmlformats.org/officeDocument/2006/relationships/slide" Target="slide8.xml" Id="R7744f03fbced4cdb" /><Relationship Type="http://schemas.openxmlformats.org/officeDocument/2006/relationships/slide" Target="slide9.xml" Id="Re428b29847354d07" /><Relationship Type="http://schemas.openxmlformats.org/officeDocument/2006/relationships/slide" Target="slide10.xml" Id="R9b60889aa1be4016" /><Relationship Type="http://schemas.openxmlformats.org/officeDocument/2006/relationships/slide" Target="slide11.xml" Id="R3ff408016f0147e6" /><Relationship Type="http://schemas.openxmlformats.org/officeDocument/2006/relationships/slide" Target="slide12.xml" Id="Rcd42f71f2d304b09" /><Relationship Type="http://schemas.openxmlformats.org/officeDocument/2006/relationships/slide" Target="slide13.xml" Id="Rdd94c3731e404887" /><Relationship Type="http://schemas.openxmlformats.org/officeDocument/2006/relationships/slide" Target="slide21.xml" Id="R2edd2889ecd44acc" /><Relationship Type="http://schemas.openxmlformats.org/officeDocument/2006/relationships/slide" Target="slide3.xml" Id="Re5423ed000cd4600" /><Relationship Type="http://schemas.openxmlformats.org/officeDocument/2006/relationships/notesSlide" Target="/ppt/notesSlides/notesSlide7.xml" Id="R58d638e3408743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fa032566b40e8" /><Relationship Type="http://schemas.openxmlformats.org/officeDocument/2006/relationships/slide" Target="slide6.xml" Id="R4262923ebaa640df" /><Relationship Type="http://schemas.openxmlformats.org/officeDocument/2006/relationships/slide" Target="slide7.xml" Id="Rd0336a46b00c4bf6" /><Relationship Type="http://schemas.openxmlformats.org/officeDocument/2006/relationships/slide" Target="slide8.xml" Id="R657ccd5583b94f4e" /><Relationship Type="http://schemas.openxmlformats.org/officeDocument/2006/relationships/slide" Target="slide9.xml" Id="R0fe8055b99854292" /><Relationship Type="http://schemas.openxmlformats.org/officeDocument/2006/relationships/slide" Target="slide10.xml" Id="R044ecccf8ddf4f0c" /><Relationship Type="http://schemas.openxmlformats.org/officeDocument/2006/relationships/slide" Target="slide11.xml" Id="Raab5eec4f95e4094" /><Relationship Type="http://schemas.openxmlformats.org/officeDocument/2006/relationships/slide" Target="slide12.xml" Id="Ree50b67da0a74d7d" /><Relationship Type="http://schemas.openxmlformats.org/officeDocument/2006/relationships/slide" Target="slide13.xml" Id="Ra351a15a4a4b4345" /><Relationship Type="http://schemas.openxmlformats.org/officeDocument/2006/relationships/slide" Target="slide22.xml" Id="R869e080bcc6a4357" /><Relationship Type="http://schemas.openxmlformats.org/officeDocument/2006/relationships/slide" Target="slide3.xml" Id="Rac2719d56839431a" /><Relationship Type="http://schemas.openxmlformats.org/officeDocument/2006/relationships/notesSlide" Target="/ppt/notesSlides/notesSlide8.xml" Id="Rb815018ccba044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7b1d364bb41a0" /><Relationship Type="http://schemas.openxmlformats.org/officeDocument/2006/relationships/slide" Target="slide6.xml" Id="R2334f994d14f43e4" /><Relationship Type="http://schemas.openxmlformats.org/officeDocument/2006/relationships/slide" Target="slide7.xml" Id="R2258e6786dc4412d" /><Relationship Type="http://schemas.openxmlformats.org/officeDocument/2006/relationships/slide" Target="slide8.xml" Id="Re2053dc4ee174dea" /><Relationship Type="http://schemas.openxmlformats.org/officeDocument/2006/relationships/slide" Target="slide9.xml" Id="R120e8dba6d344c26" /><Relationship Type="http://schemas.openxmlformats.org/officeDocument/2006/relationships/slide" Target="slide10.xml" Id="R25be37f4b2f14448" /><Relationship Type="http://schemas.openxmlformats.org/officeDocument/2006/relationships/slide" Target="slide11.xml" Id="R6e8a11fdfaf44f7c" /><Relationship Type="http://schemas.openxmlformats.org/officeDocument/2006/relationships/slide" Target="slide12.xml" Id="R33dd9a70e0f247a6" /><Relationship Type="http://schemas.openxmlformats.org/officeDocument/2006/relationships/slide" Target="slide13.xml" Id="R26657043d0f745c5" /><Relationship Type="http://schemas.openxmlformats.org/officeDocument/2006/relationships/slide" Target="slide23.xml" Id="Rcf9e089de30c46d6" /><Relationship Type="http://schemas.openxmlformats.org/officeDocument/2006/relationships/slide" Target="slide3.xml" Id="Redb7ccf96f9f47e3" /><Relationship Type="http://schemas.openxmlformats.org/officeDocument/2006/relationships/notesSlide" Target="/ppt/notesSlides/notesSlide9.xml" Id="R211e35ab0c0d4f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9098ad8924a4d" /><Relationship Type="http://schemas.openxmlformats.org/officeDocument/2006/relationships/slide" Target="slide6.xml" Id="Rdb0eb55dc30d47f7" /><Relationship Type="http://schemas.openxmlformats.org/officeDocument/2006/relationships/slide" Target="slide7.xml" Id="Rf283ccf4e0d24bc1" /><Relationship Type="http://schemas.openxmlformats.org/officeDocument/2006/relationships/slide" Target="slide8.xml" Id="R17100b3a94a3483d" /><Relationship Type="http://schemas.openxmlformats.org/officeDocument/2006/relationships/slide" Target="slide9.xml" Id="R32fc70a03e9e418e" /><Relationship Type="http://schemas.openxmlformats.org/officeDocument/2006/relationships/slide" Target="slide10.xml" Id="Rfe27e7aa15994c95" /><Relationship Type="http://schemas.openxmlformats.org/officeDocument/2006/relationships/slide" Target="slide11.xml" Id="R2ff69cf92ab14cbd" /><Relationship Type="http://schemas.openxmlformats.org/officeDocument/2006/relationships/slide" Target="slide12.xml" Id="Re51588a42704447a" /><Relationship Type="http://schemas.openxmlformats.org/officeDocument/2006/relationships/slide" Target="slide13.xml" Id="R0ebb6d0969054447" /><Relationship Type="http://schemas.openxmlformats.org/officeDocument/2006/relationships/slide" Target="slide27.xml" Id="R98561ba0fc4a47ab" /><Relationship Type="http://schemas.openxmlformats.org/officeDocument/2006/relationships/slide" Target="slide3.xml" Id="R4cef41d76ed14ec4" /><Relationship Type="http://schemas.openxmlformats.org/officeDocument/2006/relationships/notesSlide" Target="/ppt/notesSlides/notesSlide10.xml" Id="Rfe8b1191a9d74c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dc5541f564d3e" /><Relationship Type="http://schemas.openxmlformats.org/officeDocument/2006/relationships/slide" Target="slide6.xml" Id="R5f11ea7b9ca945f5" /><Relationship Type="http://schemas.openxmlformats.org/officeDocument/2006/relationships/slide" Target="slide7.xml" Id="R424696f51aa84468" /><Relationship Type="http://schemas.openxmlformats.org/officeDocument/2006/relationships/slide" Target="slide8.xml" Id="Reec413547d1047a2" /><Relationship Type="http://schemas.openxmlformats.org/officeDocument/2006/relationships/slide" Target="slide9.xml" Id="R916663502859481e" /><Relationship Type="http://schemas.openxmlformats.org/officeDocument/2006/relationships/slide" Target="slide10.xml" Id="R56d568f3fc084771" /><Relationship Type="http://schemas.openxmlformats.org/officeDocument/2006/relationships/slide" Target="slide11.xml" Id="R638173cf0fc84dd0" /><Relationship Type="http://schemas.openxmlformats.org/officeDocument/2006/relationships/slide" Target="slide12.xml" Id="R5bb9eb4fa8a2436d" /><Relationship Type="http://schemas.openxmlformats.org/officeDocument/2006/relationships/slide" Target="slide13.xml" Id="Rcc75a0e9fa0a4f5d" /><Relationship Type="http://schemas.openxmlformats.org/officeDocument/2006/relationships/slide" Target="slide25.xml" Id="Rcfe860c5b04d4ebe" /><Relationship Type="http://schemas.openxmlformats.org/officeDocument/2006/relationships/slide" Target="slide3.xml" Id="R6ce0649a1eae4479" /><Relationship Type="http://schemas.openxmlformats.org/officeDocument/2006/relationships/notesSlide" Target="/ppt/notesSlides/notesSlide11.xml" Id="R3b945c24556a4f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8cfeb13964fdb" /><Relationship Type="http://schemas.openxmlformats.org/officeDocument/2006/relationships/slide" Target="slide6.xml" Id="R6e533991b9f649d0" /><Relationship Type="http://schemas.openxmlformats.org/officeDocument/2006/relationships/slide" Target="slide7.xml" Id="Rc6b7575b6acd4aa5" /><Relationship Type="http://schemas.openxmlformats.org/officeDocument/2006/relationships/slide" Target="slide8.xml" Id="Rf387d3cf1922475f" /><Relationship Type="http://schemas.openxmlformats.org/officeDocument/2006/relationships/slide" Target="slide9.xml" Id="R9327f60ca22b47f9" /><Relationship Type="http://schemas.openxmlformats.org/officeDocument/2006/relationships/slide" Target="slide10.xml" Id="Rd766a314a8214393" /><Relationship Type="http://schemas.openxmlformats.org/officeDocument/2006/relationships/slide" Target="slide11.xml" Id="R89d3db2f1f9d454d" /><Relationship Type="http://schemas.openxmlformats.org/officeDocument/2006/relationships/slide" Target="slide12.xml" Id="R352a13f154cd4431" /><Relationship Type="http://schemas.openxmlformats.org/officeDocument/2006/relationships/slide" Target="slide13.xml" Id="R00d783a153e94344" /><Relationship Type="http://schemas.openxmlformats.org/officeDocument/2006/relationships/slide" Target="slide26.xml" Id="Rbc3f843df1c44f9d" /><Relationship Type="http://schemas.openxmlformats.org/officeDocument/2006/relationships/slide" Target="slide3.xml" Id="R25f27019006c48eb" /><Relationship Type="http://schemas.openxmlformats.org/officeDocument/2006/relationships/notesSlide" Target="/ppt/notesSlides/notesSlide12.xml" Id="R44fc4be79c584f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a1dfb217e46f9" /><Relationship Type="http://schemas.openxmlformats.org/officeDocument/2006/relationships/slide" Target="slide6.xml" Id="R404df00501564989" /><Relationship Type="http://schemas.openxmlformats.org/officeDocument/2006/relationships/slide" Target="slide7.xml" Id="R3c20d412031c4f46" /><Relationship Type="http://schemas.openxmlformats.org/officeDocument/2006/relationships/slide" Target="slide8.xml" Id="Re6d405818030441e" /><Relationship Type="http://schemas.openxmlformats.org/officeDocument/2006/relationships/slide" Target="slide9.xml" Id="R4ba879066cc3489b" /><Relationship Type="http://schemas.openxmlformats.org/officeDocument/2006/relationships/slide" Target="slide10.xml" Id="Ree380cd741704dd9" /><Relationship Type="http://schemas.openxmlformats.org/officeDocument/2006/relationships/slide" Target="slide11.xml" Id="R9df107e055454a0e" /><Relationship Type="http://schemas.openxmlformats.org/officeDocument/2006/relationships/slide" Target="slide12.xml" Id="Rf7366c4459fa4b89" /><Relationship Type="http://schemas.openxmlformats.org/officeDocument/2006/relationships/slide" Target="slide13.xml" Id="R72e4b4efecf84255" /><Relationship Type="http://schemas.openxmlformats.org/officeDocument/2006/relationships/slide" Target="slide27.xml" Id="Ra5668921a2ba464f" /><Relationship Type="http://schemas.openxmlformats.org/officeDocument/2006/relationships/slide" Target="slide3.xml" Id="Rd99b7817b8bc4141" /><Relationship Type="http://schemas.openxmlformats.org/officeDocument/2006/relationships/notesSlide" Target="/ppt/notesSlides/notesSlide13.xml" Id="R6ddcd3c63e844c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2348bb1484648" /><Relationship Type="http://schemas.openxmlformats.org/officeDocument/2006/relationships/notesSlide" Target="/ppt/notesSlides/notesSlide14.xml" Id="R52a19bffd0b444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61c17511c47cc" /><Relationship Type="http://schemas.openxmlformats.org/officeDocument/2006/relationships/notesSlide" Target="/ppt/notesSlides/notesSlide15.xml" Id="R19e21b64551f49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8f623a8a44b78" /><Relationship Type="http://schemas.openxmlformats.org/officeDocument/2006/relationships/notesSlide" Target="/ppt/notesSlides/notesSlide16.xml" Id="Rb6351850c1b7441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5d4de090a4bbe" /><Relationship Type="http://schemas.openxmlformats.org/officeDocument/2006/relationships/notesSlide" Target="/ppt/notesSlides/notesSlide17.xml" Id="R5ad5afa91db940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952f64e564a45" /><Relationship Type="http://schemas.openxmlformats.org/officeDocument/2006/relationships/chart" Target="/ppt/slides/charts/chart1.xml" Id="R23d7e44552a44dec" /><Relationship Type="http://schemas.openxmlformats.org/officeDocument/2006/relationships/notesSlide" Target="/ppt/notesSlides/notesSlide18.xml" Id="R813e53d4dc8449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0d5899d3c4017" /><Relationship Type="http://schemas.openxmlformats.org/officeDocument/2006/relationships/notesSlide" Target="/ppt/notesSlides/notesSlide19.xml" Id="R7ee17b8f78d5478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d80e0d7e54600" /><Relationship Type="http://schemas.openxmlformats.org/officeDocument/2006/relationships/slide" Target="slide3.xml" Id="R6662481733bd4426" /><Relationship Type="http://schemas.openxmlformats.org/officeDocument/2006/relationships/notesSlide" Target="/ppt/notesSlides/notesSlide20.xml" Id="R5735b80dc97d40c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d5999c0fc4d18" /><Relationship Type="http://schemas.openxmlformats.org/officeDocument/2006/relationships/slide" Target="slide4.xml" Id="R28b48192a3d847d2" /><Relationship Type="http://schemas.openxmlformats.org/officeDocument/2006/relationships/slide" Target="slide7.xml" Id="R47acf6409e6d4bab" /><Relationship Type="http://schemas.openxmlformats.org/officeDocument/2006/relationships/notesSlide" Target="/ppt/notesSlides/notesSlide21.xml" Id="R264ae1e3a2624ea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ff9b9ceba4b3b" /><Relationship Type="http://schemas.openxmlformats.org/officeDocument/2006/relationships/slide" Target="slide4.xml" Id="R3e07de24a7ce404a" /><Relationship Type="http://schemas.openxmlformats.org/officeDocument/2006/relationships/slide" Target="slide8.xml" Id="Raa5ae1f142da4a34" /><Relationship Type="http://schemas.openxmlformats.org/officeDocument/2006/relationships/notesSlide" Target="/ppt/notesSlides/notesSlide22.xml" Id="R689dcb9e5630464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605a325884edb" /><Relationship Type="http://schemas.openxmlformats.org/officeDocument/2006/relationships/slide" Target="slide4.xml" Id="Rc4c67561ab404a94" /><Relationship Type="http://schemas.openxmlformats.org/officeDocument/2006/relationships/slide" Target="slide9.xml" Id="R94aa1a70e0a14271" /><Relationship Type="http://schemas.openxmlformats.org/officeDocument/2006/relationships/notesSlide" Target="/ppt/notesSlides/notesSlide23.xml" Id="R8f3f32f652774d5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f3f156a284062" /><Relationship Type="http://schemas.openxmlformats.org/officeDocument/2006/relationships/slide" Target="slide4.xml" Id="R501718db2f63465a" /><Relationship Type="http://schemas.openxmlformats.org/officeDocument/2006/relationships/slide" Target="slide14.xml" Id="Rb95aa6aff04b4474" /><Relationship Type="http://schemas.openxmlformats.org/officeDocument/2006/relationships/notesSlide" Target="/ppt/notesSlides/notesSlide24.xml" Id="Re2f2359c673b488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4f01a947042fb" /><Relationship Type="http://schemas.openxmlformats.org/officeDocument/2006/relationships/slide" Target="slide4.xml" Id="Rf7a67b57d9d14df0" /><Relationship Type="http://schemas.openxmlformats.org/officeDocument/2006/relationships/slide" Target="slide11.xml" Id="R6ba8abe6e6b74e2a" /><Relationship Type="http://schemas.openxmlformats.org/officeDocument/2006/relationships/notesSlide" Target="/ppt/notesSlides/notesSlide25.xml" Id="Rddab699be6df4f5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a928f2e604d28" /><Relationship Type="http://schemas.openxmlformats.org/officeDocument/2006/relationships/slide" Target="slide4.xml" Id="R9eab345137564259" /><Relationship Type="http://schemas.openxmlformats.org/officeDocument/2006/relationships/slide" Target="slide12.xml" Id="Rc9b1e153bea4435d" /><Relationship Type="http://schemas.openxmlformats.org/officeDocument/2006/relationships/notesSlide" Target="/ppt/notesSlides/notesSlide26.xml" Id="R6ddf51b2c00749c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0d4b6e76b4908" /><Relationship Type="http://schemas.openxmlformats.org/officeDocument/2006/relationships/slide" Target="slide4.xml" Id="Rbd4310b3b95b4759" /><Relationship Type="http://schemas.openxmlformats.org/officeDocument/2006/relationships/slide" Target="slide3.xml" Id="R515a83bb8c8f4691" /><Relationship Type="http://schemas.openxmlformats.org/officeDocument/2006/relationships/notesSlide" Target="/ppt/notesSlides/notesSlide27.xml" Id="R1307d8027b964c4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D97757"/>
            </a:solidFill>
          </c:spPr>
          <c:cat>
            <c:strLit>
              <c:ptCount val="4"/>
              <c:pt idx="0">
                <c:v>核心知识题全对</c:v>
              </c:pt>
              <c:pt idx="1">
                <c:v>主动比较下滑曲线</c:v>
              </c:pt>
              <c:pt idx="2">
                <c:v>购买前信息清楚</c:v>
              </c:pt>
              <c:pt idx="3">
                <c:v>购买后信息缺口</c:v>
              </c:pt>
            </c:strLit>
          </c:cat>
          <c:val>
            <c:numLit>
              <c:formatCode>General</c:formatCode>
              <c:ptCount val="4"/>
              <c:pt idx="0">
                <c:v>20</c:v>
              </c:pt>
              <c:pt idx="1">
                <c:v>3.5</c:v>
              </c:pt>
              <c:pt idx="2">
                <c:v>29</c:v>
              </c:pt>
              <c:pt idx="3">
                <c:v>59.5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4141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CFC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D3D3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9F5"/>
        </a:solidFill>
        <a:ln xmlns:a="http://schemas.openxmlformats.org/drawingml/2006/main" w="0">
          <a:solidFill>
            <a:srgbClr val="FAF9F5"/>
          </a:solidFill>
          <a:prstDash val="solid"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solidFill>
        <a:srgbClr val="FAF9F5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FA99DE1E-49FD-4A6C-BC03-639D9A20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AI 辅助研究 · 完整运行工作流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E630824-43A5-4DC5-A0BC-C9E36CE9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0">
                <a:solidFill>
                  <a:srgbClr val="FAF9F5"/>
                </a:solidFill>
                <a:latin typeface="SimSun"/>
                <a:ea typeface="SimSun"/>
                <a:cs typeface="SimSun"/>
              </a:defRPr>
            </a:pPr>
            <a:r>
              <a:rPr sz="5250" b="0">
                <a:solidFill>
                  <a:srgbClr val="FAF9F5"/>
                </a:solidFill>
                <a:latin typeface="SimSun"/>
                <a:ea typeface="SimSun"/>
                <a:cs typeface="SimSun"/>
              </a:rPr>
              <a:t>AI辅助用户研究工作流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0DB66AD-56E6-4D58-AC64-3021845C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rPr>
              <a:t>沿真实研究路径，把需求理解、方案设计、问卷与访谈、数据分析、报告表达和资产沉淀连接起来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C4F98296-5673-4A24-9279-BC7C0981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rPr>
              <a:t>AI负责结构化理解、生成、校验、分析和表达；研究人员保留问题判断、风险审核和业务决策。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5D343E95-46BA-4772-B49C-B236DCAF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D3D3A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694CB9D-EE19-4A63-A5E2-D43E74C1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完整运行版 · 交互答辩稿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2594E5E-2F5F-4FE1-9D9A-6F58ADA1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64709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8">
            <a:extLst xmlns:a="http://schemas.openxmlformats.org/drawingml/2006/main">
              <a:ext uri="{FF2B5EF4-FFF2-40B4-BE49-F238E27FC236}">
                <a16:creationId xmlns:a16="http://schemas.microsoft.com/office/drawing/2014/main" id="{58F20578-FEFD-44E5-B7C2-58F4A97A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结论总览</a:t>
            </a:r>
          </a:p>
        </p:txBody>
      </p:sp>
      <p:sp>
        <p:nvSpPr>
          <p:cNvPr id="2" name="text-9">
            <a:extLst xmlns:a="http://schemas.openxmlformats.org/drawingml/2006/main">
              <a:ext uri="{FF2B5EF4-FFF2-40B4-BE49-F238E27FC236}">
                <a16:creationId xmlns:a16="http://schemas.microsoft.com/office/drawing/2014/main" id="{39A72BB6-A666-47A1-B420-DC50EA5C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4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我们完成的不是问卷生成器，而是一条完整研究生产线</a:t>
            </a:r>
          </a:p>
        </p:txBody>
      </p:sp>
      <p:sp>
        <p:nvSpPr>
          <p:cNvPr id="3" name="shape-10">
            <a:extLst xmlns:a="http://schemas.openxmlformats.org/drawingml/2006/main">
              <a:ext uri="{FF2B5EF4-FFF2-40B4-BE49-F238E27FC236}">
                <a16:creationId xmlns:a16="http://schemas.microsoft.com/office/drawing/2014/main" id="{E12558AB-BAAB-4869-82BB-ACB9DB48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11">
            <a:extLst xmlns:a="http://schemas.openxmlformats.org/drawingml/2006/main">
              <a:ext uri="{FF2B5EF4-FFF2-40B4-BE49-F238E27FC236}">
                <a16:creationId xmlns:a16="http://schemas.microsoft.com/office/drawing/2014/main" id="{D78D8DC2-20EA-45F8-B3B4-FE187DF6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结论先行</a:t>
            </a:r>
          </a:p>
        </p:txBody>
      </p:sp>
      <p:sp>
        <p:nvSpPr>
          <p:cNvPr id="5" name="text-12">
            <a:extLst xmlns:a="http://schemas.openxmlformats.org/drawingml/2006/main">
              <a:ext uri="{FF2B5EF4-FFF2-40B4-BE49-F238E27FC236}">
                <a16:creationId xmlns:a16="http://schemas.microsoft.com/office/drawing/2014/main" id="{FF175C0A-600C-40E0-95E5-C8C69DF5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6" name="shape-13">
            <a:extLst xmlns:a="http://schemas.openxmlformats.org/drawingml/2006/main">
              <a:ext uri="{FF2B5EF4-FFF2-40B4-BE49-F238E27FC236}">
                <a16:creationId xmlns:a16="http://schemas.microsoft.com/office/drawing/2014/main" id="{3C15F180-FD23-4E40-B9EC-91D03922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33650" cy="26670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7" name="text-14">
            <a:extLst xmlns:a="http://schemas.openxmlformats.org/drawingml/2006/main">
              <a:ext uri="{FF2B5EF4-FFF2-40B4-BE49-F238E27FC236}">
                <a16:creationId xmlns:a16="http://schemas.microsoft.com/office/drawing/2014/main" id="{A9CCC106-C128-4690-B7DC-31B7224A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-15">
            <a:extLst xmlns:a="http://schemas.openxmlformats.org/drawingml/2006/main">
              <a:ext uri="{FF2B5EF4-FFF2-40B4-BE49-F238E27FC236}">
                <a16:creationId xmlns:a16="http://schemas.microsoft.com/office/drawing/2014/main" id="{2FA29F9B-C849-4371-ACCA-6EEEDBB9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问题可研究</a:t>
            </a:r>
          </a:p>
        </p:txBody>
      </p:sp>
      <p:sp>
        <p:nvSpPr>
          <p:cNvPr id="9" name="text-16">
            <a:extLst xmlns:a="http://schemas.openxmlformats.org/drawingml/2006/main">
              <a:ext uri="{FF2B5EF4-FFF2-40B4-BE49-F238E27FC236}">
                <a16:creationId xmlns:a16="http://schemas.microsoft.com/office/drawing/2014/main" id="{59FFE2BB-766C-44C1-AA7A-F510035E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190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将模糊业务诉求转换为目标、人群、问题和可证伪假设。</a:t>
            </a:r>
          </a:p>
        </p:txBody>
      </p:sp>
      <p:sp>
        <p:nvSpPr>
          <p:cNvPr id="10" name="shape-17">
            <a:extLst xmlns:a="http://schemas.openxmlformats.org/drawingml/2006/main">
              <a:ext uri="{FF2B5EF4-FFF2-40B4-BE49-F238E27FC236}">
                <a16:creationId xmlns:a16="http://schemas.microsoft.com/office/drawing/2014/main" id="{AB193103-7B3D-480B-AB9B-5F71A85E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2533650" cy="26670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1" name="text-18">
            <a:extLst xmlns:a="http://schemas.openxmlformats.org/drawingml/2006/main">
              <a:ext uri="{FF2B5EF4-FFF2-40B4-BE49-F238E27FC236}">
                <a16:creationId xmlns:a16="http://schemas.microsoft.com/office/drawing/2014/main" id="{21F9F17E-2D44-4CE1-A550-1A294A43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43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text-19">
            <a:extLst xmlns:a="http://schemas.openxmlformats.org/drawingml/2006/main">
              <a:ext uri="{FF2B5EF4-FFF2-40B4-BE49-F238E27FC236}">
                <a16:creationId xmlns:a16="http://schemas.microsoft.com/office/drawing/2014/main" id="{89E05757-41D4-4CC8-ACE9-86EE9DC8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方法可执行</a:t>
            </a:r>
          </a:p>
        </p:txBody>
      </p:sp>
      <p:sp>
        <p:nvSpPr>
          <p:cNvPr id="13" name="text-20">
            <a:extLst xmlns:a="http://schemas.openxmlformats.org/drawingml/2006/main">
              <a:ext uri="{FF2B5EF4-FFF2-40B4-BE49-F238E27FC236}">
                <a16:creationId xmlns:a16="http://schemas.microsoft.com/office/drawing/2014/main" id="{82F632B8-28DD-4540-9CED-D37296B7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47950"/>
            <a:ext cx="2190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按证据需求选择问卷、访谈或组合研究，并预设分析口径。</a:t>
            </a:r>
          </a:p>
        </p:txBody>
      </p:sp>
      <p:sp>
        <p:nvSpPr>
          <p:cNvPr id="14" name="shape-21">
            <a:extLst xmlns:a="http://schemas.openxmlformats.org/drawingml/2006/main">
              <a:ext uri="{FF2B5EF4-FFF2-40B4-BE49-F238E27FC236}">
                <a16:creationId xmlns:a16="http://schemas.microsoft.com/office/drawing/2014/main" id="{9ADE0FDD-3DF3-48A0-921D-42263F18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533650" cy="26670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5" name="text-22">
            <a:extLst xmlns:a="http://schemas.openxmlformats.org/drawingml/2006/main">
              <a:ext uri="{FF2B5EF4-FFF2-40B4-BE49-F238E27FC236}">
                <a16:creationId xmlns:a16="http://schemas.microsoft.com/office/drawing/2014/main" id="{D18FD317-E3E3-441A-BCEE-8DD88884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43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text-23">
            <a:extLst xmlns:a="http://schemas.openxmlformats.org/drawingml/2006/main">
              <a:ext uri="{FF2B5EF4-FFF2-40B4-BE49-F238E27FC236}">
                <a16:creationId xmlns:a16="http://schemas.microsoft.com/office/drawing/2014/main" id="{214D78A6-CA06-4801-A4FF-D6230E1D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结论可追溯</a:t>
            </a:r>
          </a:p>
        </p:txBody>
      </p:sp>
      <p:sp>
        <p:nvSpPr>
          <p:cNvPr id="17" name="text-24">
            <a:extLst xmlns:a="http://schemas.openxmlformats.org/drawingml/2006/main">
              <a:ext uri="{FF2B5EF4-FFF2-40B4-BE49-F238E27FC236}">
                <a16:creationId xmlns:a16="http://schemas.microsoft.com/office/drawing/2014/main" id="{DD9E4279-F506-4537-B1E7-29682196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2190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每项洞察都能回到题目、分母、原话和执行条件。</a:t>
            </a:r>
          </a:p>
        </p:txBody>
      </p:sp>
      <p:sp>
        <p:nvSpPr>
          <p:cNvPr id="18" name="shape-25">
            <a:extLst xmlns:a="http://schemas.openxmlformats.org/drawingml/2006/main">
              <a:ext uri="{FF2B5EF4-FFF2-40B4-BE49-F238E27FC236}">
                <a16:creationId xmlns:a16="http://schemas.microsoft.com/office/drawing/2014/main" id="{6E178FD3-49BE-4BF6-A40D-F370FBC0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533650" cy="26670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9" name="text-26">
            <a:extLst xmlns:a="http://schemas.openxmlformats.org/drawingml/2006/main">
              <a:ext uri="{FF2B5EF4-FFF2-40B4-BE49-F238E27FC236}">
                <a16:creationId xmlns:a16="http://schemas.microsoft.com/office/drawing/2014/main" id="{4BBE65D9-A419-4350-834E-AE5F86A8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0" name="text-27">
            <a:extLst xmlns:a="http://schemas.openxmlformats.org/drawingml/2006/main">
              <a:ext uri="{FF2B5EF4-FFF2-40B4-BE49-F238E27FC236}">
                <a16:creationId xmlns:a16="http://schemas.microsoft.com/office/drawing/2014/main" id="{6370E248-BD27-4970-A4B4-7552BC67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流程可迁移</a:t>
            </a:r>
          </a:p>
        </p:txBody>
      </p:sp>
      <p:sp>
        <p:nvSpPr>
          <p:cNvPr id="21" name="text-28">
            <a:extLst xmlns:a="http://schemas.openxmlformats.org/drawingml/2006/main">
              <a:ext uri="{FF2B5EF4-FFF2-40B4-BE49-F238E27FC236}">
                <a16:creationId xmlns:a16="http://schemas.microsoft.com/office/drawing/2014/main" id="{9DFF45B8-26F4-4C46-BD2A-14033E17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2190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课题和工具可以替换，八阶段路径与专家责任保持稳定。</a:t>
            </a:r>
          </a:p>
        </p:txBody>
      </p:sp>
      <p:sp>
        <p:nvSpPr>
          <p:cNvPr id="22" name="text-29">
            <a:extLst xmlns:a="http://schemas.openxmlformats.org/drawingml/2006/main">
              <a:ext uri="{FF2B5EF4-FFF2-40B4-BE49-F238E27FC236}">
                <a16:creationId xmlns:a16="http://schemas.microsoft.com/office/drawing/2014/main" id="{1E1F451A-40A1-48CC-B877-4722863E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rPr>
              <a:t>八个连续阶段 · 六类研究专家 · 一位研究总控 · 四个人工确认点</a:t>
            </a:r>
          </a:p>
        </p:txBody>
      </p:sp>
    </p:spTree>
    <p:extLst>
      <p:ext uri="{BB962C8B-B14F-4D97-AF65-F5344CB8AC3E}">
        <p14:creationId xmlns:p14="http://schemas.microsoft.com/office/powerpoint/2010/main" val="1027628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ext-30">
            <a:extLst xmlns:a="http://schemas.openxmlformats.org/drawingml/2006/main">
              <a:ext uri="{FF2B5EF4-FFF2-40B4-BE49-F238E27FC236}">
                <a16:creationId xmlns:a16="http://schemas.microsoft.com/office/drawing/2014/main" id="{56D3528A-1F70-4FD5-B9E3-A034430E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点击模块进入对应讲解</a:t>
            </a:r>
          </a:p>
        </p:txBody>
      </p:sp>
      <p:sp>
        <p:nvSpPr>
          <p:cNvPr id="2" name="text-31">
            <a:extLst xmlns:a="http://schemas.openxmlformats.org/drawingml/2006/main">
              <a:ext uri="{FF2B5EF4-FFF2-40B4-BE49-F238E27FC236}">
                <a16:creationId xmlns:a16="http://schemas.microsoft.com/office/drawing/2014/main" id="{A92E944B-88B2-4B26-95A6-B16A7BC4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6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一张图看懂：一次研究如何从需求走到报告</a:t>
            </a:r>
          </a:p>
        </p:txBody>
      </p:sp>
      <p:sp>
        <p:nvSpPr>
          <p:cNvPr id="3" name="shape-32">
            <a:extLst xmlns:a="http://schemas.openxmlformats.org/drawingml/2006/main">
              <a:ext uri="{FF2B5EF4-FFF2-40B4-BE49-F238E27FC236}">
                <a16:creationId xmlns:a16="http://schemas.microsoft.com/office/drawing/2014/main" id="{C2E29D96-2DAA-4811-B905-AD287E74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33">
            <a:extLst xmlns:a="http://schemas.openxmlformats.org/drawingml/2006/main">
              <a:ext uri="{FF2B5EF4-FFF2-40B4-BE49-F238E27FC236}">
                <a16:creationId xmlns:a16="http://schemas.microsoft.com/office/drawing/2014/main" id="{46335FDD-EC66-4953-9AC1-5FD105EA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完整工作流导航</a:t>
            </a:r>
          </a:p>
        </p:txBody>
      </p:sp>
      <p:sp>
        <p:nvSpPr>
          <p:cNvPr id="5" name="text-34">
            <a:extLst xmlns:a="http://schemas.openxmlformats.org/drawingml/2006/main">
              <a:ext uri="{FF2B5EF4-FFF2-40B4-BE49-F238E27FC236}">
                <a16:creationId xmlns:a16="http://schemas.microsoft.com/office/drawing/2014/main" id="{8D8CD47F-0E4A-4EB0-8D1E-EA48E820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6" name="shape-35">
            <a:extLst xmlns:a="http://schemas.openxmlformats.org/drawingml/2006/main">
              <a:ext uri="{FF2B5EF4-FFF2-40B4-BE49-F238E27FC236}">
                <a16:creationId xmlns:a16="http://schemas.microsoft.com/office/drawing/2014/main" id="{511E9434-80E5-4C71-98FA-373AB80D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7" name="text-36">
            <a:extLst xmlns:a="http://schemas.openxmlformats.org/drawingml/2006/main">
              <a:ext uri="{FF2B5EF4-FFF2-40B4-BE49-F238E27FC236}">
                <a16:creationId xmlns:a16="http://schemas.microsoft.com/office/drawing/2014/main" id="{685FAC4E-00CA-4B28-9EC3-62EE9C8F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-37">
            <a:extLst xmlns:a="http://schemas.openxmlformats.org/drawingml/2006/main">
              <a:ext uri="{FF2B5EF4-FFF2-40B4-BE49-F238E27FC236}">
                <a16:creationId xmlns:a16="http://schemas.microsoft.com/office/drawing/2014/main" id="{A57A78FC-A55C-440D-8242-4264782B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接收需求</a:t>
            </a:r>
          </a:p>
        </p:txBody>
      </p:sp>
      <p:sp>
        <p:nvSpPr>
          <p:cNvPr id="9" name="text-38">
            <a:extLst xmlns:a="http://schemas.openxmlformats.org/drawingml/2006/main">
              <a:ext uri="{FF2B5EF4-FFF2-40B4-BE49-F238E27FC236}">
                <a16:creationId xmlns:a16="http://schemas.microsoft.com/office/drawing/2014/main" id="{5BA7EBBB-8C9D-4868-A122-C98CBE34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234d6dba038a489c" action="ppaction://hlinksldjump"/>
              </a:rPr>
              <a:t>研究总控 →</a:t>
            </a:r>
          </a:p>
        </p:txBody>
      </p:sp>
      <p:sp>
        <p:nvSpPr>
          <p:cNvPr id="10" name="shape-39">
            <a:extLst xmlns:a="http://schemas.openxmlformats.org/drawingml/2006/main">
              <a:ext uri="{FF2B5EF4-FFF2-40B4-BE49-F238E27FC236}">
                <a16:creationId xmlns:a16="http://schemas.microsoft.com/office/drawing/2014/main" id="{26FB858D-20C8-4150-810B-27EF571B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050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11" name="shape-40">
            <a:extLst xmlns:a="http://schemas.openxmlformats.org/drawingml/2006/main">
              <a:ext uri="{FF2B5EF4-FFF2-40B4-BE49-F238E27FC236}">
                <a16:creationId xmlns:a16="http://schemas.microsoft.com/office/drawing/2014/main" id="{7C5D7A87-8CC1-464F-8822-D2AE3D51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9545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2" name="text-41">
            <a:extLst xmlns:a="http://schemas.openxmlformats.org/drawingml/2006/main">
              <a:ext uri="{FF2B5EF4-FFF2-40B4-BE49-F238E27FC236}">
                <a16:creationId xmlns:a16="http://schemas.microsoft.com/office/drawing/2014/main" id="{33202EA6-64C9-4B2E-ABC0-4F32445E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42">
            <a:extLst xmlns:a="http://schemas.openxmlformats.org/drawingml/2006/main">
              <a:ext uri="{FF2B5EF4-FFF2-40B4-BE49-F238E27FC236}">
                <a16:creationId xmlns:a16="http://schemas.microsoft.com/office/drawing/2014/main" id="{0CD03BCB-8C56-46D8-9929-EA6D2874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理解问题</a:t>
            </a:r>
          </a:p>
        </p:txBody>
      </p:sp>
      <p:sp>
        <p:nvSpPr>
          <p:cNvPr id="14" name="text-43">
            <a:extLst xmlns:a="http://schemas.openxmlformats.org/drawingml/2006/main">
              <a:ext uri="{FF2B5EF4-FFF2-40B4-BE49-F238E27FC236}">
                <a16:creationId xmlns:a16="http://schemas.microsoft.com/office/drawing/2014/main" id="{E6A4D9D9-BA95-42FC-9AE5-FB620731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d012139cf7e749bb" action="ppaction://hlinksldjump"/>
              </a:rPr>
              <a:t>问题理解专家 →</a:t>
            </a:r>
          </a:p>
        </p:txBody>
      </p:sp>
      <p:sp>
        <p:nvSpPr>
          <p:cNvPr id="15" name="shape-44">
            <a:extLst xmlns:a="http://schemas.openxmlformats.org/drawingml/2006/main">
              <a:ext uri="{FF2B5EF4-FFF2-40B4-BE49-F238E27FC236}">
                <a16:creationId xmlns:a16="http://schemas.microsoft.com/office/drawing/2014/main" id="{D7F32AE2-282B-48F0-A7CC-41E10370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050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16" name="shape-45">
            <a:extLst xmlns:a="http://schemas.openxmlformats.org/drawingml/2006/main">
              <a:ext uri="{FF2B5EF4-FFF2-40B4-BE49-F238E27FC236}">
                <a16:creationId xmlns:a16="http://schemas.microsoft.com/office/drawing/2014/main" id="{3D820AC2-D1E9-4B54-B930-CAB2E139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7" name="text-46">
            <a:extLst xmlns:a="http://schemas.openxmlformats.org/drawingml/2006/main">
              <a:ext uri="{FF2B5EF4-FFF2-40B4-BE49-F238E27FC236}">
                <a16:creationId xmlns:a16="http://schemas.microsoft.com/office/drawing/2014/main" id="{01252949-74CD-4A9D-B9EE-A8753C0D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8" name="text-47">
            <a:extLst xmlns:a="http://schemas.openxmlformats.org/drawingml/2006/main">
              <a:ext uri="{FF2B5EF4-FFF2-40B4-BE49-F238E27FC236}">
                <a16:creationId xmlns:a16="http://schemas.microsoft.com/office/drawing/2014/main" id="{27D72AA5-E755-4558-88AA-18C08ABB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57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设计方案</a:t>
            </a:r>
          </a:p>
        </p:txBody>
      </p:sp>
      <p:sp>
        <p:nvSpPr>
          <p:cNvPr id="19" name="text-48">
            <a:extLst xmlns:a="http://schemas.openxmlformats.org/drawingml/2006/main">
              <a:ext uri="{FF2B5EF4-FFF2-40B4-BE49-F238E27FC236}">
                <a16:creationId xmlns:a16="http://schemas.microsoft.com/office/drawing/2014/main" id="{8A549601-253E-4E7D-B33F-F9D315BD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0f33708fe066427c" action="ppaction://hlinksldjump"/>
              </a:rPr>
              <a:t>方案设计专家 →</a:t>
            </a:r>
          </a:p>
        </p:txBody>
      </p:sp>
      <p:sp>
        <p:nvSpPr>
          <p:cNvPr id="20" name="shape-49">
            <a:extLst xmlns:a="http://schemas.openxmlformats.org/drawingml/2006/main">
              <a:ext uri="{FF2B5EF4-FFF2-40B4-BE49-F238E27FC236}">
                <a16:creationId xmlns:a16="http://schemas.microsoft.com/office/drawing/2014/main" id="{8574518B-D3DF-4A74-B48F-F480C84D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21" name="shape-50">
            <a:extLst xmlns:a="http://schemas.openxmlformats.org/drawingml/2006/main">
              <a:ext uri="{FF2B5EF4-FFF2-40B4-BE49-F238E27FC236}">
                <a16:creationId xmlns:a16="http://schemas.microsoft.com/office/drawing/2014/main" id="{56475DA8-F113-40C8-A34C-7CA3CBCE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9545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2" name="text-51">
            <a:extLst xmlns:a="http://schemas.openxmlformats.org/drawingml/2006/main">
              <a:ext uri="{FF2B5EF4-FFF2-40B4-BE49-F238E27FC236}">
                <a16:creationId xmlns:a16="http://schemas.microsoft.com/office/drawing/2014/main" id="{CC3B0718-5653-46FE-8779-2CA10E44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9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3" name="text-52">
            <a:extLst xmlns:a="http://schemas.openxmlformats.org/drawingml/2006/main">
              <a:ext uri="{FF2B5EF4-FFF2-40B4-BE49-F238E27FC236}">
                <a16:creationId xmlns:a16="http://schemas.microsoft.com/office/drawing/2014/main" id="{1C023483-631A-45E6-9958-BF18466E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设计工具</a:t>
            </a:r>
          </a:p>
        </p:txBody>
      </p:sp>
      <p:sp>
        <p:nvSpPr>
          <p:cNvPr id="24" name="text-53">
            <a:extLst xmlns:a="http://schemas.openxmlformats.org/drawingml/2006/main">
              <a:ext uri="{FF2B5EF4-FFF2-40B4-BE49-F238E27FC236}">
                <a16:creationId xmlns:a16="http://schemas.microsoft.com/office/drawing/2014/main" id="{AF3B52CB-13A3-4F0F-AD47-B8E27056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38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1b0b86a86487465d" action="ppaction://hlinksldjump"/>
              </a:rPr>
              <a:t>工具设计专家 →</a:t>
            </a:r>
          </a:p>
        </p:txBody>
      </p:sp>
      <p:sp>
        <p:nvSpPr>
          <p:cNvPr id="25" name="shape-54">
            <a:extLst xmlns:a="http://schemas.openxmlformats.org/drawingml/2006/main">
              <a:ext uri="{FF2B5EF4-FFF2-40B4-BE49-F238E27FC236}">
                <a16:creationId xmlns:a16="http://schemas.microsoft.com/office/drawing/2014/main" id="{8312A21D-B7FF-442D-9AC1-D28AC7A6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55">
            <a:extLst xmlns:a="http://schemas.openxmlformats.org/drawingml/2006/main">
              <a:ext uri="{FF2B5EF4-FFF2-40B4-BE49-F238E27FC236}">
                <a16:creationId xmlns:a16="http://schemas.microsoft.com/office/drawing/2014/main" id="{15726004-D06B-41D8-BBEA-311E53B5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7" name="text-56">
            <a:extLst xmlns:a="http://schemas.openxmlformats.org/drawingml/2006/main">
              <a:ext uri="{FF2B5EF4-FFF2-40B4-BE49-F238E27FC236}">
                <a16:creationId xmlns:a16="http://schemas.microsoft.com/office/drawing/2014/main" id="{47122B6F-A8DE-4617-A5FF-38516300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执行调研</a:t>
            </a:r>
          </a:p>
        </p:txBody>
      </p:sp>
      <p:sp>
        <p:nvSpPr>
          <p:cNvPr id="28" name="text-57">
            <a:extLst xmlns:a="http://schemas.openxmlformats.org/drawingml/2006/main">
              <a:ext uri="{FF2B5EF4-FFF2-40B4-BE49-F238E27FC236}">
                <a16:creationId xmlns:a16="http://schemas.microsoft.com/office/drawing/2014/main" id="{647AB663-3F27-42F0-A85C-6B54D79F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c1a7abf564d94e7e" action="ppaction://hlinksldjump"/>
              </a:rPr>
              <a:t>研究总控 + 研究人员 →</a:t>
            </a:r>
          </a:p>
        </p:txBody>
      </p:sp>
      <p:sp>
        <p:nvSpPr>
          <p:cNvPr id="29" name="shape-58">
            <a:extLst xmlns:a="http://schemas.openxmlformats.org/drawingml/2006/main">
              <a:ext uri="{FF2B5EF4-FFF2-40B4-BE49-F238E27FC236}">
                <a16:creationId xmlns:a16="http://schemas.microsoft.com/office/drawing/2014/main" id="{6D6292A2-F8E3-470A-9936-EDD0DDAD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2291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30" name="shape-59">
            <a:extLst xmlns:a="http://schemas.openxmlformats.org/drawingml/2006/main">
              <a:ext uri="{FF2B5EF4-FFF2-40B4-BE49-F238E27FC236}">
                <a16:creationId xmlns:a16="http://schemas.microsoft.com/office/drawing/2014/main" id="{810087FA-B620-41E3-AD53-698BF883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1950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31" name="text-60">
            <a:extLst xmlns:a="http://schemas.openxmlformats.org/drawingml/2006/main">
              <a:ext uri="{FF2B5EF4-FFF2-40B4-BE49-F238E27FC236}">
                <a16:creationId xmlns:a16="http://schemas.microsoft.com/office/drawing/2014/main" id="{F7AD6651-7117-4487-81FE-82B11E2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2" name="text-61">
            <a:extLst xmlns:a="http://schemas.openxmlformats.org/drawingml/2006/main">
              <a:ext uri="{FF2B5EF4-FFF2-40B4-BE49-F238E27FC236}">
                <a16:creationId xmlns:a16="http://schemas.microsoft.com/office/drawing/2014/main" id="{8AF2A5DC-7443-4D18-99A2-219A3ACF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81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分析洞察</a:t>
            </a:r>
          </a:p>
        </p:txBody>
      </p:sp>
      <p:sp>
        <p:nvSpPr>
          <p:cNvPr id="33" name="text-62">
            <a:extLst xmlns:a="http://schemas.openxmlformats.org/drawingml/2006/main">
              <a:ext uri="{FF2B5EF4-FFF2-40B4-BE49-F238E27FC236}">
                <a16:creationId xmlns:a16="http://schemas.microsoft.com/office/drawing/2014/main" id="{93728CA6-69DF-47E1-A94B-C0A0B4F0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c7233116d5414c6c" action="ppaction://hlinksldjump"/>
              </a:rPr>
              <a:t>证据与洞察专家 →</a:t>
            </a:r>
          </a:p>
        </p:txBody>
      </p:sp>
      <p:sp>
        <p:nvSpPr>
          <p:cNvPr id="34" name="shape-63">
            <a:extLst xmlns:a="http://schemas.openxmlformats.org/drawingml/2006/main">
              <a:ext uri="{FF2B5EF4-FFF2-40B4-BE49-F238E27FC236}">
                <a16:creationId xmlns:a16="http://schemas.microsoft.com/office/drawing/2014/main" id="{372C3ACB-9D00-4F7D-9867-6292830F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2291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35" name="shape-64">
            <a:extLst xmlns:a="http://schemas.openxmlformats.org/drawingml/2006/main">
              <a:ext uri="{FF2B5EF4-FFF2-40B4-BE49-F238E27FC236}">
                <a16:creationId xmlns:a16="http://schemas.microsoft.com/office/drawing/2014/main" id="{20CD7D66-5B65-4488-A543-FDEC2BE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36" name="text-65">
            <a:extLst xmlns:a="http://schemas.openxmlformats.org/drawingml/2006/main">
              <a:ext uri="{FF2B5EF4-FFF2-40B4-BE49-F238E27FC236}">
                <a16:creationId xmlns:a16="http://schemas.microsoft.com/office/drawing/2014/main" id="{9AB2410B-4F6F-4E5E-8FE2-CC3F1411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37" name="text-66">
            <a:extLst xmlns:a="http://schemas.openxmlformats.org/drawingml/2006/main">
              <a:ext uri="{FF2B5EF4-FFF2-40B4-BE49-F238E27FC236}">
                <a16:creationId xmlns:a16="http://schemas.microsoft.com/office/drawing/2014/main" id="{002AD881-AFEA-41F1-9937-9C880A24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81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生成报告</a:t>
            </a:r>
          </a:p>
        </p:txBody>
      </p:sp>
      <p:sp>
        <p:nvSpPr>
          <p:cNvPr id="38" name="text-67">
            <a:extLst xmlns:a="http://schemas.openxmlformats.org/drawingml/2006/main">
              <a:ext uri="{FF2B5EF4-FFF2-40B4-BE49-F238E27FC236}">
                <a16:creationId xmlns:a16="http://schemas.microsoft.com/office/drawing/2014/main" id="{8D5788C0-B125-4255-ACBB-6E893FCF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bc9cb7335c934cfc" action="ppaction://hlinksldjump"/>
              </a:rPr>
              <a:t>报告表达专家 →</a:t>
            </a:r>
          </a:p>
        </p:txBody>
      </p:sp>
      <p:sp>
        <p:nvSpPr>
          <p:cNvPr id="39" name="shape-68">
            <a:extLst xmlns:a="http://schemas.openxmlformats.org/drawingml/2006/main">
              <a:ext uri="{FF2B5EF4-FFF2-40B4-BE49-F238E27FC236}">
                <a16:creationId xmlns:a16="http://schemas.microsoft.com/office/drawing/2014/main" id="{62F7A0EF-331D-491D-9A40-99E84648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291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40" name="shape-69">
            <a:extLst xmlns:a="http://schemas.openxmlformats.org/drawingml/2006/main">
              <a:ext uri="{FF2B5EF4-FFF2-40B4-BE49-F238E27FC236}">
                <a16:creationId xmlns:a16="http://schemas.microsoft.com/office/drawing/2014/main" id="{97F577D8-8BC8-4B99-B9D5-0F4DD7F5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1950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1" name="text-70">
            <a:extLst xmlns:a="http://schemas.openxmlformats.org/drawingml/2006/main">
              <a:ext uri="{FF2B5EF4-FFF2-40B4-BE49-F238E27FC236}">
                <a16:creationId xmlns:a16="http://schemas.microsoft.com/office/drawing/2014/main" id="{DE02A1F3-ECC4-403F-A7AE-6ADE9849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42" name="text-71">
            <a:extLst xmlns:a="http://schemas.openxmlformats.org/drawingml/2006/main">
              <a:ext uri="{FF2B5EF4-FFF2-40B4-BE49-F238E27FC236}">
                <a16:creationId xmlns:a16="http://schemas.microsoft.com/office/drawing/2014/main" id="{3A0B042A-2B8E-4F01-BCE5-25D9D27D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81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沉淀资产</a:t>
            </a:r>
          </a:p>
        </p:txBody>
      </p:sp>
      <p:sp>
        <p:nvSpPr>
          <p:cNvPr id="43" name="text-72">
            <a:extLst xmlns:a="http://schemas.openxmlformats.org/drawingml/2006/main">
              <a:ext uri="{FF2B5EF4-FFF2-40B4-BE49-F238E27FC236}">
                <a16:creationId xmlns:a16="http://schemas.microsoft.com/office/drawing/2014/main" id="{1A744873-FEB2-449F-8F2D-D7506B36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03a258da028f4f2c" action="ppaction://hlinksldjump"/>
              </a:rPr>
              <a:t>研究总控 + 负责人 →</a:t>
            </a:r>
          </a:p>
        </p:txBody>
      </p:sp>
      <p:sp>
        <p:nvSpPr>
          <p:cNvPr id="44" name="text-73">
            <a:extLst xmlns:a="http://schemas.openxmlformats.org/drawingml/2006/main">
              <a:ext uri="{FF2B5EF4-FFF2-40B4-BE49-F238E27FC236}">
                <a16:creationId xmlns:a16="http://schemas.microsoft.com/office/drawing/2014/main" id="{CE6F50C2-6952-4A67-B922-615728C6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rPr>
              <a:t>点击阶段进入真实路径讲解；每个阶段页均可继续查看负责专家的提示词与专业方法。</a:t>
            </a:r>
          </a:p>
        </p:txBody>
      </p:sp>
    </p:spTree>
    <p:extLst>
      <p:ext uri="{BB962C8B-B14F-4D97-AF65-F5344CB8AC3E}">
        <p14:creationId xmlns:p14="http://schemas.microsoft.com/office/powerpoint/2010/main" val="16485025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74">
            <a:extLst xmlns:a="http://schemas.openxmlformats.org/drawingml/2006/main">
              <a:ext uri="{FF2B5EF4-FFF2-40B4-BE49-F238E27FC236}">
                <a16:creationId xmlns:a16="http://schemas.microsoft.com/office/drawing/2014/main" id="{B20A5446-5F2A-48FC-AA79-4CDBD0DD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点击专家查看专业方法与提示词</a:t>
            </a:r>
          </a:p>
        </p:txBody>
      </p:sp>
      <p:sp>
        <p:nvSpPr>
          <p:cNvPr id="2" name="text-75">
            <a:extLst xmlns:a="http://schemas.openxmlformats.org/drawingml/2006/main">
              <a:ext uri="{FF2B5EF4-FFF2-40B4-BE49-F238E27FC236}">
                <a16:creationId xmlns:a16="http://schemas.microsoft.com/office/drawing/2014/main" id="{08D03FA6-B250-48B2-B634-91A9E6D6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4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每位专家只负责一种关键判断，按研究路径协作</a:t>
            </a:r>
          </a:p>
        </p:txBody>
      </p:sp>
      <p:sp>
        <p:nvSpPr>
          <p:cNvPr id="3" name="shape-76">
            <a:extLst xmlns:a="http://schemas.openxmlformats.org/drawingml/2006/main">
              <a:ext uri="{FF2B5EF4-FFF2-40B4-BE49-F238E27FC236}">
                <a16:creationId xmlns:a16="http://schemas.microsoft.com/office/drawing/2014/main" id="{8367C494-5206-41DA-B3F4-A28711A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77">
            <a:extLst xmlns:a="http://schemas.openxmlformats.org/drawingml/2006/main">
              <a:ext uri="{FF2B5EF4-FFF2-40B4-BE49-F238E27FC236}">
                <a16:creationId xmlns:a16="http://schemas.microsoft.com/office/drawing/2014/main" id="{F1F63697-5FFE-478C-A447-042CEEB5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专家责任地图</a:t>
            </a:r>
          </a:p>
        </p:txBody>
      </p:sp>
      <p:sp>
        <p:nvSpPr>
          <p:cNvPr id="5" name="text-78">
            <a:extLst xmlns:a="http://schemas.openxmlformats.org/drawingml/2006/main">
              <a:ext uri="{FF2B5EF4-FFF2-40B4-BE49-F238E27FC236}">
                <a16:creationId xmlns:a16="http://schemas.microsoft.com/office/drawing/2014/main" id="{F9A276D3-ED0F-4262-A241-DB175C09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6" name="shape-79">
            <a:extLst xmlns:a="http://schemas.openxmlformats.org/drawingml/2006/main">
              <a:ext uri="{FF2B5EF4-FFF2-40B4-BE49-F238E27FC236}">
                <a16:creationId xmlns:a16="http://schemas.microsoft.com/office/drawing/2014/main" id="{D0E98EFE-F107-4BB0-A200-3583ACC7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429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7" name="text-80">
            <a:extLst xmlns:a="http://schemas.openxmlformats.org/drawingml/2006/main">
              <a:ext uri="{FF2B5EF4-FFF2-40B4-BE49-F238E27FC236}">
                <a16:creationId xmlns:a16="http://schemas.microsoft.com/office/drawing/2014/main" id="{09D5E77F-F615-4A5B-9B8D-86653AD4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研究前端</a:t>
            </a:r>
          </a:p>
        </p:txBody>
      </p:sp>
      <p:sp>
        <p:nvSpPr>
          <p:cNvPr id="8" name="text-81">
            <a:extLst xmlns:a="http://schemas.openxmlformats.org/drawingml/2006/main">
              <a:ext uri="{FF2B5EF4-FFF2-40B4-BE49-F238E27FC236}">
                <a16:creationId xmlns:a16="http://schemas.microsoft.com/office/drawing/2014/main" id="{500567E1-ED7D-47A3-8732-BF234D18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问题理解专家</a:t>
            </a:r>
          </a:p>
        </p:txBody>
      </p:sp>
      <p:sp>
        <p:nvSpPr>
          <p:cNvPr id="9" name="text-82">
            <a:extLst xmlns:a="http://schemas.openxmlformats.org/drawingml/2006/main">
              <a:ext uri="{FF2B5EF4-FFF2-40B4-BE49-F238E27FC236}">
                <a16:creationId xmlns:a16="http://schemas.microsoft.com/office/drawing/2014/main" id="{8434DE81-0B0A-4124-9C51-B9D0D097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3086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问题框定、可证伪假设、替代解释</a:t>
            </a:r>
          </a:p>
        </p:txBody>
      </p:sp>
      <p:sp>
        <p:nvSpPr>
          <p:cNvPr id="10" name="text-83">
            <a:extLst xmlns:a="http://schemas.openxmlformats.org/drawingml/2006/main">
              <a:ext uri="{FF2B5EF4-FFF2-40B4-BE49-F238E27FC236}">
                <a16:creationId xmlns:a16="http://schemas.microsoft.com/office/drawing/2014/main" id="{FFDF9314-2582-4EEE-A738-B307752A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d83334c82c334958" action="ppaction://hlinksldjump"/>
              </a:rPr>
              <a:t>查看专业提示词 →</a:t>
            </a:r>
          </a:p>
        </p:txBody>
      </p:sp>
      <p:sp>
        <p:nvSpPr>
          <p:cNvPr id="11" name="shape-84">
            <a:extLst xmlns:a="http://schemas.openxmlformats.org/drawingml/2006/main">
              <a:ext uri="{FF2B5EF4-FFF2-40B4-BE49-F238E27FC236}">
                <a16:creationId xmlns:a16="http://schemas.microsoft.com/office/drawing/2014/main" id="{1A23C207-1F85-4A20-A64A-9066563D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429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2" name="text-85">
            <a:extLst xmlns:a="http://schemas.openxmlformats.org/drawingml/2006/main">
              <a:ext uri="{FF2B5EF4-FFF2-40B4-BE49-F238E27FC236}">
                <a16:creationId xmlns:a16="http://schemas.microsoft.com/office/drawing/2014/main" id="{DDE757AE-5C36-40C7-B3D0-83757C26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方法设计</a:t>
            </a:r>
          </a:p>
        </p:txBody>
      </p:sp>
      <p:sp>
        <p:nvSpPr>
          <p:cNvPr id="13" name="text-86">
            <a:extLst xmlns:a="http://schemas.openxmlformats.org/drawingml/2006/main">
              <a:ext uri="{FF2B5EF4-FFF2-40B4-BE49-F238E27FC236}">
                <a16:creationId xmlns:a16="http://schemas.microsoft.com/office/drawing/2014/main" id="{3D5DC080-D575-47FF-BB61-0473C0CA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方案设计专家</a:t>
            </a:r>
          </a:p>
        </p:txBody>
      </p:sp>
      <p:sp>
        <p:nvSpPr>
          <p:cNvPr id="14" name="text-87">
            <a:extLst xmlns:a="http://schemas.openxmlformats.org/drawingml/2006/main">
              <a:ext uri="{FF2B5EF4-FFF2-40B4-BE49-F238E27FC236}">
                <a16:creationId xmlns:a16="http://schemas.microsoft.com/office/drawing/2014/main" id="{DF145C3D-2F74-4532-A406-ACAC9F9A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086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方法适配、证据映射、预分析计划</a:t>
            </a:r>
          </a:p>
        </p:txBody>
      </p:sp>
      <p:sp>
        <p:nvSpPr>
          <p:cNvPr id="15" name="text-88">
            <a:extLst xmlns:a="http://schemas.openxmlformats.org/drawingml/2006/main">
              <a:ext uri="{FF2B5EF4-FFF2-40B4-BE49-F238E27FC236}">
                <a16:creationId xmlns:a16="http://schemas.microsoft.com/office/drawing/2014/main" id="{17CBE2B6-3CF1-4844-98C8-267BC946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6100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b99e013f9eeb4026" action="ppaction://hlinksldjump"/>
              </a:rPr>
              <a:t>查看专业提示词 →</a:t>
            </a:r>
          </a:p>
        </p:txBody>
      </p:sp>
      <p:sp>
        <p:nvSpPr>
          <p:cNvPr id="16" name="shape-89">
            <a:extLst xmlns:a="http://schemas.openxmlformats.org/drawingml/2006/main">
              <a:ext uri="{FF2B5EF4-FFF2-40B4-BE49-F238E27FC236}">
                <a16:creationId xmlns:a16="http://schemas.microsoft.com/office/drawing/2014/main" id="{22D084EC-AE6A-498F-8FBE-B136554A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429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7" name="text-90">
            <a:extLst xmlns:a="http://schemas.openxmlformats.org/drawingml/2006/main">
              <a:ext uri="{FF2B5EF4-FFF2-40B4-BE49-F238E27FC236}">
                <a16:creationId xmlns:a16="http://schemas.microsoft.com/office/drawing/2014/main" id="{2D3B4F00-5BC0-4028-81C5-4763A1CD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工具设计</a:t>
            </a:r>
          </a:p>
        </p:txBody>
      </p:sp>
      <p:sp>
        <p:nvSpPr>
          <p:cNvPr id="18" name="text-91">
            <a:extLst xmlns:a="http://schemas.openxmlformats.org/drawingml/2006/main">
              <a:ext uri="{FF2B5EF4-FFF2-40B4-BE49-F238E27FC236}">
                <a16:creationId xmlns:a16="http://schemas.microsoft.com/office/drawing/2014/main" id="{288C6933-8852-4F3A-BA09-AA1AC208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问卷与访谈专家</a:t>
            </a:r>
          </a:p>
        </p:txBody>
      </p:sp>
      <p:sp>
        <p:nvSpPr>
          <p:cNvPr id="19" name="text-92">
            <a:extLst xmlns:a="http://schemas.openxmlformats.org/drawingml/2006/main">
              <a:ext uri="{FF2B5EF4-FFF2-40B4-BE49-F238E27FC236}">
                <a16:creationId xmlns:a16="http://schemas.microsoft.com/office/drawing/2014/main" id="{22CF1F42-FE8A-4AFA-BD37-0F34A42F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3086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构念操作化、量表、测量偏差</a:t>
            </a:r>
          </a:p>
        </p:txBody>
      </p:sp>
      <p:sp>
        <p:nvSpPr>
          <p:cNvPr id="20" name="text-93">
            <a:extLst xmlns:a="http://schemas.openxmlformats.org/drawingml/2006/main">
              <a:ext uri="{FF2B5EF4-FFF2-40B4-BE49-F238E27FC236}">
                <a16:creationId xmlns:a16="http://schemas.microsoft.com/office/drawing/2014/main" id="{5A88E0E8-8D4B-4B1A-B115-399CB4F4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bc139834f6e84a4a" action="ppaction://hlinksldjump"/>
              </a:rPr>
              <a:t>查看专业提示词 →</a:t>
            </a:r>
          </a:p>
        </p:txBody>
      </p:sp>
      <p:sp>
        <p:nvSpPr>
          <p:cNvPr id="21" name="shape-94">
            <a:extLst xmlns:a="http://schemas.openxmlformats.org/drawingml/2006/main">
              <a:ext uri="{FF2B5EF4-FFF2-40B4-BE49-F238E27FC236}">
                <a16:creationId xmlns:a16="http://schemas.microsoft.com/office/drawing/2014/main" id="{089F3830-A4DA-4B30-9AD7-7C2B95A3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429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2" name="text-95">
            <a:extLst xmlns:a="http://schemas.openxmlformats.org/drawingml/2006/main">
              <a:ext uri="{FF2B5EF4-FFF2-40B4-BE49-F238E27FC236}">
                <a16:creationId xmlns:a16="http://schemas.microsoft.com/office/drawing/2014/main" id="{2C38857E-DB8C-433F-A407-3BA2DAA7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全程复核</a:t>
            </a:r>
          </a:p>
        </p:txBody>
      </p:sp>
      <p:sp>
        <p:nvSpPr>
          <p:cNvPr id="23" name="text-96">
            <a:extLst xmlns:a="http://schemas.openxmlformats.org/drawingml/2006/main">
              <a:ext uri="{FF2B5EF4-FFF2-40B4-BE49-F238E27FC236}">
                <a16:creationId xmlns:a16="http://schemas.microsoft.com/office/drawing/2014/main" id="{396958FC-3865-40B3-B973-E806019B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质量审核专家</a:t>
            </a:r>
          </a:p>
        </p:txBody>
      </p:sp>
      <p:sp>
        <p:nvSpPr>
          <p:cNvPr id="24" name="text-97">
            <a:extLst xmlns:a="http://schemas.openxmlformats.org/drawingml/2006/main">
              <a:ext uri="{FF2B5EF4-FFF2-40B4-BE49-F238E27FC236}">
                <a16:creationId xmlns:a16="http://schemas.microsoft.com/office/drawing/2014/main" id="{0427722D-DF5F-42D1-A9F4-A37D0E94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3086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对抗性审核、严重度、测量污染</a:t>
            </a:r>
          </a:p>
        </p:txBody>
      </p:sp>
      <p:sp>
        <p:nvSpPr>
          <p:cNvPr id="25" name="text-98">
            <a:extLst xmlns:a="http://schemas.openxmlformats.org/drawingml/2006/main">
              <a:ext uri="{FF2B5EF4-FFF2-40B4-BE49-F238E27FC236}">
                <a16:creationId xmlns:a16="http://schemas.microsoft.com/office/drawing/2014/main" id="{B6D110FB-8C7F-45EC-90A5-FF51A65E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3872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d03e792dafdb4953" action="ppaction://hlinksldjump"/>
              </a:rPr>
              <a:t>查看专业提示词 →</a:t>
            </a:r>
          </a:p>
        </p:txBody>
      </p:sp>
      <p:sp>
        <p:nvSpPr>
          <p:cNvPr id="26" name="shape-99">
            <a:extLst xmlns:a="http://schemas.openxmlformats.org/drawingml/2006/main">
              <a:ext uri="{FF2B5EF4-FFF2-40B4-BE49-F238E27FC236}">
                <a16:creationId xmlns:a16="http://schemas.microsoft.com/office/drawing/2014/main" id="{FFFB3437-9AE0-408E-9F3A-1D9FE080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71875"/>
            <a:ext cx="3429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7" name="text-100">
            <a:extLst xmlns:a="http://schemas.openxmlformats.org/drawingml/2006/main">
              <a:ext uri="{FF2B5EF4-FFF2-40B4-BE49-F238E27FC236}">
                <a16:creationId xmlns:a16="http://schemas.microsoft.com/office/drawing/2014/main" id="{68096B29-F799-4DA7-952F-2A2F4B5F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0522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证据分析</a:t>
            </a:r>
          </a:p>
        </p:txBody>
      </p:sp>
      <p:sp>
        <p:nvSpPr>
          <p:cNvPr id="28" name="text-101">
            <a:extLst xmlns:a="http://schemas.openxmlformats.org/drawingml/2006/main">
              <a:ext uri="{FF2B5EF4-FFF2-40B4-BE49-F238E27FC236}">
                <a16:creationId xmlns:a16="http://schemas.microsoft.com/office/drawing/2014/main" id="{E8AC3FA0-8C07-42AB-9CAE-CAE843A8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52875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证据与洞察专家</a:t>
            </a:r>
          </a:p>
        </p:txBody>
      </p:sp>
      <p:sp>
        <p:nvSpPr>
          <p:cNvPr id="29" name="text-102">
            <a:extLst xmlns:a="http://schemas.openxmlformats.org/drawingml/2006/main">
              <a:ext uri="{FF2B5EF4-FFF2-40B4-BE49-F238E27FC236}">
                <a16:creationId xmlns:a16="http://schemas.microsoft.com/office/drawing/2014/main" id="{BA15F7C4-12CE-41F0-B924-236CE841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0075"/>
            <a:ext cx="3086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负例分析、三角验证、不确定性</a:t>
            </a:r>
          </a:p>
        </p:txBody>
      </p:sp>
      <p:sp>
        <p:nvSpPr>
          <p:cNvPr id="30" name="text-103">
            <a:extLst xmlns:a="http://schemas.openxmlformats.org/drawingml/2006/main">
              <a:ext uri="{FF2B5EF4-FFF2-40B4-BE49-F238E27FC236}">
                <a16:creationId xmlns:a16="http://schemas.microsoft.com/office/drawing/2014/main" id="{A68E79A2-0FEC-4D10-A022-CB571444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3872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fcb2f26410fd425c" action="ppaction://hlinksldjump"/>
              </a:rPr>
              <a:t>查看专业提示词 →</a:t>
            </a:r>
          </a:p>
        </p:txBody>
      </p:sp>
      <p:sp>
        <p:nvSpPr>
          <p:cNvPr id="31" name="shape-104">
            <a:extLst xmlns:a="http://schemas.openxmlformats.org/drawingml/2006/main">
              <a:ext uri="{FF2B5EF4-FFF2-40B4-BE49-F238E27FC236}">
                <a16:creationId xmlns:a16="http://schemas.microsoft.com/office/drawing/2014/main" id="{B88ACDA0-0408-4E5E-8A43-4EA53744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3429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32" name="text-105">
            <a:extLst xmlns:a="http://schemas.openxmlformats.org/drawingml/2006/main">
              <a:ext uri="{FF2B5EF4-FFF2-40B4-BE49-F238E27FC236}">
                <a16:creationId xmlns:a16="http://schemas.microsoft.com/office/drawing/2014/main" id="{CA46A506-B632-447D-8BD0-0279EC02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0522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成果表达</a:t>
            </a:r>
          </a:p>
        </p:txBody>
      </p:sp>
      <p:sp>
        <p:nvSpPr>
          <p:cNvPr id="33" name="text-106">
            <a:extLst xmlns:a="http://schemas.openxmlformats.org/drawingml/2006/main">
              <a:ext uri="{FF2B5EF4-FFF2-40B4-BE49-F238E27FC236}">
                <a16:creationId xmlns:a16="http://schemas.microsoft.com/office/drawing/2014/main" id="{43E1EC78-615C-4FC5-883E-1E18D7C9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报告表达专家</a:t>
            </a:r>
          </a:p>
        </p:txBody>
      </p:sp>
      <p:sp>
        <p:nvSpPr>
          <p:cNvPr id="34" name="text-107">
            <a:extLst xmlns:a="http://schemas.openxmlformats.org/drawingml/2006/main">
              <a:ext uri="{FF2B5EF4-FFF2-40B4-BE49-F238E27FC236}">
                <a16:creationId xmlns:a16="http://schemas.microsoft.com/office/drawing/2014/main" id="{705787E3-3D66-4366-833D-7A7BD80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0075"/>
            <a:ext cx="3086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信息层级、证据叙事、图表诚信</a:t>
            </a:r>
          </a:p>
        </p:txBody>
      </p:sp>
      <p:sp>
        <p:nvSpPr>
          <p:cNvPr id="35" name="text-108">
            <a:extLst xmlns:a="http://schemas.openxmlformats.org/drawingml/2006/main">
              <a:ext uri="{FF2B5EF4-FFF2-40B4-BE49-F238E27FC236}">
                <a16:creationId xmlns:a16="http://schemas.microsoft.com/office/drawing/2014/main" id="{9618ACB4-844F-434C-8597-AE33E033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3872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203e86531efb4a8b" action="ppaction://hlinksldjump"/>
              </a:rPr>
              <a:t>查看专业提示词 →</a:t>
            </a:r>
          </a:p>
        </p:txBody>
      </p:sp>
      <p:sp>
        <p:nvSpPr>
          <p:cNvPr id="36" name="text-109">
            <a:extLst xmlns:a="http://schemas.openxmlformats.org/drawingml/2006/main">
              <a:ext uri="{FF2B5EF4-FFF2-40B4-BE49-F238E27FC236}">
                <a16:creationId xmlns:a16="http://schemas.microsoft.com/office/drawing/2014/main" id="{C86D710E-7D99-4BDB-99D3-7C668AA9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488aaac462d4751" action="ppaction://hlinksldjump"/>
              </a:rPr>
              <a:t>研究总控：状态编排、版本锁定、最小权限、失效传播 →</a:t>
            </a:r>
          </a:p>
        </p:txBody>
      </p:sp>
    </p:spTree>
    <p:extLst>
      <p:ext uri="{BB962C8B-B14F-4D97-AF65-F5344CB8AC3E}">
        <p14:creationId xmlns:p14="http://schemas.microsoft.com/office/powerpoint/2010/main" val="4864282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10">
            <a:extLst xmlns:a="http://schemas.openxmlformats.org/drawingml/2006/main">
              <a:ext uri="{FF2B5EF4-FFF2-40B4-BE49-F238E27FC236}">
                <a16:creationId xmlns:a16="http://schemas.microsoft.com/office/drawing/2014/main" id="{74870850-4A7A-4AC1-9B95-9C2AB2FB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听众只需理解四个运行原理</a:t>
            </a:r>
          </a:p>
        </p:txBody>
      </p:sp>
      <p:sp>
        <p:nvSpPr>
          <p:cNvPr id="2" name="text-111">
            <a:extLst xmlns:a="http://schemas.openxmlformats.org/drawingml/2006/main">
              <a:ext uri="{FF2B5EF4-FFF2-40B4-BE49-F238E27FC236}">
                <a16:creationId xmlns:a16="http://schemas.microsoft.com/office/drawing/2014/main" id="{CA677242-3DBF-4E4D-B999-ACAA734F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FAF9F5"/>
                </a:solidFill>
                <a:latin typeface="SimSun"/>
                <a:ea typeface="SimSun"/>
                <a:cs typeface="SimSun"/>
              </a:defRPr>
            </a:pPr>
            <a:r>
              <a:rPr sz="3375" b="0">
                <a:solidFill>
                  <a:srgbClr val="FAF9F5"/>
                </a:solidFill>
                <a:latin typeface="SimSun"/>
                <a:ea typeface="SimSun"/>
                <a:cs typeface="SimSun"/>
              </a:rPr>
              <a:t>系统如何实现：固定责任、固定交付、独立复核、人工决定</a:t>
            </a:r>
          </a:p>
        </p:txBody>
      </p:sp>
      <p:sp>
        <p:nvSpPr>
          <p:cNvPr id="3" name="shape-112">
            <a:extLst xmlns:a="http://schemas.openxmlformats.org/drawingml/2006/main">
              <a:ext uri="{FF2B5EF4-FFF2-40B4-BE49-F238E27FC236}">
                <a16:creationId xmlns:a16="http://schemas.microsoft.com/office/drawing/2014/main" id="{C8511AAE-A6BD-4339-8B34-A025BE4B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D3D3A"/>
            </a:solidFill>
            <a:prstDash val="solid"/>
          </a:ln>
        </p:spPr>
      </p:sp>
      <p:sp>
        <p:nvSpPr>
          <p:cNvPr id="4" name="text-113">
            <a:extLst xmlns:a="http://schemas.openxmlformats.org/drawingml/2006/main">
              <a:ext uri="{FF2B5EF4-FFF2-40B4-BE49-F238E27FC236}">
                <a16:creationId xmlns:a16="http://schemas.microsoft.com/office/drawing/2014/main" id="{55DF773B-68EF-4B13-8C44-F4A38555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协作原理，而非技术名词</a:t>
            </a:r>
          </a:p>
        </p:txBody>
      </p:sp>
      <p:sp>
        <p:nvSpPr>
          <p:cNvPr id="5" name="text-114">
            <a:extLst xmlns:a="http://schemas.openxmlformats.org/drawingml/2006/main">
              <a:ext uri="{FF2B5EF4-FFF2-40B4-BE49-F238E27FC236}">
                <a16:creationId xmlns:a16="http://schemas.microsoft.com/office/drawing/2014/main" id="{6F45C3F0-D768-447F-83C4-EDEC7415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6" name="shape-115">
            <a:extLst xmlns:a="http://schemas.openxmlformats.org/drawingml/2006/main">
              <a:ext uri="{FF2B5EF4-FFF2-40B4-BE49-F238E27FC236}">
                <a16:creationId xmlns:a16="http://schemas.microsoft.com/office/drawing/2014/main" id="{05BF4E36-3CED-4642-878D-9C651C81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533650" cy="27813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7" name="text-116">
            <a:extLst xmlns:a="http://schemas.openxmlformats.org/drawingml/2006/main">
              <a:ext uri="{FF2B5EF4-FFF2-40B4-BE49-F238E27FC236}">
                <a16:creationId xmlns:a16="http://schemas.microsoft.com/office/drawing/2014/main" id="{9F381296-D94E-4BD6-A1C5-700D9DDE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-117">
            <a:extLst xmlns:a="http://schemas.openxmlformats.org/drawingml/2006/main">
              <a:ext uri="{FF2B5EF4-FFF2-40B4-BE49-F238E27FC236}">
                <a16:creationId xmlns:a16="http://schemas.microsoft.com/office/drawing/2014/main" id="{E83DFCD1-F1D6-48A0-B1D5-FAC0B850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一人一责</a:t>
            </a:r>
          </a:p>
        </p:txBody>
      </p:sp>
      <p:sp>
        <p:nvSpPr>
          <p:cNvPr id="9" name="text-118">
            <a:extLst xmlns:a="http://schemas.openxmlformats.org/drawingml/2006/main">
              <a:ext uri="{FF2B5EF4-FFF2-40B4-BE49-F238E27FC236}">
                <a16:creationId xmlns:a16="http://schemas.microsoft.com/office/drawing/2014/main" id="{01FD3D74-A5EB-4AC3-AFBE-3B8F0D20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190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rPr>
              <a:t>每位专家只做自己擅长的判断，避免同时生成和审核自己。</a:t>
            </a:r>
          </a:p>
        </p:txBody>
      </p:sp>
      <p:sp>
        <p:nvSpPr>
          <p:cNvPr id="10" name="shape-119">
            <a:extLst xmlns:a="http://schemas.openxmlformats.org/drawingml/2006/main">
              <a:ext uri="{FF2B5EF4-FFF2-40B4-BE49-F238E27FC236}">
                <a16:creationId xmlns:a16="http://schemas.microsoft.com/office/drawing/2014/main" id="{8021FF37-72D0-479E-98E6-146D9947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28800"/>
            <a:ext cx="2533650" cy="27813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11" name="text-120">
            <a:extLst xmlns:a="http://schemas.openxmlformats.org/drawingml/2006/main">
              <a:ext uri="{FF2B5EF4-FFF2-40B4-BE49-F238E27FC236}">
                <a16:creationId xmlns:a16="http://schemas.microsoft.com/office/drawing/2014/main" id="{B444C669-9140-4FD8-9BA8-1786AD78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621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text-121">
            <a:extLst xmlns:a="http://schemas.openxmlformats.org/drawingml/2006/main">
              <a:ext uri="{FF2B5EF4-FFF2-40B4-BE49-F238E27FC236}">
                <a16:creationId xmlns:a16="http://schemas.microsoft.com/office/drawing/2014/main" id="{AF58E042-2C19-41EB-A871-55C36F96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逐步交付</a:t>
            </a:r>
          </a:p>
        </p:txBody>
      </p:sp>
      <p:sp>
        <p:nvSpPr>
          <p:cNvPr id="13" name="text-122">
            <a:extLst xmlns:a="http://schemas.openxmlformats.org/drawingml/2006/main">
              <a:ext uri="{FF2B5EF4-FFF2-40B4-BE49-F238E27FC236}">
                <a16:creationId xmlns:a16="http://schemas.microsoft.com/office/drawing/2014/main" id="{8B6B81C6-A0AA-4F3A-85CC-56BF4254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2190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rPr>
              <a:t>上一步形成可复核结果，下一位专家再据此继续。</a:t>
            </a:r>
          </a:p>
        </p:txBody>
      </p:sp>
      <p:sp>
        <p:nvSpPr>
          <p:cNvPr id="14" name="shape-123">
            <a:extLst xmlns:a="http://schemas.openxmlformats.org/drawingml/2006/main">
              <a:ext uri="{FF2B5EF4-FFF2-40B4-BE49-F238E27FC236}">
                <a16:creationId xmlns:a16="http://schemas.microsoft.com/office/drawing/2014/main" id="{E99E509F-810E-48E3-9C8B-8AC7FA5B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2533650" cy="27813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15" name="text-124">
            <a:extLst xmlns:a="http://schemas.openxmlformats.org/drawingml/2006/main">
              <a:ext uri="{FF2B5EF4-FFF2-40B4-BE49-F238E27FC236}">
                <a16:creationId xmlns:a16="http://schemas.microsoft.com/office/drawing/2014/main" id="{C7D980C8-FFB6-486F-A01D-E206FC68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text-125">
            <a:extLst xmlns:a="http://schemas.openxmlformats.org/drawingml/2006/main">
              <a:ext uri="{FF2B5EF4-FFF2-40B4-BE49-F238E27FC236}">
                <a16:creationId xmlns:a16="http://schemas.microsoft.com/office/drawing/2014/main" id="{720C9BBB-2045-4226-ABF6-DB582445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独立复核</a:t>
            </a:r>
          </a:p>
        </p:txBody>
      </p:sp>
      <p:sp>
        <p:nvSpPr>
          <p:cNvPr id="17" name="text-126">
            <a:extLst xmlns:a="http://schemas.openxmlformats.org/drawingml/2006/main">
              <a:ext uri="{FF2B5EF4-FFF2-40B4-BE49-F238E27FC236}">
                <a16:creationId xmlns:a16="http://schemas.microsoft.com/office/drawing/2014/main" id="{F93AA169-D90F-432B-8861-E6EE3FAD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2190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rPr>
              <a:t>质量专家定位问题并退回责任人，不在幕后直接改写。</a:t>
            </a:r>
          </a:p>
        </p:txBody>
      </p:sp>
      <p:sp>
        <p:nvSpPr>
          <p:cNvPr id="18" name="shape-127">
            <a:extLst xmlns:a="http://schemas.openxmlformats.org/drawingml/2006/main">
              <a:ext uri="{FF2B5EF4-FFF2-40B4-BE49-F238E27FC236}">
                <a16:creationId xmlns:a16="http://schemas.microsoft.com/office/drawing/2014/main" id="{1090B165-638B-45A7-840C-017B4840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28800"/>
            <a:ext cx="2533650" cy="27813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19" name="text-128">
            <a:extLst xmlns:a="http://schemas.openxmlformats.org/drawingml/2006/main">
              <a:ext uri="{FF2B5EF4-FFF2-40B4-BE49-F238E27FC236}">
                <a16:creationId xmlns:a16="http://schemas.microsoft.com/office/drawing/2014/main" id="{3F25522A-1607-4EE5-96C6-F4581980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621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0" name="text-129">
            <a:extLst xmlns:a="http://schemas.openxmlformats.org/drawingml/2006/main">
              <a:ext uri="{FF2B5EF4-FFF2-40B4-BE49-F238E27FC236}">
                <a16:creationId xmlns:a16="http://schemas.microsoft.com/office/drawing/2014/main" id="{02642850-8021-4ABE-898D-F87E33B7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09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人工决定</a:t>
            </a:r>
          </a:p>
        </p:txBody>
      </p:sp>
      <p:sp>
        <p:nvSpPr>
          <p:cNvPr id="21" name="text-130">
            <a:extLst xmlns:a="http://schemas.openxmlformats.org/drawingml/2006/main">
              <a:ext uri="{FF2B5EF4-FFF2-40B4-BE49-F238E27FC236}">
                <a16:creationId xmlns:a16="http://schemas.microsoft.com/office/drawing/2014/main" id="{5CF709F6-5201-49AB-97C9-92789375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67000"/>
            <a:ext cx="2190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rPr>
              <a:t>范围、执行、洞察成立与发布均由授权人员确认。</a:t>
            </a:r>
          </a:p>
        </p:txBody>
      </p:sp>
      <p:sp>
        <p:nvSpPr>
          <p:cNvPr id="22" name="text-131">
            <a:extLst xmlns:a="http://schemas.openxmlformats.org/drawingml/2006/main">
              <a:ext uri="{FF2B5EF4-FFF2-40B4-BE49-F238E27FC236}">
                <a16:creationId xmlns:a16="http://schemas.microsoft.com/office/drawing/2014/main" id="{54EC7E5D-5136-404B-8561-3A610E6E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rPr>
              <a:t>统一工作规则：说明收到什么、如何判断、不能越过什么边界，以及交给下一环节什么结果。</a:t>
            </a:r>
          </a:p>
        </p:txBody>
      </p:sp>
    </p:spTree>
    <p:extLst>
      <p:ext uri="{BB962C8B-B14F-4D97-AF65-F5344CB8AC3E}">
        <p14:creationId xmlns:p14="http://schemas.microsoft.com/office/powerpoint/2010/main" val="16887944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132">
            <a:extLst xmlns:a="http://schemas.openxmlformats.org/drawingml/2006/main">
              <a:ext uri="{FF2B5EF4-FFF2-40B4-BE49-F238E27FC236}">
                <a16:creationId xmlns:a16="http://schemas.microsoft.com/office/drawing/2014/main" id="{9DD91D07-DE6F-4C06-8145-55E5781B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真实路径 01 / 08</a:t>
            </a:r>
          </a:p>
        </p:txBody>
      </p:sp>
      <p:sp>
        <p:nvSpPr>
          <p:cNvPr id="2" name="text-133">
            <a:extLst xmlns:a="http://schemas.openxmlformats.org/drawingml/2006/main">
              <a:ext uri="{FF2B5EF4-FFF2-40B4-BE49-F238E27FC236}">
                <a16:creationId xmlns:a16="http://schemas.microsoft.com/office/drawing/2014/main" id="{177187E7-2B30-45A9-8852-340BBF8F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3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接收研究需求：先登记问题，不急着生成题目</a:t>
            </a:r>
          </a:p>
        </p:txBody>
      </p:sp>
      <p:sp>
        <p:nvSpPr>
          <p:cNvPr id="3" name="shape-134">
            <a:extLst xmlns:a="http://schemas.openxmlformats.org/drawingml/2006/main">
              <a:ext uri="{FF2B5EF4-FFF2-40B4-BE49-F238E27FC236}">
                <a16:creationId xmlns:a16="http://schemas.microsoft.com/office/drawing/2014/main" id="{63DA0195-DB30-4F03-871B-DAD305AA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135">
            <a:extLst xmlns:a="http://schemas.openxmlformats.org/drawingml/2006/main">
              <a:ext uri="{FF2B5EF4-FFF2-40B4-BE49-F238E27FC236}">
                <a16:creationId xmlns:a16="http://schemas.microsoft.com/office/drawing/2014/main" id="{AB7A36AC-763B-4EC4-94B3-5FF100DD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阶段 01 · 接收研究需求</a:t>
            </a:r>
          </a:p>
        </p:txBody>
      </p:sp>
      <p:sp>
        <p:nvSpPr>
          <p:cNvPr id="5" name="text-136">
            <a:extLst xmlns:a="http://schemas.openxmlformats.org/drawingml/2006/main">
              <a:ext uri="{FF2B5EF4-FFF2-40B4-BE49-F238E27FC236}">
                <a16:creationId xmlns:a16="http://schemas.microsoft.com/office/drawing/2014/main" id="{7AA85467-B491-4632-9C33-09BF3548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6" name="text-137">
            <a:extLst xmlns:a="http://schemas.openxmlformats.org/drawingml/2006/main">
              <a:ext uri="{FF2B5EF4-FFF2-40B4-BE49-F238E27FC236}">
                <a16:creationId xmlns:a16="http://schemas.microsoft.com/office/drawing/2014/main" id="{9D1893FE-B410-46CB-8E29-E57CD8A5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57"/>
          </a:solidFill>
          <a:ln xmlns:a="http://schemas.openxmlformats.org/drawingml/2006/main" w="14288">
            <a:solidFill>
              <a:srgbClr val="D97757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0c2847170147b6" action="ppaction://hlinksldjump"/>
              </a:rPr>
              <a:t>1 接收需求</a:t>
            </a:r>
          </a:p>
        </p:txBody>
      </p:sp>
      <p:sp>
        <p:nvSpPr>
          <p:cNvPr id="7" name="text-138">
            <a:extLst xmlns:a="http://schemas.openxmlformats.org/drawingml/2006/main">
              <a:ext uri="{FF2B5EF4-FFF2-40B4-BE49-F238E27FC236}">
                <a16:creationId xmlns:a16="http://schemas.microsoft.com/office/drawing/2014/main" id="{C91A7B11-4F62-4C99-BF5B-B1041A92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684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ab427bbd3ee4776" action="ppaction://hlinksldjump"/>
              </a:rPr>
              <a:t>2 理解问题</a:t>
            </a:r>
          </a:p>
        </p:txBody>
      </p:sp>
      <p:sp>
        <p:nvSpPr>
          <p:cNvPr id="8" name="text-139">
            <a:extLst xmlns:a="http://schemas.openxmlformats.org/drawingml/2006/main">
              <a:ext uri="{FF2B5EF4-FFF2-40B4-BE49-F238E27FC236}">
                <a16:creationId xmlns:a16="http://schemas.microsoft.com/office/drawing/2014/main" id="{95F1FD12-AE2B-4C73-9433-E52AAE42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5ee2c7052e24ea1" action="ppaction://hlinksldjump"/>
              </a:rPr>
              <a:t>3 设计方案</a:t>
            </a:r>
          </a:p>
        </p:txBody>
      </p:sp>
      <p:sp>
        <p:nvSpPr>
          <p:cNvPr id="9" name="text-140">
            <a:extLst xmlns:a="http://schemas.openxmlformats.org/drawingml/2006/main">
              <a:ext uri="{FF2B5EF4-FFF2-40B4-BE49-F238E27FC236}">
                <a16:creationId xmlns:a16="http://schemas.microsoft.com/office/drawing/2014/main" id="{280DF213-1AD5-4537-9D06-66F45770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453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e753249874e404e" action="ppaction://hlinksldjump"/>
              </a:rPr>
              <a:t>4 设计工具</a:t>
            </a:r>
          </a:p>
        </p:txBody>
      </p:sp>
      <p:sp>
        <p:nvSpPr>
          <p:cNvPr id="10" name="text-141">
            <a:extLst xmlns:a="http://schemas.openxmlformats.org/drawingml/2006/main">
              <a:ext uri="{FF2B5EF4-FFF2-40B4-BE49-F238E27FC236}">
                <a16:creationId xmlns:a16="http://schemas.microsoft.com/office/drawing/2014/main" id="{7ADE716C-DD60-44F3-8905-09BAF08F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72df223a1a448a8" action="ppaction://hlinksldjump"/>
              </a:rPr>
              <a:t>5 执行调研</a:t>
            </a:r>
          </a:p>
        </p:txBody>
      </p:sp>
      <p:sp>
        <p:nvSpPr>
          <p:cNvPr id="11" name="text-142">
            <a:extLst xmlns:a="http://schemas.openxmlformats.org/drawingml/2006/main">
              <a:ext uri="{FF2B5EF4-FFF2-40B4-BE49-F238E27FC236}">
                <a16:creationId xmlns:a16="http://schemas.microsoft.com/office/drawing/2014/main" id="{335BA2C3-4A19-44C6-8905-CAA48B9D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222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27e7795298e4986" action="ppaction://hlinksldjump"/>
              </a:rPr>
              <a:t>6 分析洞察</a:t>
            </a:r>
          </a:p>
        </p:txBody>
      </p:sp>
      <p:sp>
        <p:nvSpPr>
          <p:cNvPr id="12" name="text-143">
            <a:extLst xmlns:a="http://schemas.openxmlformats.org/drawingml/2006/main">
              <a:ext uri="{FF2B5EF4-FFF2-40B4-BE49-F238E27FC236}">
                <a16:creationId xmlns:a16="http://schemas.microsoft.com/office/drawing/2014/main" id="{20B29607-ABB4-49C7-AE21-DA585020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06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63a115bd0e240d9" action="ppaction://hlinksldjump"/>
              </a:rPr>
              <a:t>7 生成报告</a:t>
            </a:r>
          </a:p>
        </p:txBody>
      </p:sp>
      <p:sp>
        <p:nvSpPr>
          <p:cNvPr id="13" name="text-144">
            <a:extLst xmlns:a="http://schemas.openxmlformats.org/drawingml/2006/main">
              <a:ext uri="{FF2B5EF4-FFF2-40B4-BE49-F238E27FC236}">
                <a16:creationId xmlns:a16="http://schemas.microsoft.com/office/drawing/2014/main" id="{1D2B0A44-76B5-4513-AB58-8DE6BC39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991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078e942cd6549ef" action="ppaction://hlinksldjump"/>
              </a:rPr>
              <a:t>8 沉淀资产</a:t>
            </a:r>
          </a:p>
        </p:txBody>
      </p:sp>
      <p:sp>
        <p:nvSpPr>
          <p:cNvPr id="14" name="shape-145">
            <a:extLst xmlns:a="http://schemas.openxmlformats.org/drawingml/2006/main">
              <a:ext uri="{FF2B5EF4-FFF2-40B4-BE49-F238E27FC236}">
                <a16:creationId xmlns:a16="http://schemas.microsoft.com/office/drawing/2014/main" id="{AE452BDA-BA03-41BB-BF66-9B5B8D26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333750" cy="38862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15" name="text-146">
            <a:extLst xmlns:a="http://schemas.openxmlformats.org/drawingml/2006/main">
              <a:ext uri="{FF2B5EF4-FFF2-40B4-BE49-F238E27FC236}">
                <a16:creationId xmlns:a16="http://schemas.microsoft.com/office/drawing/2014/main" id="{15941C77-50EB-4C70-A908-8FCD3EA1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阶段 01</a:t>
            </a:r>
          </a:p>
        </p:txBody>
      </p:sp>
      <p:sp>
        <p:nvSpPr>
          <p:cNvPr id="16" name="text-147">
            <a:extLst xmlns:a="http://schemas.openxmlformats.org/drawingml/2006/main">
              <a:ext uri="{FF2B5EF4-FFF2-40B4-BE49-F238E27FC236}">
                <a16:creationId xmlns:a16="http://schemas.microsoft.com/office/drawing/2014/main" id="{0821C860-CC24-483B-BC1F-5A744FC7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把业务想法变成可继续处理的研究任务</a:t>
            </a:r>
          </a:p>
        </p:txBody>
      </p:sp>
      <p:sp>
        <p:nvSpPr>
          <p:cNvPr id="17" name="text-148">
            <a:extLst xmlns:a="http://schemas.openxmlformats.org/drawingml/2006/main">
              <a:ext uri="{FF2B5EF4-FFF2-40B4-BE49-F238E27FC236}">
                <a16:creationId xmlns:a16="http://schemas.microsoft.com/office/drawing/2014/main" id="{5D7CC44E-DAA3-4BA7-B296-4813DCC0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主要负责</a:t>
            </a:r>
          </a:p>
        </p:txBody>
      </p:sp>
      <p:sp>
        <p:nvSpPr>
          <p:cNvPr id="18" name="text-149">
            <a:extLst xmlns:a="http://schemas.openxmlformats.org/drawingml/2006/main">
              <a:ext uri="{FF2B5EF4-FFF2-40B4-BE49-F238E27FC236}">
                <a16:creationId xmlns:a16="http://schemas.microsoft.com/office/drawing/2014/main" id="{15B86D8A-A749-4290-9502-50132AE3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157bd38e93f4404" action="ppaction://hlinksldjump"/>
              </a:rPr>
              <a:t>研究总控 →</a:t>
            </a:r>
          </a:p>
        </p:txBody>
      </p:sp>
      <p:sp>
        <p:nvSpPr>
          <p:cNvPr id="19" name="shape-150">
            <a:extLst xmlns:a="http://schemas.openxmlformats.org/drawingml/2006/main">
              <a:ext uri="{FF2B5EF4-FFF2-40B4-BE49-F238E27FC236}">
                <a16:creationId xmlns:a16="http://schemas.microsoft.com/office/drawing/2014/main" id="{D590E7BD-C604-42A2-A104-25F30379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430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0" name="text-151">
            <a:extLst xmlns:a="http://schemas.openxmlformats.org/drawingml/2006/main">
              <a:ext uri="{FF2B5EF4-FFF2-40B4-BE49-F238E27FC236}">
                <a16:creationId xmlns:a16="http://schemas.microsoft.com/office/drawing/2014/main" id="{3D2494C6-66AF-4575-A19C-7B5CD30B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0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收到什么</a:t>
            </a:r>
          </a:p>
        </p:txBody>
      </p:sp>
      <p:sp>
        <p:nvSpPr>
          <p:cNvPr id="21" name="text-152">
            <a:extLst xmlns:a="http://schemas.openxmlformats.org/drawingml/2006/main">
              <a:ext uri="{FF2B5EF4-FFF2-40B4-BE49-F238E27FC236}">
                <a16:creationId xmlns:a16="http://schemas.microsoft.com/office/drawing/2014/main" id="{DEBE1998-51E0-4ED2-9041-EC1173F1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764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业务背景、待解决问题、已有材料、时间要求和预期使用场景。</a:t>
            </a:r>
          </a:p>
        </p:txBody>
      </p:sp>
      <p:sp>
        <p:nvSpPr>
          <p:cNvPr id="22" name="shape-153">
            <a:extLst xmlns:a="http://schemas.openxmlformats.org/drawingml/2006/main">
              <a:ext uri="{FF2B5EF4-FFF2-40B4-BE49-F238E27FC236}">
                <a16:creationId xmlns:a16="http://schemas.microsoft.com/office/drawing/2014/main" id="{B47278AD-9E59-408E-A50C-AAA0B850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146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3" name="text-154">
            <a:extLst xmlns:a="http://schemas.openxmlformats.org/drawingml/2006/main">
              <a:ext uri="{FF2B5EF4-FFF2-40B4-BE49-F238E27FC236}">
                <a16:creationId xmlns:a16="http://schemas.microsoft.com/office/drawing/2014/main" id="{1108BF66-B13E-4006-9A13-CA0B8070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怎么处理</a:t>
            </a:r>
          </a:p>
        </p:txBody>
      </p:sp>
      <p:sp>
        <p:nvSpPr>
          <p:cNvPr id="24" name="text-155">
            <a:extLst xmlns:a="http://schemas.openxmlformats.org/drawingml/2006/main">
              <a:ext uri="{FF2B5EF4-FFF2-40B4-BE49-F238E27FC236}">
                <a16:creationId xmlns:a16="http://schemas.microsoft.com/office/drawing/2014/main" id="{CBA38299-601C-4C5E-8A4A-B46CA348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479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登记任务与材料，区分已知事实、业务判断和待澄清事项。</a:t>
            </a:r>
          </a:p>
        </p:txBody>
      </p:sp>
      <p:sp>
        <p:nvSpPr>
          <p:cNvPr id="25" name="shape-156">
            <a:extLst xmlns:a="http://schemas.openxmlformats.org/drawingml/2006/main">
              <a:ext uri="{FF2B5EF4-FFF2-40B4-BE49-F238E27FC236}">
                <a16:creationId xmlns:a16="http://schemas.microsoft.com/office/drawing/2014/main" id="{02A1BD10-DC9D-480A-BD9F-1CC2A909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861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157">
            <a:extLst xmlns:a="http://schemas.openxmlformats.org/drawingml/2006/main">
              <a:ext uri="{FF2B5EF4-FFF2-40B4-BE49-F238E27FC236}">
                <a16:creationId xmlns:a16="http://schemas.microsoft.com/office/drawing/2014/main" id="{D6F3EB72-DE1E-4AA1-A5C3-1969792F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质量控制</a:t>
            </a:r>
          </a:p>
        </p:txBody>
      </p:sp>
      <p:sp>
        <p:nvSpPr>
          <p:cNvPr id="27" name="text-158">
            <a:extLst xmlns:a="http://schemas.openxmlformats.org/drawingml/2006/main">
              <a:ext uri="{FF2B5EF4-FFF2-40B4-BE49-F238E27FC236}">
                <a16:creationId xmlns:a16="http://schemas.microsoft.com/office/drawing/2014/main" id="{BE7BF5B1-A7C8-414F-BE7A-98021D1C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195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避免将“用户不了解”“产品卖得少”等前提直接写进问卷。</a:t>
            </a:r>
          </a:p>
        </p:txBody>
      </p:sp>
      <p:sp>
        <p:nvSpPr>
          <p:cNvPr id="28" name="shape-159">
            <a:extLst xmlns:a="http://schemas.openxmlformats.org/drawingml/2006/main">
              <a:ext uri="{FF2B5EF4-FFF2-40B4-BE49-F238E27FC236}">
                <a16:creationId xmlns:a16="http://schemas.microsoft.com/office/drawing/2014/main" id="{818A9F4A-58B8-4443-9D68-423DC19B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29" name="text-160">
            <a:extLst xmlns:a="http://schemas.openxmlformats.org/drawingml/2006/main">
              <a:ext uri="{FF2B5EF4-FFF2-40B4-BE49-F238E27FC236}">
                <a16:creationId xmlns:a16="http://schemas.microsoft.com/office/drawing/2014/main" id="{8BCE796A-F0FA-481B-8395-F35CCD9C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9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30" name="text-161">
            <a:extLst xmlns:a="http://schemas.openxmlformats.org/drawingml/2006/main">
              <a:ext uri="{FF2B5EF4-FFF2-40B4-BE49-F238E27FC236}">
                <a16:creationId xmlns:a16="http://schemas.microsoft.com/office/drawing/2014/main" id="{C1E6C9E9-0CA5-44C3-8633-E5AC589F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910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rPr>
              <a:t>需求记录：研究背景、提出者、已有资料、待澄清问题和责任人。</a:t>
            </a:r>
          </a:p>
        </p:txBody>
      </p:sp>
      <p:sp>
        <p:nvSpPr>
          <p:cNvPr id="31" name="text-162">
            <a:extLst xmlns:a="http://schemas.openxmlformats.org/drawingml/2006/main">
              <a:ext uri="{FF2B5EF4-FFF2-40B4-BE49-F238E27FC236}">
                <a16:creationId xmlns:a16="http://schemas.microsoft.com/office/drawing/2014/main" id="{813138D0-0B0C-468D-A810-A91B2AA9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877e3fb8ed1541d9" action="ppaction://hlinksldjump"/>
              </a:rPr>
              <a:t>← 返回完整工作流</a:t>
            </a:r>
          </a:p>
        </p:txBody>
      </p:sp>
    </p:spTree>
    <p:extLst>
      <p:ext uri="{BB962C8B-B14F-4D97-AF65-F5344CB8AC3E}">
        <p14:creationId xmlns:p14="http://schemas.microsoft.com/office/powerpoint/2010/main" val="16524250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163">
            <a:extLst xmlns:a="http://schemas.openxmlformats.org/drawingml/2006/main">
              <a:ext uri="{FF2B5EF4-FFF2-40B4-BE49-F238E27FC236}">
                <a16:creationId xmlns:a16="http://schemas.microsoft.com/office/drawing/2014/main" id="{F9B05820-9894-4FB3-9247-966ADFD8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真实路径 02 / 08</a:t>
            </a:r>
          </a:p>
        </p:txBody>
      </p:sp>
      <p:sp>
        <p:nvSpPr>
          <p:cNvPr id="2" name="text-164">
            <a:extLst xmlns:a="http://schemas.openxmlformats.org/drawingml/2006/main">
              <a:ext uri="{FF2B5EF4-FFF2-40B4-BE49-F238E27FC236}">
                <a16:creationId xmlns:a16="http://schemas.microsoft.com/office/drawing/2014/main" id="{F914EA2A-BA2A-41D2-91B0-7414D653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3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理解研究问题：把模糊诉求变成明确任务</a:t>
            </a:r>
          </a:p>
        </p:txBody>
      </p:sp>
      <p:sp>
        <p:nvSpPr>
          <p:cNvPr id="3" name="shape-165">
            <a:extLst xmlns:a="http://schemas.openxmlformats.org/drawingml/2006/main">
              <a:ext uri="{FF2B5EF4-FFF2-40B4-BE49-F238E27FC236}">
                <a16:creationId xmlns:a16="http://schemas.microsoft.com/office/drawing/2014/main" id="{73D62E71-34A1-4D77-9D2E-3090F5B6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166">
            <a:extLst xmlns:a="http://schemas.openxmlformats.org/drawingml/2006/main">
              <a:ext uri="{FF2B5EF4-FFF2-40B4-BE49-F238E27FC236}">
                <a16:creationId xmlns:a16="http://schemas.microsoft.com/office/drawing/2014/main" id="{78421227-4B34-45E0-B0CC-033821F7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阶段 02 · 理解研究问题</a:t>
            </a:r>
          </a:p>
        </p:txBody>
      </p:sp>
      <p:sp>
        <p:nvSpPr>
          <p:cNvPr id="5" name="text-167">
            <a:extLst xmlns:a="http://schemas.openxmlformats.org/drawingml/2006/main">
              <a:ext uri="{FF2B5EF4-FFF2-40B4-BE49-F238E27FC236}">
                <a16:creationId xmlns:a16="http://schemas.microsoft.com/office/drawing/2014/main" id="{84F64FE5-E122-488D-94A2-B5EA2D4E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6" name="text-168">
            <a:extLst xmlns:a="http://schemas.openxmlformats.org/drawingml/2006/main">
              <a:ext uri="{FF2B5EF4-FFF2-40B4-BE49-F238E27FC236}">
                <a16:creationId xmlns:a16="http://schemas.microsoft.com/office/drawing/2014/main" id="{E7F4EE18-C457-48F1-9C95-01B6CA60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e075f6dcef44cd4" action="ppaction://hlinksldjump"/>
              </a:rPr>
              <a:t>1 接收需求</a:t>
            </a:r>
          </a:p>
        </p:txBody>
      </p:sp>
      <p:sp>
        <p:nvSpPr>
          <p:cNvPr id="7" name="text-169">
            <a:extLst xmlns:a="http://schemas.openxmlformats.org/drawingml/2006/main">
              <a:ext uri="{FF2B5EF4-FFF2-40B4-BE49-F238E27FC236}">
                <a16:creationId xmlns:a16="http://schemas.microsoft.com/office/drawing/2014/main" id="{F4D44F27-694A-42CF-925C-EF86E895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684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57"/>
          </a:solidFill>
          <a:ln xmlns:a="http://schemas.openxmlformats.org/drawingml/2006/main" w="14288">
            <a:solidFill>
              <a:srgbClr val="D97757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d695cca97794bd8" action="ppaction://hlinksldjump"/>
              </a:rPr>
              <a:t>2 理解问题</a:t>
            </a:r>
          </a:p>
        </p:txBody>
      </p:sp>
      <p:sp>
        <p:nvSpPr>
          <p:cNvPr id="8" name="text-170">
            <a:extLst xmlns:a="http://schemas.openxmlformats.org/drawingml/2006/main">
              <a:ext uri="{FF2B5EF4-FFF2-40B4-BE49-F238E27FC236}">
                <a16:creationId xmlns:a16="http://schemas.microsoft.com/office/drawing/2014/main" id="{0F7CB34B-9157-4FD2-AF3B-4B83A3D2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744f03fbced4cdb" action="ppaction://hlinksldjump"/>
              </a:rPr>
              <a:t>3 设计方案</a:t>
            </a:r>
          </a:p>
        </p:txBody>
      </p:sp>
      <p:sp>
        <p:nvSpPr>
          <p:cNvPr id="9" name="text-171">
            <a:extLst xmlns:a="http://schemas.openxmlformats.org/drawingml/2006/main">
              <a:ext uri="{FF2B5EF4-FFF2-40B4-BE49-F238E27FC236}">
                <a16:creationId xmlns:a16="http://schemas.microsoft.com/office/drawing/2014/main" id="{3CDF4F94-13DF-4642-A803-E50010F8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453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28b29847354d07" action="ppaction://hlinksldjump"/>
              </a:rPr>
              <a:t>4 设计工具</a:t>
            </a:r>
          </a:p>
        </p:txBody>
      </p:sp>
      <p:sp>
        <p:nvSpPr>
          <p:cNvPr id="10" name="text-172">
            <a:extLst xmlns:a="http://schemas.openxmlformats.org/drawingml/2006/main">
              <a:ext uri="{FF2B5EF4-FFF2-40B4-BE49-F238E27FC236}">
                <a16:creationId xmlns:a16="http://schemas.microsoft.com/office/drawing/2014/main" id="{EE3EC5F3-E4E0-4DCD-AA4A-6C04BD65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b60889aa1be4016" action="ppaction://hlinksldjump"/>
              </a:rPr>
              <a:t>5 执行调研</a:t>
            </a:r>
          </a:p>
        </p:txBody>
      </p:sp>
      <p:sp>
        <p:nvSpPr>
          <p:cNvPr id="11" name="text-173">
            <a:extLst xmlns:a="http://schemas.openxmlformats.org/drawingml/2006/main">
              <a:ext uri="{FF2B5EF4-FFF2-40B4-BE49-F238E27FC236}">
                <a16:creationId xmlns:a16="http://schemas.microsoft.com/office/drawing/2014/main" id="{EDDAEE3E-A7F2-45F8-89E6-A08DFEFD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222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ff408016f0147e6" action="ppaction://hlinksldjump"/>
              </a:rPr>
              <a:t>6 分析洞察</a:t>
            </a:r>
          </a:p>
        </p:txBody>
      </p:sp>
      <p:sp>
        <p:nvSpPr>
          <p:cNvPr id="12" name="text-174">
            <a:extLst xmlns:a="http://schemas.openxmlformats.org/drawingml/2006/main">
              <a:ext uri="{FF2B5EF4-FFF2-40B4-BE49-F238E27FC236}">
                <a16:creationId xmlns:a16="http://schemas.microsoft.com/office/drawing/2014/main" id="{6FD4E88E-D429-4D19-8303-65B06F7D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06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d42f71f2d304b09" action="ppaction://hlinksldjump"/>
              </a:rPr>
              <a:t>7 生成报告</a:t>
            </a:r>
          </a:p>
        </p:txBody>
      </p:sp>
      <p:sp>
        <p:nvSpPr>
          <p:cNvPr id="13" name="text-175">
            <a:extLst xmlns:a="http://schemas.openxmlformats.org/drawingml/2006/main">
              <a:ext uri="{FF2B5EF4-FFF2-40B4-BE49-F238E27FC236}">
                <a16:creationId xmlns:a16="http://schemas.microsoft.com/office/drawing/2014/main" id="{3E940947-5A71-4A1A-B306-BD3BF50B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991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d94c3731e404887" action="ppaction://hlinksldjump"/>
              </a:rPr>
              <a:t>8 沉淀资产</a:t>
            </a:r>
          </a:p>
        </p:txBody>
      </p:sp>
      <p:sp>
        <p:nvSpPr>
          <p:cNvPr id="14" name="shape-176">
            <a:extLst xmlns:a="http://schemas.openxmlformats.org/drawingml/2006/main">
              <a:ext uri="{FF2B5EF4-FFF2-40B4-BE49-F238E27FC236}">
                <a16:creationId xmlns:a16="http://schemas.microsoft.com/office/drawing/2014/main" id="{E801687B-A598-4C97-922F-2CBB5B9F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333750" cy="38862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15" name="text-177">
            <a:extLst xmlns:a="http://schemas.openxmlformats.org/drawingml/2006/main">
              <a:ext uri="{FF2B5EF4-FFF2-40B4-BE49-F238E27FC236}">
                <a16:creationId xmlns:a16="http://schemas.microsoft.com/office/drawing/2014/main" id="{E6C294E9-C747-458E-905E-6E50C19C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阶段 02</a:t>
            </a:r>
          </a:p>
        </p:txBody>
      </p:sp>
      <p:sp>
        <p:nvSpPr>
          <p:cNvPr id="16" name="text-178">
            <a:extLst xmlns:a="http://schemas.openxmlformats.org/drawingml/2006/main">
              <a:ext uri="{FF2B5EF4-FFF2-40B4-BE49-F238E27FC236}">
                <a16:creationId xmlns:a16="http://schemas.microsoft.com/office/drawing/2014/main" id="{8C1ED74E-0336-4626-8236-D900260B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先回答为什么研究，再回答问什么</a:t>
            </a:r>
          </a:p>
        </p:txBody>
      </p:sp>
      <p:sp>
        <p:nvSpPr>
          <p:cNvPr id="17" name="text-179">
            <a:extLst xmlns:a="http://schemas.openxmlformats.org/drawingml/2006/main">
              <a:ext uri="{FF2B5EF4-FFF2-40B4-BE49-F238E27FC236}">
                <a16:creationId xmlns:a16="http://schemas.microsoft.com/office/drawing/2014/main" id="{09D809FC-8745-4107-BFD9-E2148409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主要负责</a:t>
            </a:r>
          </a:p>
        </p:txBody>
      </p:sp>
      <p:sp>
        <p:nvSpPr>
          <p:cNvPr id="18" name="text-180">
            <a:extLst xmlns:a="http://schemas.openxmlformats.org/drawingml/2006/main">
              <a:ext uri="{FF2B5EF4-FFF2-40B4-BE49-F238E27FC236}">
                <a16:creationId xmlns:a16="http://schemas.microsoft.com/office/drawing/2014/main" id="{B194E6CC-64DF-44FA-9D64-CED3B45C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dd2889ecd44acc" action="ppaction://hlinksldjump"/>
              </a:rPr>
              <a:t>研究问题理解专家 →</a:t>
            </a:r>
          </a:p>
        </p:txBody>
      </p:sp>
      <p:sp>
        <p:nvSpPr>
          <p:cNvPr id="19" name="shape-181">
            <a:extLst xmlns:a="http://schemas.openxmlformats.org/drawingml/2006/main">
              <a:ext uri="{FF2B5EF4-FFF2-40B4-BE49-F238E27FC236}">
                <a16:creationId xmlns:a16="http://schemas.microsoft.com/office/drawing/2014/main" id="{B4881E3E-9425-44AC-82B1-F8823FCA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430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0" name="text-182">
            <a:extLst xmlns:a="http://schemas.openxmlformats.org/drawingml/2006/main">
              <a:ext uri="{FF2B5EF4-FFF2-40B4-BE49-F238E27FC236}">
                <a16:creationId xmlns:a16="http://schemas.microsoft.com/office/drawing/2014/main" id="{FC3140CC-090F-4BE6-917C-9A38C03A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0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收到什么</a:t>
            </a:r>
          </a:p>
        </p:txBody>
      </p:sp>
      <p:sp>
        <p:nvSpPr>
          <p:cNvPr id="21" name="text-183">
            <a:extLst xmlns:a="http://schemas.openxmlformats.org/drawingml/2006/main">
              <a:ext uri="{FF2B5EF4-FFF2-40B4-BE49-F238E27FC236}">
                <a16:creationId xmlns:a16="http://schemas.microsoft.com/office/drawing/2014/main" id="{874127BD-F27C-4450-ACA9-62018143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764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需求记录，以及业务方补充的背景、材料和决策约束。</a:t>
            </a:r>
          </a:p>
        </p:txBody>
      </p:sp>
      <p:sp>
        <p:nvSpPr>
          <p:cNvPr id="22" name="shape-184">
            <a:extLst xmlns:a="http://schemas.openxmlformats.org/drawingml/2006/main">
              <a:ext uri="{FF2B5EF4-FFF2-40B4-BE49-F238E27FC236}">
                <a16:creationId xmlns:a16="http://schemas.microsoft.com/office/drawing/2014/main" id="{96901837-E888-458E-B867-DAAA0F67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146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3" name="text-185">
            <a:extLst xmlns:a="http://schemas.openxmlformats.org/drawingml/2006/main">
              <a:ext uri="{FF2B5EF4-FFF2-40B4-BE49-F238E27FC236}">
                <a16:creationId xmlns:a16="http://schemas.microsoft.com/office/drawing/2014/main" id="{46C6CB21-69D7-49CC-9404-C39B489A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怎么处理</a:t>
            </a:r>
          </a:p>
        </p:txBody>
      </p:sp>
      <p:sp>
        <p:nvSpPr>
          <p:cNvPr id="24" name="text-186">
            <a:extLst xmlns:a="http://schemas.openxmlformats.org/drawingml/2006/main">
              <a:ext uri="{FF2B5EF4-FFF2-40B4-BE49-F238E27FC236}">
                <a16:creationId xmlns:a16="http://schemas.microsoft.com/office/drawing/2014/main" id="{8CF461D3-9ECF-4164-896F-8F8C4A33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479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区分事实、假设与未知，形成研究问题、可证伪假设和替代解释。</a:t>
            </a:r>
          </a:p>
        </p:txBody>
      </p:sp>
      <p:sp>
        <p:nvSpPr>
          <p:cNvPr id="25" name="shape-187">
            <a:extLst xmlns:a="http://schemas.openxmlformats.org/drawingml/2006/main">
              <a:ext uri="{FF2B5EF4-FFF2-40B4-BE49-F238E27FC236}">
                <a16:creationId xmlns:a16="http://schemas.microsoft.com/office/drawing/2014/main" id="{6E47A883-0C10-4D9C-A473-A45E6A3A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861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188">
            <a:extLst xmlns:a="http://schemas.openxmlformats.org/drawingml/2006/main">
              <a:ext uri="{FF2B5EF4-FFF2-40B4-BE49-F238E27FC236}">
                <a16:creationId xmlns:a16="http://schemas.microsoft.com/office/drawing/2014/main" id="{A8061F72-5001-480B-8208-EABCE039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质量控制</a:t>
            </a:r>
          </a:p>
        </p:txBody>
      </p:sp>
      <p:sp>
        <p:nvSpPr>
          <p:cNvPr id="27" name="text-189">
            <a:extLst xmlns:a="http://schemas.openxmlformats.org/drawingml/2006/main">
              <a:ext uri="{FF2B5EF4-FFF2-40B4-BE49-F238E27FC236}">
                <a16:creationId xmlns:a16="http://schemas.microsoft.com/office/drawing/2014/main" id="{9AF36D61-9114-44D5-9538-B50F72A3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195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检查问题是否中立、范围是否过宽、目标人群及决策用途是否清楚。</a:t>
            </a:r>
          </a:p>
        </p:txBody>
      </p:sp>
      <p:sp>
        <p:nvSpPr>
          <p:cNvPr id="28" name="shape-190">
            <a:extLst xmlns:a="http://schemas.openxmlformats.org/drawingml/2006/main">
              <a:ext uri="{FF2B5EF4-FFF2-40B4-BE49-F238E27FC236}">
                <a16:creationId xmlns:a16="http://schemas.microsoft.com/office/drawing/2014/main" id="{328F50FC-8838-4C09-8306-0F41CCDE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29" name="text-191">
            <a:extLst xmlns:a="http://schemas.openxmlformats.org/drawingml/2006/main">
              <a:ext uri="{FF2B5EF4-FFF2-40B4-BE49-F238E27FC236}">
                <a16:creationId xmlns:a16="http://schemas.microsoft.com/office/drawing/2014/main" id="{1F1286EA-D95F-4134-97BE-B5FCC4C3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9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30" name="text-192">
            <a:extLst xmlns:a="http://schemas.openxmlformats.org/drawingml/2006/main">
              <a:ext uri="{FF2B5EF4-FFF2-40B4-BE49-F238E27FC236}">
                <a16:creationId xmlns:a16="http://schemas.microsoft.com/office/drawing/2014/main" id="{E020CDE1-CD20-4198-8F43-42D25DFC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910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rPr>
              <a:t>研究任务书：目的、人群、问题、假设、范围、限制和预期用途。</a:t>
            </a:r>
          </a:p>
        </p:txBody>
      </p:sp>
      <p:sp>
        <p:nvSpPr>
          <p:cNvPr id="31" name="text-193">
            <a:extLst xmlns:a="http://schemas.openxmlformats.org/drawingml/2006/main">
              <a:ext uri="{FF2B5EF4-FFF2-40B4-BE49-F238E27FC236}">
                <a16:creationId xmlns:a16="http://schemas.microsoft.com/office/drawing/2014/main" id="{86471685-4F65-4A6B-8B0D-71DCEDFE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e5423ed000cd4600" action="ppaction://hlinksldjump"/>
              </a:rPr>
              <a:t>← 返回完整工作流</a:t>
            </a:r>
          </a:p>
        </p:txBody>
      </p:sp>
    </p:spTree>
    <p:extLst>
      <p:ext uri="{BB962C8B-B14F-4D97-AF65-F5344CB8AC3E}">
        <p14:creationId xmlns:p14="http://schemas.microsoft.com/office/powerpoint/2010/main" val="1781264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194">
            <a:extLst xmlns:a="http://schemas.openxmlformats.org/drawingml/2006/main">
              <a:ext uri="{FF2B5EF4-FFF2-40B4-BE49-F238E27FC236}">
                <a16:creationId xmlns:a16="http://schemas.microsoft.com/office/drawing/2014/main" id="{43BE781C-ECBA-488B-8C2A-4E494BC2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真实路径 03 / 08</a:t>
            </a:r>
          </a:p>
        </p:txBody>
      </p:sp>
      <p:sp>
        <p:nvSpPr>
          <p:cNvPr id="2" name="text-195">
            <a:extLst xmlns:a="http://schemas.openxmlformats.org/drawingml/2006/main">
              <a:ext uri="{FF2B5EF4-FFF2-40B4-BE49-F238E27FC236}">
                <a16:creationId xmlns:a16="http://schemas.microsoft.com/office/drawing/2014/main" id="{3F69C0FA-2211-42F4-9EC8-A1123C6F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3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设计研究方案：先定义证据，再选择方法</a:t>
            </a:r>
          </a:p>
        </p:txBody>
      </p:sp>
      <p:sp>
        <p:nvSpPr>
          <p:cNvPr id="3" name="shape-196">
            <a:extLst xmlns:a="http://schemas.openxmlformats.org/drawingml/2006/main">
              <a:ext uri="{FF2B5EF4-FFF2-40B4-BE49-F238E27FC236}">
                <a16:creationId xmlns:a16="http://schemas.microsoft.com/office/drawing/2014/main" id="{B580113B-3440-4624-9B17-DC2E78D7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197">
            <a:extLst xmlns:a="http://schemas.openxmlformats.org/drawingml/2006/main">
              <a:ext uri="{FF2B5EF4-FFF2-40B4-BE49-F238E27FC236}">
                <a16:creationId xmlns:a16="http://schemas.microsoft.com/office/drawing/2014/main" id="{56BCD71B-070E-4DF9-BB9F-76B8FB85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阶段 03 · 设计研究方案</a:t>
            </a:r>
          </a:p>
        </p:txBody>
      </p:sp>
      <p:sp>
        <p:nvSpPr>
          <p:cNvPr id="5" name="text-198">
            <a:extLst xmlns:a="http://schemas.openxmlformats.org/drawingml/2006/main">
              <a:ext uri="{FF2B5EF4-FFF2-40B4-BE49-F238E27FC236}">
                <a16:creationId xmlns:a16="http://schemas.microsoft.com/office/drawing/2014/main" id="{69113A7B-21BB-4F05-B3CD-0142D6A5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6" name="text-199">
            <a:extLst xmlns:a="http://schemas.openxmlformats.org/drawingml/2006/main">
              <a:ext uri="{FF2B5EF4-FFF2-40B4-BE49-F238E27FC236}">
                <a16:creationId xmlns:a16="http://schemas.microsoft.com/office/drawing/2014/main" id="{F238E032-397D-435F-B252-F27107F0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262923ebaa640df" action="ppaction://hlinksldjump"/>
              </a:rPr>
              <a:t>1 接收需求</a:t>
            </a:r>
          </a:p>
        </p:txBody>
      </p:sp>
      <p:sp>
        <p:nvSpPr>
          <p:cNvPr id="7" name="text-200">
            <a:extLst xmlns:a="http://schemas.openxmlformats.org/drawingml/2006/main">
              <a:ext uri="{FF2B5EF4-FFF2-40B4-BE49-F238E27FC236}">
                <a16:creationId xmlns:a16="http://schemas.microsoft.com/office/drawing/2014/main" id="{79305B47-0C1F-4B40-BA4D-571EE4D5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684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0336a46b00c4bf6" action="ppaction://hlinksldjump"/>
              </a:rPr>
              <a:t>2 理解问题</a:t>
            </a:r>
          </a:p>
        </p:txBody>
      </p:sp>
      <p:sp>
        <p:nvSpPr>
          <p:cNvPr id="8" name="text-201">
            <a:extLst xmlns:a="http://schemas.openxmlformats.org/drawingml/2006/main">
              <a:ext uri="{FF2B5EF4-FFF2-40B4-BE49-F238E27FC236}">
                <a16:creationId xmlns:a16="http://schemas.microsoft.com/office/drawing/2014/main" id="{A1DC3E5D-E9ED-4F23-8F9D-CFEE949E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57"/>
          </a:solidFill>
          <a:ln xmlns:a="http://schemas.openxmlformats.org/drawingml/2006/main" w="14288">
            <a:solidFill>
              <a:srgbClr val="D97757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57ccd5583b94f4e" action="ppaction://hlinksldjump"/>
              </a:rPr>
              <a:t>3 设计方案</a:t>
            </a:r>
          </a:p>
        </p:txBody>
      </p:sp>
      <p:sp>
        <p:nvSpPr>
          <p:cNvPr id="9" name="text-202">
            <a:extLst xmlns:a="http://schemas.openxmlformats.org/drawingml/2006/main">
              <a:ext uri="{FF2B5EF4-FFF2-40B4-BE49-F238E27FC236}">
                <a16:creationId xmlns:a16="http://schemas.microsoft.com/office/drawing/2014/main" id="{D9D164D1-E4B6-43E2-B373-2809A8AC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453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fe8055b99854292" action="ppaction://hlinksldjump"/>
              </a:rPr>
              <a:t>4 设计工具</a:t>
            </a:r>
          </a:p>
        </p:txBody>
      </p:sp>
      <p:sp>
        <p:nvSpPr>
          <p:cNvPr id="10" name="text-203">
            <a:extLst xmlns:a="http://schemas.openxmlformats.org/drawingml/2006/main">
              <a:ext uri="{FF2B5EF4-FFF2-40B4-BE49-F238E27FC236}">
                <a16:creationId xmlns:a16="http://schemas.microsoft.com/office/drawing/2014/main" id="{6FE28B5C-D74D-4839-9E84-FE62545F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44ecccf8ddf4f0c" action="ppaction://hlinksldjump"/>
              </a:rPr>
              <a:t>5 执行调研</a:t>
            </a:r>
          </a:p>
        </p:txBody>
      </p:sp>
      <p:sp>
        <p:nvSpPr>
          <p:cNvPr id="11" name="text-204">
            <a:extLst xmlns:a="http://schemas.openxmlformats.org/drawingml/2006/main">
              <a:ext uri="{FF2B5EF4-FFF2-40B4-BE49-F238E27FC236}">
                <a16:creationId xmlns:a16="http://schemas.microsoft.com/office/drawing/2014/main" id="{06760F2B-CEF2-4CE2-94FE-591F7CFF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222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ab5eec4f95e4094" action="ppaction://hlinksldjump"/>
              </a:rPr>
              <a:t>6 分析洞察</a:t>
            </a:r>
          </a:p>
        </p:txBody>
      </p:sp>
      <p:sp>
        <p:nvSpPr>
          <p:cNvPr id="12" name="text-205">
            <a:extLst xmlns:a="http://schemas.openxmlformats.org/drawingml/2006/main">
              <a:ext uri="{FF2B5EF4-FFF2-40B4-BE49-F238E27FC236}">
                <a16:creationId xmlns:a16="http://schemas.microsoft.com/office/drawing/2014/main" id="{52801086-589E-4D1F-A893-9EAB684C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06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e50b67da0a74d7d" action="ppaction://hlinksldjump"/>
              </a:rPr>
              <a:t>7 生成报告</a:t>
            </a:r>
          </a:p>
        </p:txBody>
      </p:sp>
      <p:sp>
        <p:nvSpPr>
          <p:cNvPr id="13" name="text-206">
            <a:extLst xmlns:a="http://schemas.openxmlformats.org/drawingml/2006/main">
              <a:ext uri="{FF2B5EF4-FFF2-40B4-BE49-F238E27FC236}">
                <a16:creationId xmlns:a16="http://schemas.microsoft.com/office/drawing/2014/main" id="{E2116F81-BFAF-4629-963B-D25AF962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991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351a15a4a4b4345" action="ppaction://hlinksldjump"/>
              </a:rPr>
              <a:t>8 沉淀资产</a:t>
            </a:r>
          </a:p>
        </p:txBody>
      </p:sp>
      <p:sp>
        <p:nvSpPr>
          <p:cNvPr id="14" name="shape-207">
            <a:extLst xmlns:a="http://schemas.openxmlformats.org/drawingml/2006/main">
              <a:ext uri="{FF2B5EF4-FFF2-40B4-BE49-F238E27FC236}">
                <a16:creationId xmlns:a16="http://schemas.microsoft.com/office/drawing/2014/main" id="{FC6D81B5-9E6B-4366-AC95-2C4566E5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333750" cy="38862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15" name="text-208">
            <a:extLst xmlns:a="http://schemas.openxmlformats.org/drawingml/2006/main">
              <a:ext uri="{FF2B5EF4-FFF2-40B4-BE49-F238E27FC236}">
                <a16:creationId xmlns:a16="http://schemas.microsoft.com/office/drawing/2014/main" id="{E56A4BFE-9050-40DD-989A-DFEDA54C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阶段 03</a:t>
            </a:r>
          </a:p>
        </p:txBody>
      </p:sp>
      <p:sp>
        <p:nvSpPr>
          <p:cNvPr id="16" name="text-209">
            <a:extLst xmlns:a="http://schemas.openxmlformats.org/drawingml/2006/main">
              <a:ext uri="{FF2B5EF4-FFF2-40B4-BE49-F238E27FC236}">
                <a16:creationId xmlns:a16="http://schemas.microsoft.com/office/drawing/2014/main" id="{DAF5AE25-2295-4FE3-B409-18D7CCA2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方法服从研究问题，而不是先决定做问卷</a:t>
            </a:r>
          </a:p>
        </p:txBody>
      </p:sp>
      <p:sp>
        <p:nvSpPr>
          <p:cNvPr id="17" name="text-210">
            <a:extLst xmlns:a="http://schemas.openxmlformats.org/drawingml/2006/main">
              <a:ext uri="{FF2B5EF4-FFF2-40B4-BE49-F238E27FC236}">
                <a16:creationId xmlns:a16="http://schemas.microsoft.com/office/drawing/2014/main" id="{27D0E6E9-CF49-49CD-B889-D90E079D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主要负责</a:t>
            </a:r>
          </a:p>
        </p:txBody>
      </p:sp>
      <p:sp>
        <p:nvSpPr>
          <p:cNvPr id="18" name="text-211">
            <a:extLst xmlns:a="http://schemas.openxmlformats.org/drawingml/2006/main">
              <a:ext uri="{FF2B5EF4-FFF2-40B4-BE49-F238E27FC236}">
                <a16:creationId xmlns:a16="http://schemas.microsoft.com/office/drawing/2014/main" id="{50758BE1-1391-4629-8166-FAA6321D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69e080bcc6a4357" action="ppaction://hlinksldjump"/>
              </a:rPr>
              <a:t>研究方案设计专家 →</a:t>
            </a:r>
          </a:p>
        </p:txBody>
      </p:sp>
      <p:sp>
        <p:nvSpPr>
          <p:cNvPr id="19" name="shape-212">
            <a:extLst xmlns:a="http://schemas.openxmlformats.org/drawingml/2006/main">
              <a:ext uri="{FF2B5EF4-FFF2-40B4-BE49-F238E27FC236}">
                <a16:creationId xmlns:a16="http://schemas.microsoft.com/office/drawing/2014/main" id="{38FE37C2-AEF1-4A8A-BE62-84F14B40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430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0" name="text-213">
            <a:extLst xmlns:a="http://schemas.openxmlformats.org/drawingml/2006/main">
              <a:ext uri="{FF2B5EF4-FFF2-40B4-BE49-F238E27FC236}">
                <a16:creationId xmlns:a16="http://schemas.microsoft.com/office/drawing/2014/main" id="{CD0FF542-DA3D-4ED5-ABAA-28017D8A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0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收到什么</a:t>
            </a:r>
          </a:p>
        </p:txBody>
      </p:sp>
      <p:sp>
        <p:nvSpPr>
          <p:cNvPr id="21" name="text-214">
            <a:extLst xmlns:a="http://schemas.openxmlformats.org/drawingml/2006/main">
              <a:ext uri="{FF2B5EF4-FFF2-40B4-BE49-F238E27FC236}">
                <a16:creationId xmlns:a16="http://schemas.microsoft.com/office/drawing/2014/main" id="{9C2345FD-C615-456B-BF43-E046E247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764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已经确认的研究任务书、资源边界和可用数据条件。</a:t>
            </a:r>
          </a:p>
        </p:txBody>
      </p:sp>
      <p:sp>
        <p:nvSpPr>
          <p:cNvPr id="22" name="shape-215">
            <a:extLst xmlns:a="http://schemas.openxmlformats.org/drawingml/2006/main">
              <a:ext uri="{FF2B5EF4-FFF2-40B4-BE49-F238E27FC236}">
                <a16:creationId xmlns:a16="http://schemas.microsoft.com/office/drawing/2014/main" id="{5D834140-CF6A-48A3-8BF9-6BBA7638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146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3" name="text-216">
            <a:extLst xmlns:a="http://schemas.openxmlformats.org/drawingml/2006/main">
              <a:ext uri="{FF2B5EF4-FFF2-40B4-BE49-F238E27FC236}">
                <a16:creationId xmlns:a16="http://schemas.microsoft.com/office/drawing/2014/main" id="{AC10794A-DF1F-47CD-BB87-53BD4440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怎么处理</a:t>
            </a:r>
          </a:p>
        </p:txBody>
      </p:sp>
      <p:sp>
        <p:nvSpPr>
          <p:cNvPr id="24" name="text-217">
            <a:extLst xmlns:a="http://schemas.openxmlformats.org/drawingml/2006/main">
              <a:ext uri="{FF2B5EF4-FFF2-40B4-BE49-F238E27FC236}">
                <a16:creationId xmlns:a16="http://schemas.microsoft.com/office/drawing/2014/main" id="{93ABFD63-856E-4C55-9D3B-44A04B20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479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将每个问题对应到所需证据、研究方法、样本要求和分析方式。</a:t>
            </a:r>
          </a:p>
        </p:txBody>
      </p:sp>
      <p:sp>
        <p:nvSpPr>
          <p:cNvPr id="25" name="shape-218">
            <a:extLst xmlns:a="http://schemas.openxmlformats.org/drawingml/2006/main">
              <a:ext uri="{FF2B5EF4-FFF2-40B4-BE49-F238E27FC236}">
                <a16:creationId xmlns:a16="http://schemas.microsoft.com/office/drawing/2014/main" id="{5F102582-CF4A-45A1-BBBB-355334C4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861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219">
            <a:extLst xmlns:a="http://schemas.openxmlformats.org/drawingml/2006/main">
              <a:ext uri="{FF2B5EF4-FFF2-40B4-BE49-F238E27FC236}">
                <a16:creationId xmlns:a16="http://schemas.microsoft.com/office/drawing/2014/main" id="{A7402946-3AD7-45A7-94EA-5BFFF0AE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质量控制</a:t>
            </a:r>
          </a:p>
        </p:txBody>
      </p:sp>
      <p:sp>
        <p:nvSpPr>
          <p:cNvPr id="27" name="text-220">
            <a:extLst xmlns:a="http://schemas.openxmlformats.org/drawingml/2006/main">
              <a:ext uri="{FF2B5EF4-FFF2-40B4-BE49-F238E27FC236}">
                <a16:creationId xmlns:a16="http://schemas.microsoft.com/office/drawing/2014/main" id="{1FE1CB17-D707-46E0-868B-2497EA1B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195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明确探索、描述、比较与因果问题的推断边界，预先固定分群口径。</a:t>
            </a:r>
          </a:p>
        </p:txBody>
      </p:sp>
      <p:sp>
        <p:nvSpPr>
          <p:cNvPr id="28" name="shape-221">
            <a:extLst xmlns:a="http://schemas.openxmlformats.org/drawingml/2006/main">
              <a:ext uri="{FF2B5EF4-FFF2-40B4-BE49-F238E27FC236}">
                <a16:creationId xmlns:a16="http://schemas.microsoft.com/office/drawing/2014/main" id="{76B1C2A0-5EDB-4876-ADD8-79CDECB8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29" name="text-222">
            <a:extLst xmlns:a="http://schemas.openxmlformats.org/drawingml/2006/main">
              <a:ext uri="{FF2B5EF4-FFF2-40B4-BE49-F238E27FC236}">
                <a16:creationId xmlns:a16="http://schemas.microsoft.com/office/drawing/2014/main" id="{45298D1E-D28C-4FFE-8FBD-C4ECCAEE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9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30" name="text-223">
            <a:extLst xmlns:a="http://schemas.openxmlformats.org/drawingml/2006/main">
              <a:ext uri="{FF2B5EF4-FFF2-40B4-BE49-F238E27FC236}">
                <a16:creationId xmlns:a16="http://schemas.microsoft.com/office/drawing/2014/main" id="{02126C3F-AA16-4AF4-804E-6F1A37D0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910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rPr>
              <a:t>研究方案：方法、样本画像、分析框架、时间、风险与停止条件。</a:t>
            </a:r>
          </a:p>
        </p:txBody>
      </p:sp>
      <p:sp>
        <p:nvSpPr>
          <p:cNvPr id="31" name="text-224">
            <a:extLst xmlns:a="http://schemas.openxmlformats.org/drawingml/2006/main">
              <a:ext uri="{FF2B5EF4-FFF2-40B4-BE49-F238E27FC236}">
                <a16:creationId xmlns:a16="http://schemas.microsoft.com/office/drawing/2014/main" id="{E4434CAE-DA42-4BC2-A9B4-40D9B663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ac2719d56839431a" action="ppaction://hlinksldjump"/>
              </a:rPr>
              <a:t>← 返回完整工作流</a:t>
            </a:r>
          </a:p>
        </p:txBody>
      </p:sp>
    </p:spTree>
    <p:extLst>
      <p:ext uri="{BB962C8B-B14F-4D97-AF65-F5344CB8AC3E}">
        <p14:creationId xmlns:p14="http://schemas.microsoft.com/office/powerpoint/2010/main" val="10466668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225">
            <a:extLst xmlns:a="http://schemas.openxmlformats.org/drawingml/2006/main">
              <a:ext uri="{FF2B5EF4-FFF2-40B4-BE49-F238E27FC236}">
                <a16:creationId xmlns:a16="http://schemas.microsoft.com/office/drawing/2014/main" id="{AC0B25C9-228F-45EA-8E0B-EFD51458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真实路径 04 / 08</a:t>
            </a:r>
          </a:p>
        </p:txBody>
      </p:sp>
      <p:sp>
        <p:nvSpPr>
          <p:cNvPr id="2" name="text-226">
            <a:extLst xmlns:a="http://schemas.openxmlformats.org/drawingml/2006/main">
              <a:ext uri="{FF2B5EF4-FFF2-40B4-BE49-F238E27FC236}">
                <a16:creationId xmlns:a16="http://schemas.microsoft.com/office/drawing/2014/main" id="{C71C987A-FB60-43F0-8476-ED8B5B20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3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设计研究工具：题目和数据口径一次定义</a:t>
            </a:r>
          </a:p>
        </p:txBody>
      </p:sp>
      <p:sp>
        <p:nvSpPr>
          <p:cNvPr id="3" name="shape-227">
            <a:extLst xmlns:a="http://schemas.openxmlformats.org/drawingml/2006/main">
              <a:ext uri="{FF2B5EF4-FFF2-40B4-BE49-F238E27FC236}">
                <a16:creationId xmlns:a16="http://schemas.microsoft.com/office/drawing/2014/main" id="{8AC74040-BD51-41E6-B371-9B3E237F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228">
            <a:extLst xmlns:a="http://schemas.openxmlformats.org/drawingml/2006/main">
              <a:ext uri="{FF2B5EF4-FFF2-40B4-BE49-F238E27FC236}">
                <a16:creationId xmlns:a16="http://schemas.microsoft.com/office/drawing/2014/main" id="{D190351A-B1EF-4A6D-BED7-68E43A09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阶段 04 · 设计研究工具</a:t>
            </a:r>
          </a:p>
        </p:txBody>
      </p:sp>
      <p:sp>
        <p:nvSpPr>
          <p:cNvPr id="5" name="text-229">
            <a:extLst xmlns:a="http://schemas.openxmlformats.org/drawingml/2006/main">
              <a:ext uri="{FF2B5EF4-FFF2-40B4-BE49-F238E27FC236}">
                <a16:creationId xmlns:a16="http://schemas.microsoft.com/office/drawing/2014/main" id="{5F24FCF4-82AA-40CD-8B61-8F8BE9F7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6" name="text-230">
            <a:extLst xmlns:a="http://schemas.openxmlformats.org/drawingml/2006/main">
              <a:ext uri="{FF2B5EF4-FFF2-40B4-BE49-F238E27FC236}">
                <a16:creationId xmlns:a16="http://schemas.microsoft.com/office/drawing/2014/main" id="{01B74178-F183-4AF4-A8AB-AF575134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334f994d14f43e4" action="ppaction://hlinksldjump"/>
              </a:rPr>
              <a:t>1 接收需求</a:t>
            </a:r>
          </a:p>
        </p:txBody>
      </p:sp>
      <p:sp>
        <p:nvSpPr>
          <p:cNvPr id="7" name="text-231">
            <a:extLst xmlns:a="http://schemas.openxmlformats.org/drawingml/2006/main">
              <a:ext uri="{FF2B5EF4-FFF2-40B4-BE49-F238E27FC236}">
                <a16:creationId xmlns:a16="http://schemas.microsoft.com/office/drawing/2014/main" id="{65D25C01-EEAC-4F1F-A426-53E9B01E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684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258e6786dc4412d" action="ppaction://hlinksldjump"/>
              </a:rPr>
              <a:t>2 理解问题</a:t>
            </a:r>
          </a:p>
        </p:txBody>
      </p:sp>
      <p:sp>
        <p:nvSpPr>
          <p:cNvPr id="8" name="text-232">
            <a:extLst xmlns:a="http://schemas.openxmlformats.org/drawingml/2006/main">
              <a:ext uri="{FF2B5EF4-FFF2-40B4-BE49-F238E27FC236}">
                <a16:creationId xmlns:a16="http://schemas.microsoft.com/office/drawing/2014/main" id="{E9EBA70C-DF93-42D8-A301-6F49026F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2053dc4ee174dea" action="ppaction://hlinksldjump"/>
              </a:rPr>
              <a:t>3 设计方案</a:t>
            </a:r>
          </a:p>
        </p:txBody>
      </p:sp>
      <p:sp>
        <p:nvSpPr>
          <p:cNvPr id="9" name="text-233">
            <a:extLst xmlns:a="http://schemas.openxmlformats.org/drawingml/2006/main">
              <a:ext uri="{FF2B5EF4-FFF2-40B4-BE49-F238E27FC236}">
                <a16:creationId xmlns:a16="http://schemas.microsoft.com/office/drawing/2014/main" id="{A6061939-D6F4-4442-94CA-CF6FAD33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453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57"/>
          </a:solidFill>
          <a:ln xmlns:a="http://schemas.openxmlformats.org/drawingml/2006/main" w="14288">
            <a:solidFill>
              <a:srgbClr val="D97757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20e8dba6d344c26" action="ppaction://hlinksldjump"/>
              </a:rPr>
              <a:t>4 设计工具</a:t>
            </a:r>
          </a:p>
        </p:txBody>
      </p:sp>
      <p:sp>
        <p:nvSpPr>
          <p:cNvPr id="10" name="text-234">
            <a:extLst xmlns:a="http://schemas.openxmlformats.org/drawingml/2006/main">
              <a:ext uri="{FF2B5EF4-FFF2-40B4-BE49-F238E27FC236}">
                <a16:creationId xmlns:a16="http://schemas.microsoft.com/office/drawing/2014/main" id="{01FE447D-9532-4B59-9553-C01D75B5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5be37f4b2f14448" action="ppaction://hlinksldjump"/>
              </a:rPr>
              <a:t>5 执行调研</a:t>
            </a:r>
          </a:p>
        </p:txBody>
      </p:sp>
      <p:sp>
        <p:nvSpPr>
          <p:cNvPr id="11" name="text-235">
            <a:extLst xmlns:a="http://schemas.openxmlformats.org/drawingml/2006/main">
              <a:ext uri="{FF2B5EF4-FFF2-40B4-BE49-F238E27FC236}">
                <a16:creationId xmlns:a16="http://schemas.microsoft.com/office/drawing/2014/main" id="{20C07941-5766-41EF-B5B3-B67F04D6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222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e8a11fdfaf44f7c" action="ppaction://hlinksldjump"/>
              </a:rPr>
              <a:t>6 分析洞察</a:t>
            </a:r>
          </a:p>
        </p:txBody>
      </p:sp>
      <p:sp>
        <p:nvSpPr>
          <p:cNvPr id="12" name="text-236">
            <a:extLst xmlns:a="http://schemas.openxmlformats.org/drawingml/2006/main">
              <a:ext uri="{FF2B5EF4-FFF2-40B4-BE49-F238E27FC236}">
                <a16:creationId xmlns:a16="http://schemas.microsoft.com/office/drawing/2014/main" id="{BA72EE34-83E6-4D4F-8E93-291B35CF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06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3dd9a70e0f247a6" action="ppaction://hlinksldjump"/>
              </a:rPr>
              <a:t>7 生成报告</a:t>
            </a:r>
          </a:p>
        </p:txBody>
      </p:sp>
      <p:sp>
        <p:nvSpPr>
          <p:cNvPr id="13" name="text-237">
            <a:extLst xmlns:a="http://schemas.openxmlformats.org/drawingml/2006/main">
              <a:ext uri="{FF2B5EF4-FFF2-40B4-BE49-F238E27FC236}">
                <a16:creationId xmlns:a16="http://schemas.microsoft.com/office/drawing/2014/main" id="{DB2C9871-1BB4-4B5E-B9C9-97FA5B6B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991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6657043d0f745c5" action="ppaction://hlinksldjump"/>
              </a:rPr>
              <a:t>8 沉淀资产</a:t>
            </a:r>
          </a:p>
        </p:txBody>
      </p:sp>
      <p:sp>
        <p:nvSpPr>
          <p:cNvPr id="14" name="shape-238">
            <a:extLst xmlns:a="http://schemas.openxmlformats.org/drawingml/2006/main">
              <a:ext uri="{FF2B5EF4-FFF2-40B4-BE49-F238E27FC236}">
                <a16:creationId xmlns:a16="http://schemas.microsoft.com/office/drawing/2014/main" id="{1AC11162-9A95-4637-89B6-7AB39AA6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333750" cy="38862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15" name="text-239">
            <a:extLst xmlns:a="http://schemas.openxmlformats.org/drawingml/2006/main">
              <a:ext uri="{FF2B5EF4-FFF2-40B4-BE49-F238E27FC236}">
                <a16:creationId xmlns:a16="http://schemas.microsoft.com/office/drawing/2014/main" id="{1C7014EA-F80B-4212-AA1B-A961826C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阶段 04</a:t>
            </a:r>
          </a:p>
        </p:txBody>
      </p:sp>
      <p:sp>
        <p:nvSpPr>
          <p:cNvPr id="16" name="text-240">
            <a:extLst xmlns:a="http://schemas.openxmlformats.org/drawingml/2006/main">
              <a:ext uri="{FF2B5EF4-FFF2-40B4-BE49-F238E27FC236}">
                <a16:creationId xmlns:a16="http://schemas.microsoft.com/office/drawing/2014/main" id="{47B42E2E-F875-40EF-9ABC-DCB21AB4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把抽象研究问题转换为可分析证据</a:t>
            </a:r>
          </a:p>
        </p:txBody>
      </p:sp>
      <p:sp>
        <p:nvSpPr>
          <p:cNvPr id="17" name="text-241">
            <a:extLst xmlns:a="http://schemas.openxmlformats.org/drawingml/2006/main">
              <a:ext uri="{FF2B5EF4-FFF2-40B4-BE49-F238E27FC236}">
                <a16:creationId xmlns:a16="http://schemas.microsoft.com/office/drawing/2014/main" id="{5CD8D880-2BFB-4CEC-810C-19EA3AB1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主要负责</a:t>
            </a:r>
          </a:p>
        </p:txBody>
      </p:sp>
      <p:sp>
        <p:nvSpPr>
          <p:cNvPr id="18" name="text-242">
            <a:extLst xmlns:a="http://schemas.openxmlformats.org/drawingml/2006/main">
              <a:ext uri="{FF2B5EF4-FFF2-40B4-BE49-F238E27FC236}">
                <a16:creationId xmlns:a16="http://schemas.microsoft.com/office/drawing/2014/main" id="{1A3B2EAC-0EA3-42ED-B550-B2097C9B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f9e089de30c46d6" action="ppaction://hlinksldjump"/>
              </a:rPr>
              <a:t>问卷与访谈设计专家 →</a:t>
            </a:r>
          </a:p>
        </p:txBody>
      </p:sp>
      <p:sp>
        <p:nvSpPr>
          <p:cNvPr id="19" name="shape-243">
            <a:extLst xmlns:a="http://schemas.openxmlformats.org/drawingml/2006/main">
              <a:ext uri="{FF2B5EF4-FFF2-40B4-BE49-F238E27FC236}">
                <a16:creationId xmlns:a16="http://schemas.microsoft.com/office/drawing/2014/main" id="{3F24AF52-4AF0-4A17-AF49-00C5E9FC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430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0" name="text-244">
            <a:extLst xmlns:a="http://schemas.openxmlformats.org/drawingml/2006/main">
              <a:ext uri="{FF2B5EF4-FFF2-40B4-BE49-F238E27FC236}">
                <a16:creationId xmlns:a16="http://schemas.microsoft.com/office/drawing/2014/main" id="{84346387-7AD9-47BA-B4DA-E54C9692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0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收到什么</a:t>
            </a:r>
          </a:p>
        </p:txBody>
      </p:sp>
      <p:sp>
        <p:nvSpPr>
          <p:cNvPr id="21" name="text-245">
            <a:extLst xmlns:a="http://schemas.openxmlformats.org/drawingml/2006/main">
              <a:ext uri="{FF2B5EF4-FFF2-40B4-BE49-F238E27FC236}">
                <a16:creationId xmlns:a16="http://schemas.microsoft.com/office/drawing/2014/main" id="{8A030ADD-B807-4322-BE64-B3BC88C3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764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研究方案、目标构念、研究问题、假设与目标参与者。</a:t>
            </a:r>
          </a:p>
        </p:txBody>
      </p:sp>
      <p:sp>
        <p:nvSpPr>
          <p:cNvPr id="22" name="shape-246">
            <a:extLst xmlns:a="http://schemas.openxmlformats.org/drawingml/2006/main">
              <a:ext uri="{FF2B5EF4-FFF2-40B4-BE49-F238E27FC236}">
                <a16:creationId xmlns:a16="http://schemas.microsoft.com/office/drawing/2014/main" id="{A4071A50-8C54-49AB-A01A-29572D8F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146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3" name="text-247">
            <a:extLst xmlns:a="http://schemas.openxmlformats.org/drawingml/2006/main">
              <a:ext uri="{FF2B5EF4-FFF2-40B4-BE49-F238E27FC236}">
                <a16:creationId xmlns:a16="http://schemas.microsoft.com/office/drawing/2014/main" id="{9B593D83-E7B7-43CE-BDBF-61E8916B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怎么处理</a:t>
            </a:r>
          </a:p>
        </p:txBody>
      </p:sp>
      <p:sp>
        <p:nvSpPr>
          <p:cNvPr id="24" name="text-248">
            <a:extLst xmlns:a="http://schemas.openxmlformats.org/drawingml/2006/main">
              <a:ext uri="{FF2B5EF4-FFF2-40B4-BE49-F238E27FC236}">
                <a16:creationId xmlns:a16="http://schemas.microsoft.com/office/drawing/2014/main" id="{C3A5946B-9A49-42C6-B1D5-5CF24CA8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479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设计题目、选项、量表、跳转或访谈追问，并同步定义变量与分群。</a:t>
            </a:r>
          </a:p>
        </p:txBody>
      </p:sp>
      <p:sp>
        <p:nvSpPr>
          <p:cNvPr id="25" name="shape-249">
            <a:extLst xmlns:a="http://schemas.openxmlformats.org/drawingml/2006/main">
              <a:ext uri="{FF2B5EF4-FFF2-40B4-BE49-F238E27FC236}">
                <a16:creationId xmlns:a16="http://schemas.microsoft.com/office/drawing/2014/main" id="{74FEE25E-51A6-4D2F-B044-66713121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861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250">
            <a:extLst xmlns:a="http://schemas.openxmlformats.org/drawingml/2006/main">
              <a:ext uri="{FF2B5EF4-FFF2-40B4-BE49-F238E27FC236}">
                <a16:creationId xmlns:a16="http://schemas.microsoft.com/office/drawing/2014/main" id="{8093AA11-92D0-4C32-BA6A-2DC74F96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质量控制</a:t>
            </a:r>
          </a:p>
        </p:txBody>
      </p:sp>
      <p:sp>
        <p:nvSpPr>
          <p:cNvPr id="27" name="text-251">
            <a:extLst xmlns:a="http://schemas.openxmlformats.org/drawingml/2006/main">
              <a:ext uri="{FF2B5EF4-FFF2-40B4-BE49-F238E27FC236}">
                <a16:creationId xmlns:a16="http://schemas.microsoft.com/office/drawing/2014/main" id="{79783AD1-49C8-4C89-AF49-1A43C437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195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复核金融事实、构念效度、认知负荷、引导性和数据有效性。</a:t>
            </a:r>
          </a:p>
        </p:txBody>
      </p:sp>
      <p:sp>
        <p:nvSpPr>
          <p:cNvPr id="28" name="shape-252">
            <a:extLst xmlns:a="http://schemas.openxmlformats.org/drawingml/2006/main">
              <a:ext uri="{FF2B5EF4-FFF2-40B4-BE49-F238E27FC236}">
                <a16:creationId xmlns:a16="http://schemas.microsoft.com/office/drawing/2014/main" id="{6B92CD62-5938-4288-A191-90A8BB0B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29" name="text-253">
            <a:extLst xmlns:a="http://schemas.openxmlformats.org/drawingml/2006/main">
              <a:ext uri="{FF2B5EF4-FFF2-40B4-BE49-F238E27FC236}">
                <a16:creationId xmlns:a16="http://schemas.microsoft.com/office/drawing/2014/main" id="{4F24999F-9CBC-46A1-8A17-C0974176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9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30" name="text-254">
            <a:extLst xmlns:a="http://schemas.openxmlformats.org/drawingml/2006/main">
              <a:ext uri="{FF2B5EF4-FFF2-40B4-BE49-F238E27FC236}">
                <a16:creationId xmlns:a16="http://schemas.microsoft.com/office/drawing/2014/main" id="{C65E698E-FE19-49E3-9A5B-E8D3E58D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910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rPr>
              <a:t>可执行问卷或提纲，以及变量、分析口径、分群和质量规则。</a:t>
            </a:r>
          </a:p>
        </p:txBody>
      </p:sp>
      <p:sp>
        <p:nvSpPr>
          <p:cNvPr id="31" name="text-255">
            <a:extLst xmlns:a="http://schemas.openxmlformats.org/drawingml/2006/main">
              <a:ext uri="{FF2B5EF4-FFF2-40B4-BE49-F238E27FC236}">
                <a16:creationId xmlns:a16="http://schemas.microsoft.com/office/drawing/2014/main" id="{6AE25523-C616-48E8-9C80-6AE0AD74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edb7ccf96f9f47e3" action="ppaction://hlinksldjump"/>
              </a:rPr>
              <a:t>← 返回完整工作流</a:t>
            </a:r>
          </a:p>
        </p:txBody>
      </p:sp>
    </p:spTree>
    <p:extLst>
      <p:ext uri="{BB962C8B-B14F-4D97-AF65-F5344CB8AC3E}">
        <p14:creationId xmlns:p14="http://schemas.microsoft.com/office/powerpoint/2010/main" val="5382581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256">
            <a:extLst xmlns:a="http://schemas.openxmlformats.org/drawingml/2006/main">
              <a:ext uri="{FF2B5EF4-FFF2-40B4-BE49-F238E27FC236}">
                <a16:creationId xmlns:a16="http://schemas.microsoft.com/office/drawing/2014/main" id="{1BFE4F2C-3B76-4124-9332-54B42BF0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真实路径 05 / 08</a:t>
            </a:r>
          </a:p>
        </p:txBody>
      </p:sp>
      <p:sp>
        <p:nvSpPr>
          <p:cNvPr id="2" name="text-257">
            <a:extLst xmlns:a="http://schemas.openxmlformats.org/drawingml/2006/main">
              <a:ext uri="{FF2B5EF4-FFF2-40B4-BE49-F238E27FC236}">
                <a16:creationId xmlns:a16="http://schemas.microsoft.com/office/drawing/2014/main" id="{68CE01C7-2311-4510-9430-7D0C3998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3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执行调研：按已确认版本发行并记录过程</a:t>
            </a:r>
          </a:p>
        </p:txBody>
      </p:sp>
      <p:sp>
        <p:nvSpPr>
          <p:cNvPr id="3" name="shape-258">
            <a:extLst xmlns:a="http://schemas.openxmlformats.org/drawingml/2006/main">
              <a:ext uri="{FF2B5EF4-FFF2-40B4-BE49-F238E27FC236}">
                <a16:creationId xmlns:a16="http://schemas.microsoft.com/office/drawing/2014/main" id="{DAE8B623-CD6A-4EC9-A4AF-3A72857A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259">
            <a:extLst xmlns:a="http://schemas.openxmlformats.org/drawingml/2006/main">
              <a:ext uri="{FF2B5EF4-FFF2-40B4-BE49-F238E27FC236}">
                <a16:creationId xmlns:a16="http://schemas.microsoft.com/office/drawing/2014/main" id="{1420538C-960F-4F5C-B02B-8D2BD662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阶段 05 · 执行调研</a:t>
            </a:r>
          </a:p>
        </p:txBody>
      </p:sp>
      <p:sp>
        <p:nvSpPr>
          <p:cNvPr id="5" name="text-260">
            <a:extLst xmlns:a="http://schemas.openxmlformats.org/drawingml/2006/main">
              <a:ext uri="{FF2B5EF4-FFF2-40B4-BE49-F238E27FC236}">
                <a16:creationId xmlns:a16="http://schemas.microsoft.com/office/drawing/2014/main" id="{9EBC4CA9-118D-42A3-92F1-4A8BB644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6" name="text-261">
            <a:extLst xmlns:a="http://schemas.openxmlformats.org/drawingml/2006/main">
              <a:ext uri="{FF2B5EF4-FFF2-40B4-BE49-F238E27FC236}">
                <a16:creationId xmlns:a16="http://schemas.microsoft.com/office/drawing/2014/main" id="{AEB73B6E-143F-42C7-A27A-4A3B4D1A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b0eb55dc30d47f7" action="ppaction://hlinksldjump"/>
              </a:rPr>
              <a:t>1 接收需求</a:t>
            </a:r>
          </a:p>
        </p:txBody>
      </p:sp>
      <p:sp>
        <p:nvSpPr>
          <p:cNvPr id="7" name="text-262">
            <a:extLst xmlns:a="http://schemas.openxmlformats.org/drawingml/2006/main">
              <a:ext uri="{FF2B5EF4-FFF2-40B4-BE49-F238E27FC236}">
                <a16:creationId xmlns:a16="http://schemas.microsoft.com/office/drawing/2014/main" id="{6A67F529-09C6-4522-A730-8B9349D6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684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283ccf4e0d24bc1" action="ppaction://hlinksldjump"/>
              </a:rPr>
              <a:t>2 理解问题</a:t>
            </a:r>
          </a:p>
        </p:txBody>
      </p:sp>
      <p:sp>
        <p:nvSpPr>
          <p:cNvPr id="8" name="text-263">
            <a:extLst xmlns:a="http://schemas.openxmlformats.org/drawingml/2006/main">
              <a:ext uri="{FF2B5EF4-FFF2-40B4-BE49-F238E27FC236}">
                <a16:creationId xmlns:a16="http://schemas.microsoft.com/office/drawing/2014/main" id="{B7141AE2-14A9-40AE-A71C-FD0DBDAB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7100b3a94a3483d" action="ppaction://hlinksldjump"/>
              </a:rPr>
              <a:t>3 设计方案</a:t>
            </a:r>
          </a:p>
        </p:txBody>
      </p:sp>
      <p:sp>
        <p:nvSpPr>
          <p:cNvPr id="9" name="text-264">
            <a:extLst xmlns:a="http://schemas.openxmlformats.org/drawingml/2006/main">
              <a:ext uri="{FF2B5EF4-FFF2-40B4-BE49-F238E27FC236}">
                <a16:creationId xmlns:a16="http://schemas.microsoft.com/office/drawing/2014/main" id="{81FE3B07-C31B-4F38-BFFC-9FF58D1C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453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2fc70a03e9e418e" action="ppaction://hlinksldjump"/>
              </a:rPr>
              <a:t>4 设计工具</a:t>
            </a:r>
          </a:p>
        </p:txBody>
      </p:sp>
      <p:sp>
        <p:nvSpPr>
          <p:cNvPr id="10" name="text-265">
            <a:extLst xmlns:a="http://schemas.openxmlformats.org/drawingml/2006/main">
              <a:ext uri="{FF2B5EF4-FFF2-40B4-BE49-F238E27FC236}">
                <a16:creationId xmlns:a16="http://schemas.microsoft.com/office/drawing/2014/main" id="{43C97257-2ED7-49FC-B3AF-F1E7DF6A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57"/>
          </a:solidFill>
          <a:ln xmlns:a="http://schemas.openxmlformats.org/drawingml/2006/main" w="14288">
            <a:solidFill>
              <a:srgbClr val="D97757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e27e7aa15994c95" action="ppaction://hlinksldjump"/>
              </a:rPr>
              <a:t>5 执行调研</a:t>
            </a:r>
          </a:p>
        </p:txBody>
      </p:sp>
      <p:sp>
        <p:nvSpPr>
          <p:cNvPr id="11" name="text-266">
            <a:extLst xmlns:a="http://schemas.openxmlformats.org/drawingml/2006/main">
              <a:ext uri="{FF2B5EF4-FFF2-40B4-BE49-F238E27FC236}">
                <a16:creationId xmlns:a16="http://schemas.microsoft.com/office/drawing/2014/main" id="{66B2DF8F-D81F-4754-8A17-DD566B96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222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ff69cf92ab14cbd" action="ppaction://hlinksldjump"/>
              </a:rPr>
              <a:t>6 分析洞察</a:t>
            </a:r>
          </a:p>
        </p:txBody>
      </p:sp>
      <p:sp>
        <p:nvSpPr>
          <p:cNvPr id="12" name="text-267">
            <a:extLst xmlns:a="http://schemas.openxmlformats.org/drawingml/2006/main">
              <a:ext uri="{FF2B5EF4-FFF2-40B4-BE49-F238E27FC236}">
                <a16:creationId xmlns:a16="http://schemas.microsoft.com/office/drawing/2014/main" id="{6D060877-74AD-486E-82AC-770F6A12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06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51588a42704447a" action="ppaction://hlinksldjump"/>
              </a:rPr>
              <a:t>7 生成报告</a:t>
            </a:r>
          </a:p>
        </p:txBody>
      </p:sp>
      <p:sp>
        <p:nvSpPr>
          <p:cNvPr id="13" name="text-268">
            <a:extLst xmlns:a="http://schemas.openxmlformats.org/drawingml/2006/main">
              <a:ext uri="{FF2B5EF4-FFF2-40B4-BE49-F238E27FC236}">
                <a16:creationId xmlns:a16="http://schemas.microsoft.com/office/drawing/2014/main" id="{6A98C34D-0168-4172-B20C-4BDFD11F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991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ebb6d0969054447" action="ppaction://hlinksldjump"/>
              </a:rPr>
              <a:t>8 沉淀资产</a:t>
            </a:r>
          </a:p>
        </p:txBody>
      </p:sp>
      <p:sp>
        <p:nvSpPr>
          <p:cNvPr id="14" name="shape-269">
            <a:extLst xmlns:a="http://schemas.openxmlformats.org/drawingml/2006/main">
              <a:ext uri="{FF2B5EF4-FFF2-40B4-BE49-F238E27FC236}">
                <a16:creationId xmlns:a16="http://schemas.microsoft.com/office/drawing/2014/main" id="{64A9A024-A8FC-4373-92F5-613BEC64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333750" cy="38862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15" name="text-270">
            <a:extLst xmlns:a="http://schemas.openxmlformats.org/drawingml/2006/main">
              <a:ext uri="{FF2B5EF4-FFF2-40B4-BE49-F238E27FC236}">
                <a16:creationId xmlns:a16="http://schemas.microsoft.com/office/drawing/2014/main" id="{17058D2F-C32A-4735-B7CF-E3641B99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阶段 05</a:t>
            </a:r>
          </a:p>
        </p:txBody>
      </p:sp>
      <p:sp>
        <p:nvSpPr>
          <p:cNvPr id="16" name="text-271">
            <a:extLst xmlns:a="http://schemas.openxmlformats.org/drawingml/2006/main">
              <a:ext uri="{FF2B5EF4-FFF2-40B4-BE49-F238E27FC236}">
                <a16:creationId xmlns:a16="http://schemas.microsoft.com/office/drawing/2014/main" id="{EF4828B3-CDE9-4933-B403-44C923EC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执行工具可以变化，研究口径保持稳定</a:t>
            </a:r>
          </a:p>
        </p:txBody>
      </p:sp>
      <p:sp>
        <p:nvSpPr>
          <p:cNvPr id="17" name="text-272">
            <a:extLst xmlns:a="http://schemas.openxmlformats.org/drawingml/2006/main">
              <a:ext uri="{FF2B5EF4-FFF2-40B4-BE49-F238E27FC236}">
                <a16:creationId xmlns:a16="http://schemas.microsoft.com/office/drawing/2014/main" id="{F9E49BE1-CAC1-482F-A5E9-7A95FCC6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主要负责</a:t>
            </a:r>
          </a:p>
        </p:txBody>
      </p:sp>
      <p:sp>
        <p:nvSpPr>
          <p:cNvPr id="18" name="text-273">
            <a:extLst xmlns:a="http://schemas.openxmlformats.org/drawingml/2006/main">
              <a:ext uri="{FF2B5EF4-FFF2-40B4-BE49-F238E27FC236}">
                <a16:creationId xmlns:a16="http://schemas.microsoft.com/office/drawing/2014/main" id="{F9110EFD-26CA-4F8A-9317-9DACC7D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8561ba0fc4a47ab" action="ppaction://hlinksldjump"/>
              </a:rPr>
              <a:t>研究总控 →</a:t>
            </a:r>
          </a:p>
        </p:txBody>
      </p:sp>
      <p:sp>
        <p:nvSpPr>
          <p:cNvPr id="19" name="shape-274">
            <a:extLst xmlns:a="http://schemas.openxmlformats.org/drawingml/2006/main">
              <a:ext uri="{FF2B5EF4-FFF2-40B4-BE49-F238E27FC236}">
                <a16:creationId xmlns:a16="http://schemas.microsoft.com/office/drawing/2014/main" id="{24207C56-986E-485D-80DC-6D32529B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430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0" name="text-275">
            <a:extLst xmlns:a="http://schemas.openxmlformats.org/drawingml/2006/main">
              <a:ext uri="{FF2B5EF4-FFF2-40B4-BE49-F238E27FC236}">
                <a16:creationId xmlns:a16="http://schemas.microsoft.com/office/drawing/2014/main" id="{7EBFD0D4-160D-4817-BCCE-62D8B582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0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收到什么</a:t>
            </a:r>
          </a:p>
        </p:txBody>
      </p:sp>
      <p:sp>
        <p:nvSpPr>
          <p:cNvPr id="21" name="text-276">
            <a:extLst xmlns:a="http://schemas.openxmlformats.org/drawingml/2006/main">
              <a:ext uri="{FF2B5EF4-FFF2-40B4-BE49-F238E27FC236}">
                <a16:creationId xmlns:a16="http://schemas.microsoft.com/office/drawing/2014/main" id="{07A52E11-6753-4682-979A-D6660E7F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764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已确认的问卷或提纲、样本画像、隐私说明和事实材料。</a:t>
            </a:r>
          </a:p>
        </p:txBody>
      </p:sp>
      <p:sp>
        <p:nvSpPr>
          <p:cNvPr id="22" name="shape-277">
            <a:extLst xmlns:a="http://schemas.openxmlformats.org/drawingml/2006/main">
              <a:ext uri="{FF2B5EF4-FFF2-40B4-BE49-F238E27FC236}">
                <a16:creationId xmlns:a16="http://schemas.microsoft.com/office/drawing/2014/main" id="{B379F5D0-AEFB-456D-B151-004E24C0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146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3" name="text-278">
            <a:extLst xmlns:a="http://schemas.openxmlformats.org/drawingml/2006/main">
              <a:ext uri="{FF2B5EF4-FFF2-40B4-BE49-F238E27FC236}">
                <a16:creationId xmlns:a16="http://schemas.microsoft.com/office/drawing/2014/main" id="{4C1CBEDF-7459-4E08-A6E6-D58AEC8D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怎么处理</a:t>
            </a:r>
          </a:p>
        </p:txBody>
      </p:sp>
      <p:sp>
        <p:nvSpPr>
          <p:cNvPr id="24" name="text-279">
            <a:extLst xmlns:a="http://schemas.openxmlformats.org/drawingml/2006/main">
              <a:ext uri="{FF2B5EF4-FFF2-40B4-BE49-F238E27FC236}">
                <a16:creationId xmlns:a16="http://schemas.microsoft.com/office/drawing/2014/main" id="{62EFE72C-1516-4D88-AD1F-8C0ACBC9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479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发行问卷或开展访谈，记录实际版本、来源、时间、偏差和异常。</a:t>
            </a:r>
          </a:p>
        </p:txBody>
      </p:sp>
      <p:sp>
        <p:nvSpPr>
          <p:cNvPr id="25" name="shape-280">
            <a:extLst xmlns:a="http://schemas.openxmlformats.org/drawingml/2006/main">
              <a:ext uri="{FF2B5EF4-FFF2-40B4-BE49-F238E27FC236}">
                <a16:creationId xmlns:a16="http://schemas.microsoft.com/office/drawing/2014/main" id="{4BD0E2EA-FFC1-43E5-A7FD-907717D1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861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281">
            <a:extLst xmlns:a="http://schemas.openxmlformats.org/drawingml/2006/main">
              <a:ext uri="{FF2B5EF4-FFF2-40B4-BE49-F238E27FC236}">
                <a16:creationId xmlns:a16="http://schemas.microsoft.com/office/drawing/2014/main" id="{36B3F44F-FB3D-465E-8730-F0EBA83B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质量控制</a:t>
            </a:r>
          </a:p>
        </p:txBody>
      </p:sp>
      <p:sp>
        <p:nvSpPr>
          <p:cNvPr id="27" name="text-282">
            <a:extLst xmlns:a="http://schemas.openxmlformats.org/drawingml/2006/main">
              <a:ext uri="{FF2B5EF4-FFF2-40B4-BE49-F238E27FC236}">
                <a16:creationId xmlns:a16="http://schemas.microsoft.com/office/drawing/2014/main" id="{60B0569F-8134-4582-A08C-FB9D42A4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195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统一字段并脱敏；异常信号进入复核，知识题答错不等于无效答卷。</a:t>
            </a:r>
          </a:p>
        </p:txBody>
      </p:sp>
      <p:sp>
        <p:nvSpPr>
          <p:cNvPr id="28" name="shape-283">
            <a:extLst xmlns:a="http://schemas.openxmlformats.org/drawingml/2006/main">
              <a:ext uri="{FF2B5EF4-FFF2-40B4-BE49-F238E27FC236}">
                <a16:creationId xmlns:a16="http://schemas.microsoft.com/office/drawing/2014/main" id="{48473F44-438B-43FD-9829-4D939849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29" name="text-284">
            <a:extLst xmlns:a="http://schemas.openxmlformats.org/drawingml/2006/main">
              <a:ext uri="{FF2B5EF4-FFF2-40B4-BE49-F238E27FC236}">
                <a16:creationId xmlns:a16="http://schemas.microsoft.com/office/drawing/2014/main" id="{406DAE6E-90F9-4B80-B19D-EDA05C34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9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30" name="text-285">
            <a:extLst xmlns:a="http://schemas.openxmlformats.org/drawingml/2006/main">
              <a:ext uri="{FF2B5EF4-FFF2-40B4-BE49-F238E27FC236}">
                <a16:creationId xmlns:a16="http://schemas.microsoft.com/office/drawing/2014/main" id="{78598A00-5198-4781-B1AC-9F716648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910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rPr>
              <a:t>原始数据、清理后数据、访谈记录和可分析范围说明。</a:t>
            </a:r>
          </a:p>
        </p:txBody>
      </p:sp>
      <p:sp>
        <p:nvSpPr>
          <p:cNvPr id="31" name="text-286">
            <a:extLst xmlns:a="http://schemas.openxmlformats.org/drawingml/2006/main">
              <a:ext uri="{FF2B5EF4-FFF2-40B4-BE49-F238E27FC236}">
                <a16:creationId xmlns:a16="http://schemas.microsoft.com/office/drawing/2014/main" id="{7CC6F36B-7135-47D0-B829-03D81833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4cef41d76ed14ec4" action="ppaction://hlinksldjump"/>
              </a:rPr>
              <a:t>← 返回完整工作流</a:t>
            </a:r>
          </a:p>
        </p:txBody>
      </p:sp>
    </p:spTree>
    <p:extLst>
      <p:ext uri="{BB962C8B-B14F-4D97-AF65-F5344CB8AC3E}">
        <p14:creationId xmlns:p14="http://schemas.microsoft.com/office/powerpoint/2010/main" val="18366932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287">
            <a:extLst xmlns:a="http://schemas.openxmlformats.org/drawingml/2006/main">
              <a:ext uri="{FF2B5EF4-FFF2-40B4-BE49-F238E27FC236}">
                <a16:creationId xmlns:a16="http://schemas.microsoft.com/office/drawing/2014/main" id="{038027BA-B575-4942-A711-15A2D250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真实路径 06 / 08</a:t>
            </a:r>
          </a:p>
        </p:txBody>
      </p:sp>
      <p:sp>
        <p:nvSpPr>
          <p:cNvPr id="2" name="text-288">
            <a:extLst xmlns:a="http://schemas.openxmlformats.org/drawingml/2006/main">
              <a:ext uri="{FF2B5EF4-FFF2-40B4-BE49-F238E27FC236}">
                <a16:creationId xmlns:a16="http://schemas.microsoft.com/office/drawing/2014/main" id="{DF76E109-D1C6-4DAC-AB58-B78172B0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3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分析与洞察：先呈现证据，再解释原因</a:t>
            </a:r>
          </a:p>
        </p:txBody>
      </p:sp>
      <p:sp>
        <p:nvSpPr>
          <p:cNvPr id="3" name="shape-289">
            <a:extLst xmlns:a="http://schemas.openxmlformats.org/drawingml/2006/main">
              <a:ext uri="{FF2B5EF4-FFF2-40B4-BE49-F238E27FC236}">
                <a16:creationId xmlns:a16="http://schemas.microsoft.com/office/drawing/2014/main" id="{B91DED44-3E35-4681-9986-E5D2D0FB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290">
            <a:extLst xmlns:a="http://schemas.openxmlformats.org/drawingml/2006/main">
              <a:ext uri="{FF2B5EF4-FFF2-40B4-BE49-F238E27FC236}">
                <a16:creationId xmlns:a16="http://schemas.microsoft.com/office/drawing/2014/main" id="{BB3B340C-B2CE-4E6F-B316-90EA1C90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阶段 06 · 分析与洞察</a:t>
            </a:r>
          </a:p>
        </p:txBody>
      </p:sp>
      <p:sp>
        <p:nvSpPr>
          <p:cNvPr id="5" name="text-291">
            <a:extLst xmlns:a="http://schemas.openxmlformats.org/drawingml/2006/main">
              <a:ext uri="{FF2B5EF4-FFF2-40B4-BE49-F238E27FC236}">
                <a16:creationId xmlns:a16="http://schemas.microsoft.com/office/drawing/2014/main" id="{A45297EF-1F66-4F15-AE5D-CB8FA1D5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6" name="text-292">
            <a:extLst xmlns:a="http://schemas.openxmlformats.org/drawingml/2006/main">
              <a:ext uri="{FF2B5EF4-FFF2-40B4-BE49-F238E27FC236}">
                <a16:creationId xmlns:a16="http://schemas.microsoft.com/office/drawing/2014/main" id="{4297F32F-3B71-41D1-B32F-12258651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f11ea7b9ca945f5" action="ppaction://hlinksldjump"/>
              </a:rPr>
              <a:t>1 接收需求</a:t>
            </a:r>
          </a:p>
        </p:txBody>
      </p:sp>
      <p:sp>
        <p:nvSpPr>
          <p:cNvPr id="7" name="text-293">
            <a:extLst xmlns:a="http://schemas.openxmlformats.org/drawingml/2006/main">
              <a:ext uri="{FF2B5EF4-FFF2-40B4-BE49-F238E27FC236}">
                <a16:creationId xmlns:a16="http://schemas.microsoft.com/office/drawing/2014/main" id="{C2C690DA-F1AE-4459-856C-973879E7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684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24696f51aa84468" action="ppaction://hlinksldjump"/>
              </a:rPr>
              <a:t>2 理解问题</a:t>
            </a:r>
          </a:p>
        </p:txBody>
      </p:sp>
      <p:sp>
        <p:nvSpPr>
          <p:cNvPr id="8" name="text-294">
            <a:extLst xmlns:a="http://schemas.openxmlformats.org/drawingml/2006/main">
              <a:ext uri="{FF2B5EF4-FFF2-40B4-BE49-F238E27FC236}">
                <a16:creationId xmlns:a16="http://schemas.microsoft.com/office/drawing/2014/main" id="{710CD183-B809-497A-9A62-F8062941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ec413547d1047a2" action="ppaction://hlinksldjump"/>
              </a:rPr>
              <a:t>3 设计方案</a:t>
            </a:r>
          </a:p>
        </p:txBody>
      </p:sp>
      <p:sp>
        <p:nvSpPr>
          <p:cNvPr id="9" name="text-295">
            <a:extLst xmlns:a="http://schemas.openxmlformats.org/drawingml/2006/main">
              <a:ext uri="{FF2B5EF4-FFF2-40B4-BE49-F238E27FC236}">
                <a16:creationId xmlns:a16="http://schemas.microsoft.com/office/drawing/2014/main" id="{5EB8F6F2-3CE1-48F6-B78F-FA836718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453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16663502859481e" action="ppaction://hlinksldjump"/>
              </a:rPr>
              <a:t>4 设计工具</a:t>
            </a:r>
          </a:p>
        </p:txBody>
      </p:sp>
      <p:sp>
        <p:nvSpPr>
          <p:cNvPr id="10" name="text-296">
            <a:extLst xmlns:a="http://schemas.openxmlformats.org/drawingml/2006/main">
              <a:ext uri="{FF2B5EF4-FFF2-40B4-BE49-F238E27FC236}">
                <a16:creationId xmlns:a16="http://schemas.microsoft.com/office/drawing/2014/main" id="{81AF1390-0B07-4C00-90D0-6EB50E06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6d568f3fc084771" action="ppaction://hlinksldjump"/>
              </a:rPr>
              <a:t>5 执行调研</a:t>
            </a:r>
          </a:p>
        </p:txBody>
      </p:sp>
      <p:sp>
        <p:nvSpPr>
          <p:cNvPr id="11" name="text-297">
            <a:extLst xmlns:a="http://schemas.openxmlformats.org/drawingml/2006/main">
              <a:ext uri="{FF2B5EF4-FFF2-40B4-BE49-F238E27FC236}">
                <a16:creationId xmlns:a16="http://schemas.microsoft.com/office/drawing/2014/main" id="{7B4ECF32-DD25-43EA-8025-948615E0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222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57"/>
          </a:solidFill>
          <a:ln xmlns:a="http://schemas.openxmlformats.org/drawingml/2006/main" w="14288">
            <a:solidFill>
              <a:srgbClr val="D97757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38173cf0fc84dd0" action="ppaction://hlinksldjump"/>
              </a:rPr>
              <a:t>6 分析洞察</a:t>
            </a:r>
          </a:p>
        </p:txBody>
      </p:sp>
      <p:sp>
        <p:nvSpPr>
          <p:cNvPr id="12" name="text-298">
            <a:extLst xmlns:a="http://schemas.openxmlformats.org/drawingml/2006/main">
              <a:ext uri="{FF2B5EF4-FFF2-40B4-BE49-F238E27FC236}">
                <a16:creationId xmlns:a16="http://schemas.microsoft.com/office/drawing/2014/main" id="{C06727DA-9637-4EC7-97A1-69100A6E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06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b9eb4fa8a2436d" action="ppaction://hlinksldjump"/>
              </a:rPr>
              <a:t>7 生成报告</a:t>
            </a:r>
          </a:p>
        </p:txBody>
      </p:sp>
      <p:sp>
        <p:nvSpPr>
          <p:cNvPr id="13" name="text-299">
            <a:extLst xmlns:a="http://schemas.openxmlformats.org/drawingml/2006/main">
              <a:ext uri="{FF2B5EF4-FFF2-40B4-BE49-F238E27FC236}">
                <a16:creationId xmlns:a16="http://schemas.microsoft.com/office/drawing/2014/main" id="{1E5930E1-7FE4-403C-A6AA-E01ACF84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991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c75a0e9fa0a4f5d" action="ppaction://hlinksldjump"/>
              </a:rPr>
              <a:t>8 沉淀资产</a:t>
            </a:r>
          </a:p>
        </p:txBody>
      </p:sp>
      <p:sp>
        <p:nvSpPr>
          <p:cNvPr id="14" name="shape-300">
            <a:extLst xmlns:a="http://schemas.openxmlformats.org/drawingml/2006/main">
              <a:ext uri="{FF2B5EF4-FFF2-40B4-BE49-F238E27FC236}">
                <a16:creationId xmlns:a16="http://schemas.microsoft.com/office/drawing/2014/main" id="{0402BEEF-A4D1-4894-B613-4A8A75E8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333750" cy="38862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15" name="text-301">
            <a:extLst xmlns:a="http://schemas.openxmlformats.org/drawingml/2006/main">
              <a:ext uri="{FF2B5EF4-FFF2-40B4-BE49-F238E27FC236}">
                <a16:creationId xmlns:a16="http://schemas.microsoft.com/office/drawing/2014/main" id="{A0E645EB-E092-4C90-9428-9FB57719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阶段 06</a:t>
            </a:r>
          </a:p>
        </p:txBody>
      </p:sp>
      <p:sp>
        <p:nvSpPr>
          <p:cNvPr id="16" name="text-302">
            <a:extLst xmlns:a="http://schemas.openxmlformats.org/drawingml/2006/main">
              <a:ext uri="{FF2B5EF4-FFF2-40B4-BE49-F238E27FC236}">
                <a16:creationId xmlns:a16="http://schemas.microsoft.com/office/drawing/2014/main" id="{15E563C2-CD8F-4B81-A8C1-1721BA19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分析不止是报比例，而是回答研究问题</a:t>
            </a:r>
          </a:p>
        </p:txBody>
      </p:sp>
      <p:sp>
        <p:nvSpPr>
          <p:cNvPr id="17" name="text-303">
            <a:extLst xmlns:a="http://schemas.openxmlformats.org/drawingml/2006/main">
              <a:ext uri="{FF2B5EF4-FFF2-40B4-BE49-F238E27FC236}">
                <a16:creationId xmlns:a16="http://schemas.microsoft.com/office/drawing/2014/main" id="{FE03B4EA-32E4-4A91-9CE7-35E8DEE8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主要负责</a:t>
            </a:r>
          </a:p>
        </p:txBody>
      </p:sp>
      <p:sp>
        <p:nvSpPr>
          <p:cNvPr id="18" name="text-304">
            <a:extLst xmlns:a="http://schemas.openxmlformats.org/drawingml/2006/main">
              <a:ext uri="{FF2B5EF4-FFF2-40B4-BE49-F238E27FC236}">
                <a16:creationId xmlns:a16="http://schemas.microsoft.com/office/drawing/2014/main" id="{35C1581C-783A-40CC-90DC-088B65C7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fe860c5b04d4ebe" action="ppaction://hlinksldjump"/>
              </a:rPr>
              <a:t>证据与洞察专家 →</a:t>
            </a:r>
          </a:p>
        </p:txBody>
      </p:sp>
      <p:sp>
        <p:nvSpPr>
          <p:cNvPr id="19" name="shape-305">
            <a:extLst xmlns:a="http://schemas.openxmlformats.org/drawingml/2006/main">
              <a:ext uri="{FF2B5EF4-FFF2-40B4-BE49-F238E27FC236}">
                <a16:creationId xmlns:a16="http://schemas.microsoft.com/office/drawing/2014/main" id="{9A26EEE6-F227-45CA-AD9A-F10D8DA0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430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0" name="text-306">
            <a:extLst xmlns:a="http://schemas.openxmlformats.org/drawingml/2006/main">
              <a:ext uri="{FF2B5EF4-FFF2-40B4-BE49-F238E27FC236}">
                <a16:creationId xmlns:a16="http://schemas.microsoft.com/office/drawing/2014/main" id="{CB094421-EABA-4543-A9DA-2A6885CC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0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收到什么</a:t>
            </a:r>
          </a:p>
        </p:txBody>
      </p:sp>
      <p:sp>
        <p:nvSpPr>
          <p:cNvPr id="21" name="text-307">
            <a:extLst xmlns:a="http://schemas.openxmlformats.org/drawingml/2006/main">
              <a:ext uri="{FF2B5EF4-FFF2-40B4-BE49-F238E27FC236}">
                <a16:creationId xmlns:a16="http://schemas.microsoft.com/office/drawing/2014/main" id="{117D5EA2-3D85-4535-B9E7-A1A69F61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764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质量状态明确的数据、访谈记录、研究问题和预分析计划。</a:t>
            </a:r>
          </a:p>
        </p:txBody>
      </p:sp>
      <p:sp>
        <p:nvSpPr>
          <p:cNvPr id="22" name="shape-308">
            <a:extLst xmlns:a="http://schemas.openxmlformats.org/drawingml/2006/main">
              <a:ext uri="{FF2B5EF4-FFF2-40B4-BE49-F238E27FC236}">
                <a16:creationId xmlns:a16="http://schemas.microsoft.com/office/drawing/2014/main" id="{D9EF5CD2-8AB1-47D9-B719-13A1954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146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3" name="text-309">
            <a:extLst xmlns:a="http://schemas.openxmlformats.org/drawingml/2006/main">
              <a:ext uri="{FF2B5EF4-FFF2-40B4-BE49-F238E27FC236}">
                <a16:creationId xmlns:a16="http://schemas.microsoft.com/office/drawing/2014/main" id="{9CB03863-74A7-43CC-8130-F131047D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怎么处理</a:t>
            </a:r>
          </a:p>
        </p:txBody>
      </p:sp>
      <p:sp>
        <p:nvSpPr>
          <p:cNvPr id="24" name="text-310">
            <a:extLst xmlns:a="http://schemas.openxmlformats.org/drawingml/2006/main">
              <a:ext uri="{FF2B5EF4-FFF2-40B4-BE49-F238E27FC236}">
                <a16:creationId xmlns:a16="http://schemas.microsoft.com/office/drawing/2014/main" id="{1D3D44A2-C216-45D7-995A-42F11FC6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479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保留分子分母、筛选条件、原话位置、反例与替代解释。</a:t>
            </a:r>
          </a:p>
        </p:txBody>
      </p:sp>
      <p:sp>
        <p:nvSpPr>
          <p:cNvPr id="25" name="shape-311">
            <a:extLst xmlns:a="http://schemas.openxmlformats.org/drawingml/2006/main">
              <a:ext uri="{FF2B5EF4-FFF2-40B4-BE49-F238E27FC236}">
                <a16:creationId xmlns:a16="http://schemas.microsoft.com/office/drawing/2014/main" id="{CFC62B6D-7359-42B4-BAF5-4BEF8BF9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861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312">
            <a:extLst xmlns:a="http://schemas.openxmlformats.org/drawingml/2006/main">
              <a:ext uri="{FF2B5EF4-FFF2-40B4-BE49-F238E27FC236}">
                <a16:creationId xmlns:a16="http://schemas.microsoft.com/office/drawing/2014/main" id="{7681118B-3871-45D8-8A9D-96F98682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质量控制</a:t>
            </a:r>
          </a:p>
        </p:txBody>
      </p:sp>
      <p:sp>
        <p:nvSpPr>
          <p:cNvPr id="27" name="text-313">
            <a:extLst xmlns:a="http://schemas.openxmlformats.org/drawingml/2006/main">
              <a:ext uri="{FF2B5EF4-FFF2-40B4-BE49-F238E27FC236}">
                <a16:creationId xmlns:a16="http://schemas.microsoft.com/office/drawing/2014/main" id="{EC3A8F07-5778-43D4-9F8E-334710F8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195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区分事实发现、研究洞察和行动建议；证据不足时降低主张强度。</a:t>
            </a:r>
          </a:p>
        </p:txBody>
      </p:sp>
      <p:sp>
        <p:nvSpPr>
          <p:cNvPr id="28" name="shape-314">
            <a:extLst xmlns:a="http://schemas.openxmlformats.org/drawingml/2006/main">
              <a:ext uri="{FF2B5EF4-FFF2-40B4-BE49-F238E27FC236}">
                <a16:creationId xmlns:a16="http://schemas.microsoft.com/office/drawing/2014/main" id="{CDE68B8A-A828-46BD-8DF8-8C86481C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29" name="text-315">
            <a:extLst xmlns:a="http://schemas.openxmlformats.org/drawingml/2006/main">
              <a:ext uri="{FF2B5EF4-FFF2-40B4-BE49-F238E27FC236}">
                <a16:creationId xmlns:a16="http://schemas.microsoft.com/office/drawing/2014/main" id="{34CAF73E-4145-44BC-A503-6A8827F1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9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30" name="text-316">
            <a:extLst xmlns:a="http://schemas.openxmlformats.org/drawingml/2006/main">
              <a:ext uri="{FF2B5EF4-FFF2-40B4-BE49-F238E27FC236}">
                <a16:creationId xmlns:a16="http://schemas.microsoft.com/office/drawing/2014/main" id="{20F3FED6-0DEE-4CE3-A165-C486772D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910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rPr>
              <a:t>证据索引、发现、洞察、产品与投教建议、限制和未回答问题。</a:t>
            </a:r>
          </a:p>
        </p:txBody>
      </p:sp>
      <p:sp>
        <p:nvSpPr>
          <p:cNvPr id="31" name="text-317">
            <a:extLst xmlns:a="http://schemas.openxmlformats.org/drawingml/2006/main">
              <a:ext uri="{FF2B5EF4-FFF2-40B4-BE49-F238E27FC236}">
                <a16:creationId xmlns:a16="http://schemas.microsoft.com/office/drawing/2014/main" id="{E0FBEABB-0DCB-4D39-8DBB-C97F5201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6ce0649a1eae4479" action="ppaction://hlinksldjump"/>
              </a:rPr>
              <a:t>← 返回完整工作流</a:t>
            </a:r>
          </a:p>
        </p:txBody>
      </p:sp>
    </p:spTree>
    <p:extLst>
      <p:ext uri="{BB962C8B-B14F-4D97-AF65-F5344CB8AC3E}">
        <p14:creationId xmlns:p14="http://schemas.microsoft.com/office/powerpoint/2010/main" val="3630514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318">
            <a:extLst xmlns:a="http://schemas.openxmlformats.org/drawingml/2006/main">
              <a:ext uri="{FF2B5EF4-FFF2-40B4-BE49-F238E27FC236}">
                <a16:creationId xmlns:a16="http://schemas.microsoft.com/office/drawing/2014/main" id="{A491EA8A-6723-4C4C-9F26-4683673B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真实路径 07 / 08</a:t>
            </a:r>
          </a:p>
        </p:txBody>
      </p:sp>
      <p:sp>
        <p:nvSpPr>
          <p:cNvPr id="2" name="text-319">
            <a:extLst xmlns:a="http://schemas.openxmlformats.org/drawingml/2006/main">
              <a:ext uri="{FF2B5EF4-FFF2-40B4-BE49-F238E27FC236}">
                <a16:creationId xmlns:a16="http://schemas.microsoft.com/office/drawing/2014/main" id="{AE5BB369-7963-4F96-B347-1E305E66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3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生成研究报告：让首次读者也能看懂</a:t>
            </a:r>
          </a:p>
        </p:txBody>
      </p:sp>
      <p:sp>
        <p:nvSpPr>
          <p:cNvPr id="3" name="shape-320">
            <a:extLst xmlns:a="http://schemas.openxmlformats.org/drawingml/2006/main">
              <a:ext uri="{FF2B5EF4-FFF2-40B4-BE49-F238E27FC236}">
                <a16:creationId xmlns:a16="http://schemas.microsoft.com/office/drawing/2014/main" id="{EB821366-77FD-4A22-B369-BF111DF6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321">
            <a:extLst xmlns:a="http://schemas.openxmlformats.org/drawingml/2006/main">
              <a:ext uri="{FF2B5EF4-FFF2-40B4-BE49-F238E27FC236}">
                <a16:creationId xmlns:a16="http://schemas.microsoft.com/office/drawing/2014/main" id="{531B20DA-16C7-48AA-B5F8-4B8E4DD1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阶段 07 · 生成研究报告</a:t>
            </a:r>
          </a:p>
        </p:txBody>
      </p:sp>
      <p:sp>
        <p:nvSpPr>
          <p:cNvPr id="5" name="text-322">
            <a:extLst xmlns:a="http://schemas.openxmlformats.org/drawingml/2006/main">
              <a:ext uri="{FF2B5EF4-FFF2-40B4-BE49-F238E27FC236}">
                <a16:creationId xmlns:a16="http://schemas.microsoft.com/office/drawing/2014/main" id="{DC0FDC76-9A19-41FC-A7C4-11EF7FE0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6" name="text-323">
            <a:extLst xmlns:a="http://schemas.openxmlformats.org/drawingml/2006/main">
              <a:ext uri="{FF2B5EF4-FFF2-40B4-BE49-F238E27FC236}">
                <a16:creationId xmlns:a16="http://schemas.microsoft.com/office/drawing/2014/main" id="{2A467085-8B3C-4395-BAA3-CA8E9B70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e533991b9f649d0" action="ppaction://hlinksldjump"/>
              </a:rPr>
              <a:t>1 接收需求</a:t>
            </a:r>
          </a:p>
        </p:txBody>
      </p:sp>
      <p:sp>
        <p:nvSpPr>
          <p:cNvPr id="7" name="text-324">
            <a:extLst xmlns:a="http://schemas.openxmlformats.org/drawingml/2006/main">
              <a:ext uri="{FF2B5EF4-FFF2-40B4-BE49-F238E27FC236}">
                <a16:creationId xmlns:a16="http://schemas.microsoft.com/office/drawing/2014/main" id="{BEB8A957-DAEE-4A32-95AC-8F20C11B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684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6b7575b6acd4aa5" action="ppaction://hlinksldjump"/>
              </a:rPr>
              <a:t>2 理解问题</a:t>
            </a:r>
          </a:p>
        </p:txBody>
      </p:sp>
      <p:sp>
        <p:nvSpPr>
          <p:cNvPr id="8" name="text-325">
            <a:extLst xmlns:a="http://schemas.openxmlformats.org/drawingml/2006/main">
              <a:ext uri="{FF2B5EF4-FFF2-40B4-BE49-F238E27FC236}">
                <a16:creationId xmlns:a16="http://schemas.microsoft.com/office/drawing/2014/main" id="{CE70DC5E-D022-4FE8-8F6B-D86B3607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387d3cf1922475f" action="ppaction://hlinksldjump"/>
              </a:rPr>
              <a:t>3 设计方案</a:t>
            </a:r>
          </a:p>
        </p:txBody>
      </p:sp>
      <p:sp>
        <p:nvSpPr>
          <p:cNvPr id="9" name="text-326">
            <a:extLst xmlns:a="http://schemas.openxmlformats.org/drawingml/2006/main">
              <a:ext uri="{FF2B5EF4-FFF2-40B4-BE49-F238E27FC236}">
                <a16:creationId xmlns:a16="http://schemas.microsoft.com/office/drawing/2014/main" id="{BD86A56C-6A44-4342-B262-F4C418F6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453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327f60ca22b47f9" action="ppaction://hlinksldjump"/>
              </a:rPr>
              <a:t>4 设计工具</a:t>
            </a:r>
          </a:p>
        </p:txBody>
      </p:sp>
      <p:sp>
        <p:nvSpPr>
          <p:cNvPr id="10" name="text-327">
            <a:extLst xmlns:a="http://schemas.openxmlformats.org/drawingml/2006/main">
              <a:ext uri="{FF2B5EF4-FFF2-40B4-BE49-F238E27FC236}">
                <a16:creationId xmlns:a16="http://schemas.microsoft.com/office/drawing/2014/main" id="{783E1A15-11AF-403F-83A4-62937DCC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766a314a8214393" action="ppaction://hlinksldjump"/>
              </a:rPr>
              <a:t>5 执行调研</a:t>
            </a:r>
          </a:p>
        </p:txBody>
      </p:sp>
      <p:sp>
        <p:nvSpPr>
          <p:cNvPr id="11" name="text-328">
            <a:extLst xmlns:a="http://schemas.openxmlformats.org/drawingml/2006/main">
              <a:ext uri="{FF2B5EF4-FFF2-40B4-BE49-F238E27FC236}">
                <a16:creationId xmlns:a16="http://schemas.microsoft.com/office/drawing/2014/main" id="{730587A3-5BAE-43F2-84E6-2FE8FBC3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222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9d3db2f1f9d454d" action="ppaction://hlinksldjump"/>
              </a:rPr>
              <a:t>6 分析洞察</a:t>
            </a:r>
          </a:p>
        </p:txBody>
      </p:sp>
      <p:sp>
        <p:nvSpPr>
          <p:cNvPr id="12" name="text-329">
            <a:extLst xmlns:a="http://schemas.openxmlformats.org/drawingml/2006/main">
              <a:ext uri="{FF2B5EF4-FFF2-40B4-BE49-F238E27FC236}">
                <a16:creationId xmlns:a16="http://schemas.microsoft.com/office/drawing/2014/main" id="{B65D63B6-63ED-4AEF-9CC9-74562449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06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57"/>
          </a:solidFill>
          <a:ln xmlns:a="http://schemas.openxmlformats.org/drawingml/2006/main" w="14288">
            <a:solidFill>
              <a:srgbClr val="D97757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52a13f154cd4431" action="ppaction://hlinksldjump"/>
              </a:rPr>
              <a:t>7 生成报告</a:t>
            </a:r>
          </a:p>
        </p:txBody>
      </p:sp>
      <p:sp>
        <p:nvSpPr>
          <p:cNvPr id="13" name="text-330">
            <a:extLst xmlns:a="http://schemas.openxmlformats.org/drawingml/2006/main">
              <a:ext uri="{FF2B5EF4-FFF2-40B4-BE49-F238E27FC236}">
                <a16:creationId xmlns:a16="http://schemas.microsoft.com/office/drawing/2014/main" id="{D8EE8A87-69FE-4905-A02A-2C8F0305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991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0d783a153e94344" action="ppaction://hlinksldjump"/>
              </a:rPr>
              <a:t>8 沉淀资产</a:t>
            </a:r>
          </a:p>
        </p:txBody>
      </p:sp>
      <p:sp>
        <p:nvSpPr>
          <p:cNvPr id="14" name="shape-331">
            <a:extLst xmlns:a="http://schemas.openxmlformats.org/drawingml/2006/main">
              <a:ext uri="{FF2B5EF4-FFF2-40B4-BE49-F238E27FC236}">
                <a16:creationId xmlns:a16="http://schemas.microsoft.com/office/drawing/2014/main" id="{74D1E4FA-026B-4150-8DD9-6BF5DE9D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333750" cy="38862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15" name="text-332">
            <a:extLst xmlns:a="http://schemas.openxmlformats.org/drawingml/2006/main">
              <a:ext uri="{FF2B5EF4-FFF2-40B4-BE49-F238E27FC236}">
                <a16:creationId xmlns:a16="http://schemas.microsoft.com/office/drawing/2014/main" id="{B6C3DCC0-8CA0-462C-97FF-44A00582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阶段 07</a:t>
            </a:r>
          </a:p>
        </p:txBody>
      </p:sp>
      <p:sp>
        <p:nvSpPr>
          <p:cNvPr id="16" name="text-333">
            <a:extLst xmlns:a="http://schemas.openxmlformats.org/drawingml/2006/main">
              <a:ext uri="{FF2B5EF4-FFF2-40B4-BE49-F238E27FC236}">
                <a16:creationId xmlns:a16="http://schemas.microsoft.com/office/drawing/2014/main" id="{3C7BE227-3994-45FF-B9BA-83924A79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报告是面向读者的完整解释</a:t>
            </a:r>
          </a:p>
        </p:txBody>
      </p:sp>
      <p:sp>
        <p:nvSpPr>
          <p:cNvPr id="17" name="text-334">
            <a:extLst xmlns:a="http://schemas.openxmlformats.org/drawingml/2006/main">
              <a:ext uri="{FF2B5EF4-FFF2-40B4-BE49-F238E27FC236}">
                <a16:creationId xmlns:a16="http://schemas.microsoft.com/office/drawing/2014/main" id="{5CE2F5EB-4E93-46E5-8DD2-37BAB949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主要负责</a:t>
            </a:r>
          </a:p>
        </p:txBody>
      </p:sp>
      <p:sp>
        <p:nvSpPr>
          <p:cNvPr id="18" name="text-335">
            <a:extLst xmlns:a="http://schemas.openxmlformats.org/drawingml/2006/main">
              <a:ext uri="{FF2B5EF4-FFF2-40B4-BE49-F238E27FC236}">
                <a16:creationId xmlns:a16="http://schemas.microsoft.com/office/drawing/2014/main" id="{701D975C-036D-4F63-9032-74A9D402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c3f843df1c44f9d" action="ppaction://hlinksldjump"/>
              </a:rPr>
              <a:t>研究报告表达专家 →</a:t>
            </a:r>
          </a:p>
        </p:txBody>
      </p:sp>
      <p:sp>
        <p:nvSpPr>
          <p:cNvPr id="19" name="shape-336">
            <a:extLst xmlns:a="http://schemas.openxmlformats.org/drawingml/2006/main">
              <a:ext uri="{FF2B5EF4-FFF2-40B4-BE49-F238E27FC236}">
                <a16:creationId xmlns:a16="http://schemas.microsoft.com/office/drawing/2014/main" id="{2933032D-610A-46ED-88CF-AE53E3CC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430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0" name="text-337">
            <a:extLst xmlns:a="http://schemas.openxmlformats.org/drawingml/2006/main">
              <a:ext uri="{FF2B5EF4-FFF2-40B4-BE49-F238E27FC236}">
                <a16:creationId xmlns:a16="http://schemas.microsoft.com/office/drawing/2014/main" id="{DAAB0658-5A11-450A-8AA4-11A8F403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0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收到什么</a:t>
            </a:r>
          </a:p>
        </p:txBody>
      </p:sp>
      <p:sp>
        <p:nvSpPr>
          <p:cNvPr id="21" name="text-338">
            <a:extLst xmlns:a="http://schemas.openxmlformats.org/drawingml/2006/main">
              <a:ext uri="{FF2B5EF4-FFF2-40B4-BE49-F238E27FC236}">
                <a16:creationId xmlns:a16="http://schemas.microsoft.com/office/drawing/2014/main" id="{50C50A96-ECE4-41C1-8CE9-D836E8DE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764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经过审核的洞察、研究背景、受众、用途和分享范围。</a:t>
            </a:r>
          </a:p>
        </p:txBody>
      </p:sp>
      <p:sp>
        <p:nvSpPr>
          <p:cNvPr id="22" name="shape-339">
            <a:extLst xmlns:a="http://schemas.openxmlformats.org/drawingml/2006/main">
              <a:ext uri="{FF2B5EF4-FFF2-40B4-BE49-F238E27FC236}">
                <a16:creationId xmlns:a16="http://schemas.microsoft.com/office/drawing/2014/main" id="{FA8F7B20-6458-4C83-B313-A899C462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146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3" name="text-340">
            <a:extLst xmlns:a="http://schemas.openxmlformats.org/drawingml/2006/main">
              <a:ext uri="{FF2B5EF4-FFF2-40B4-BE49-F238E27FC236}">
                <a16:creationId xmlns:a16="http://schemas.microsoft.com/office/drawing/2014/main" id="{9C1878D0-522C-4C79-B9AC-B3C29244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怎么处理</a:t>
            </a:r>
          </a:p>
        </p:txBody>
      </p:sp>
      <p:sp>
        <p:nvSpPr>
          <p:cNvPr id="24" name="text-341">
            <a:extLst xmlns:a="http://schemas.openxmlformats.org/drawingml/2006/main">
              <a:ext uri="{FF2B5EF4-FFF2-40B4-BE49-F238E27FC236}">
                <a16:creationId xmlns:a16="http://schemas.microsoft.com/office/drawing/2014/main" id="{ACFBB582-7E03-4387-BCB0-B6E6DA31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479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总览先行；正文按背景、数据、解释、业务意义和边界展开。</a:t>
            </a:r>
          </a:p>
        </p:txBody>
      </p:sp>
      <p:sp>
        <p:nvSpPr>
          <p:cNvPr id="25" name="shape-342">
            <a:extLst xmlns:a="http://schemas.openxmlformats.org/drawingml/2006/main">
              <a:ext uri="{FF2B5EF4-FFF2-40B4-BE49-F238E27FC236}">
                <a16:creationId xmlns:a16="http://schemas.microsoft.com/office/drawing/2014/main" id="{9368C3A5-661B-4C77-8902-9C23F31E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861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343">
            <a:extLst xmlns:a="http://schemas.openxmlformats.org/drawingml/2006/main">
              <a:ext uri="{FF2B5EF4-FFF2-40B4-BE49-F238E27FC236}">
                <a16:creationId xmlns:a16="http://schemas.microsoft.com/office/drawing/2014/main" id="{071C4C5D-7A0B-409D-87EA-06E65338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质量控制</a:t>
            </a:r>
          </a:p>
        </p:txBody>
      </p:sp>
      <p:sp>
        <p:nvSpPr>
          <p:cNvPr id="27" name="text-344">
            <a:extLst xmlns:a="http://schemas.openxmlformats.org/drawingml/2006/main">
              <a:ext uri="{FF2B5EF4-FFF2-40B4-BE49-F238E27FC236}">
                <a16:creationId xmlns:a16="http://schemas.microsoft.com/office/drawing/2014/main" id="{9949B988-A81B-4F8D-A5AC-FB1382A0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195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解释术语，突出分群差异；一张图只表达一个主要判断。</a:t>
            </a:r>
          </a:p>
        </p:txBody>
      </p:sp>
      <p:sp>
        <p:nvSpPr>
          <p:cNvPr id="28" name="shape-345">
            <a:extLst xmlns:a="http://schemas.openxmlformats.org/drawingml/2006/main">
              <a:ext uri="{FF2B5EF4-FFF2-40B4-BE49-F238E27FC236}">
                <a16:creationId xmlns:a16="http://schemas.microsoft.com/office/drawing/2014/main" id="{21BF3B66-5074-40FF-8977-06862EB6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29" name="text-346">
            <a:extLst xmlns:a="http://schemas.openxmlformats.org/drawingml/2006/main">
              <a:ext uri="{FF2B5EF4-FFF2-40B4-BE49-F238E27FC236}">
                <a16:creationId xmlns:a16="http://schemas.microsoft.com/office/drawing/2014/main" id="{A6E8F472-EED1-4ABB-9EFF-DAD2AA4B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9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30" name="text-347">
            <a:extLst xmlns:a="http://schemas.openxmlformats.org/drawingml/2006/main">
              <a:ext uri="{FF2B5EF4-FFF2-40B4-BE49-F238E27FC236}">
                <a16:creationId xmlns:a16="http://schemas.microsoft.com/office/drawing/2014/main" id="{1B18FA19-3713-43B4-8203-4170D9B0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910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rPr>
              <a:t>正式报告：总览、目的、样本、分析、建议、投教启示和限制。</a:t>
            </a:r>
          </a:p>
        </p:txBody>
      </p:sp>
      <p:sp>
        <p:nvSpPr>
          <p:cNvPr id="31" name="text-348">
            <a:extLst xmlns:a="http://schemas.openxmlformats.org/drawingml/2006/main">
              <a:ext uri="{FF2B5EF4-FFF2-40B4-BE49-F238E27FC236}">
                <a16:creationId xmlns:a16="http://schemas.microsoft.com/office/drawing/2014/main" id="{FA537889-7381-491C-A38D-18131F84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25f27019006c48eb" action="ppaction://hlinksldjump"/>
              </a:rPr>
              <a:t>← 返回完整工作流</a:t>
            </a:r>
          </a:p>
        </p:txBody>
      </p:sp>
    </p:spTree>
    <p:extLst>
      <p:ext uri="{BB962C8B-B14F-4D97-AF65-F5344CB8AC3E}">
        <p14:creationId xmlns:p14="http://schemas.microsoft.com/office/powerpoint/2010/main" val="5999425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349">
            <a:extLst xmlns:a="http://schemas.openxmlformats.org/drawingml/2006/main">
              <a:ext uri="{FF2B5EF4-FFF2-40B4-BE49-F238E27FC236}">
                <a16:creationId xmlns:a16="http://schemas.microsoft.com/office/drawing/2014/main" id="{45D9C4D8-0D44-4807-A738-60968E30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真实路径 08 / 08</a:t>
            </a:r>
          </a:p>
        </p:txBody>
      </p:sp>
      <p:sp>
        <p:nvSpPr>
          <p:cNvPr id="2" name="text-350">
            <a:extLst xmlns:a="http://schemas.openxmlformats.org/drawingml/2006/main">
              <a:ext uri="{FF2B5EF4-FFF2-40B4-BE49-F238E27FC236}">
                <a16:creationId xmlns:a16="http://schemas.microsoft.com/office/drawing/2014/main" id="{36BEF615-444B-42BD-89E7-3217D98A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3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沉淀研究资产：让下一次研究继续积累</a:t>
            </a:r>
          </a:p>
        </p:txBody>
      </p:sp>
      <p:sp>
        <p:nvSpPr>
          <p:cNvPr id="3" name="shape-351">
            <a:extLst xmlns:a="http://schemas.openxmlformats.org/drawingml/2006/main">
              <a:ext uri="{FF2B5EF4-FFF2-40B4-BE49-F238E27FC236}">
                <a16:creationId xmlns:a16="http://schemas.microsoft.com/office/drawing/2014/main" id="{8E235377-346D-486B-AD5B-8C81D257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352">
            <a:extLst xmlns:a="http://schemas.openxmlformats.org/drawingml/2006/main">
              <a:ext uri="{FF2B5EF4-FFF2-40B4-BE49-F238E27FC236}">
                <a16:creationId xmlns:a16="http://schemas.microsoft.com/office/drawing/2014/main" id="{952BE137-2EA8-451A-A3AB-D536CFC5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阶段 08 · 沉淀研究资产</a:t>
            </a:r>
          </a:p>
        </p:txBody>
      </p:sp>
      <p:sp>
        <p:nvSpPr>
          <p:cNvPr id="5" name="text-353">
            <a:extLst xmlns:a="http://schemas.openxmlformats.org/drawingml/2006/main">
              <a:ext uri="{FF2B5EF4-FFF2-40B4-BE49-F238E27FC236}">
                <a16:creationId xmlns:a16="http://schemas.microsoft.com/office/drawing/2014/main" id="{132CB5E1-AE42-446C-A1A9-599DEEE4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6" name="text-354">
            <a:extLst xmlns:a="http://schemas.openxmlformats.org/drawingml/2006/main">
              <a:ext uri="{FF2B5EF4-FFF2-40B4-BE49-F238E27FC236}">
                <a16:creationId xmlns:a16="http://schemas.microsoft.com/office/drawing/2014/main" id="{E0037903-764A-423D-BB1C-51CAB945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04df00501564989" action="ppaction://hlinksldjump"/>
              </a:rPr>
              <a:t>1 接收需求</a:t>
            </a:r>
          </a:p>
        </p:txBody>
      </p:sp>
      <p:sp>
        <p:nvSpPr>
          <p:cNvPr id="7" name="text-355">
            <a:extLst xmlns:a="http://schemas.openxmlformats.org/drawingml/2006/main">
              <a:ext uri="{FF2B5EF4-FFF2-40B4-BE49-F238E27FC236}">
                <a16:creationId xmlns:a16="http://schemas.microsoft.com/office/drawing/2014/main" id="{E56A99A2-50E6-4F99-834E-B0F7832A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684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c20d412031c4f46" action="ppaction://hlinksldjump"/>
              </a:rPr>
              <a:t>2 理解问题</a:t>
            </a:r>
          </a:p>
        </p:txBody>
      </p:sp>
      <p:sp>
        <p:nvSpPr>
          <p:cNvPr id="8" name="text-356">
            <a:extLst xmlns:a="http://schemas.openxmlformats.org/drawingml/2006/main">
              <a:ext uri="{FF2B5EF4-FFF2-40B4-BE49-F238E27FC236}">
                <a16:creationId xmlns:a16="http://schemas.microsoft.com/office/drawing/2014/main" id="{DED30C83-BA20-4CB2-88B7-7A7B0859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6d405818030441e" action="ppaction://hlinksldjump"/>
              </a:rPr>
              <a:t>3 设计方案</a:t>
            </a:r>
          </a:p>
        </p:txBody>
      </p:sp>
      <p:sp>
        <p:nvSpPr>
          <p:cNvPr id="9" name="text-357">
            <a:extLst xmlns:a="http://schemas.openxmlformats.org/drawingml/2006/main">
              <a:ext uri="{FF2B5EF4-FFF2-40B4-BE49-F238E27FC236}">
                <a16:creationId xmlns:a16="http://schemas.microsoft.com/office/drawing/2014/main" id="{C1050F29-A188-4C7B-9551-D70EDEB5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453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ba879066cc3489b" action="ppaction://hlinksldjump"/>
              </a:rPr>
              <a:t>4 设计工具</a:t>
            </a:r>
          </a:p>
        </p:txBody>
      </p:sp>
      <p:sp>
        <p:nvSpPr>
          <p:cNvPr id="10" name="text-358">
            <a:extLst xmlns:a="http://schemas.openxmlformats.org/drawingml/2006/main">
              <a:ext uri="{FF2B5EF4-FFF2-40B4-BE49-F238E27FC236}">
                <a16:creationId xmlns:a16="http://schemas.microsoft.com/office/drawing/2014/main" id="{2A501397-069C-47E7-BD9B-092D2E1C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e380cd741704dd9" action="ppaction://hlinksldjump"/>
              </a:rPr>
              <a:t>5 执行调研</a:t>
            </a:r>
          </a:p>
        </p:txBody>
      </p:sp>
      <p:sp>
        <p:nvSpPr>
          <p:cNvPr id="11" name="text-359">
            <a:extLst xmlns:a="http://schemas.openxmlformats.org/drawingml/2006/main">
              <a:ext uri="{FF2B5EF4-FFF2-40B4-BE49-F238E27FC236}">
                <a16:creationId xmlns:a16="http://schemas.microsoft.com/office/drawing/2014/main" id="{5452AD9E-342C-4961-83B1-928B697D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222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df107e055454a0e" action="ppaction://hlinksldjump"/>
              </a:rPr>
              <a:t>6 分析洞察</a:t>
            </a:r>
          </a:p>
        </p:txBody>
      </p:sp>
      <p:sp>
        <p:nvSpPr>
          <p:cNvPr id="12" name="text-360">
            <a:extLst xmlns:a="http://schemas.openxmlformats.org/drawingml/2006/main">
              <a:ext uri="{FF2B5EF4-FFF2-40B4-BE49-F238E27FC236}">
                <a16:creationId xmlns:a16="http://schemas.microsoft.com/office/drawing/2014/main" id="{4C793464-8C3C-4AE6-81F4-600B9E6B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06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867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7366c4459fa4b89" action="ppaction://hlinksldjump"/>
              </a:rPr>
              <a:t>7 生成报告</a:t>
            </a:r>
          </a:p>
        </p:txBody>
      </p:sp>
      <p:sp>
        <p:nvSpPr>
          <p:cNvPr id="13" name="text-361">
            <a:extLst xmlns:a="http://schemas.openxmlformats.org/drawingml/2006/main">
              <a:ext uri="{FF2B5EF4-FFF2-40B4-BE49-F238E27FC236}">
                <a16:creationId xmlns:a16="http://schemas.microsoft.com/office/drawing/2014/main" id="{5542CA21-62E8-4CC2-9F84-4C854C80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991" y="342900"/>
            <a:ext cx="129420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57"/>
          </a:solidFill>
          <a:ln xmlns:a="http://schemas.openxmlformats.org/drawingml/2006/main" w="14288">
            <a:solidFill>
              <a:srgbClr val="D97757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2e4b4efecf84255" action="ppaction://hlinksldjump"/>
              </a:rPr>
              <a:t>8 沉淀资产</a:t>
            </a:r>
          </a:p>
        </p:txBody>
      </p:sp>
      <p:sp>
        <p:nvSpPr>
          <p:cNvPr id="14" name="shape-362">
            <a:extLst xmlns:a="http://schemas.openxmlformats.org/drawingml/2006/main">
              <a:ext uri="{FF2B5EF4-FFF2-40B4-BE49-F238E27FC236}">
                <a16:creationId xmlns:a16="http://schemas.microsoft.com/office/drawing/2014/main" id="{75F2422F-FAE1-48F1-A87B-DEA6C01F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333750" cy="38862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15" name="text-363">
            <a:extLst xmlns:a="http://schemas.openxmlformats.org/drawingml/2006/main">
              <a:ext uri="{FF2B5EF4-FFF2-40B4-BE49-F238E27FC236}">
                <a16:creationId xmlns:a16="http://schemas.microsoft.com/office/drawing/2014/main" id="{1808FFD6-3254-45BC-9A44-B22D2F35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阶段 08</a:t>
            </a:r>
          </a:p>
        </p:txBody>
      </p:sp>
      <p:sp>
        <p:nvSpPr>
          <p:cNvPr id="16" name="text-364">
            <a:extLst xmlns:a="http://schemas.openxmlformats.org/drawingml/2006/main">
              <a:ext uri="{FF2B5EF4-FFF2-40B4-BE49-F238E27FC236}">
                <a16:creationId xmlns:a16="http://schemas.microsoft.com/office/drawing/2014/main" id="{7E27C95D-6EBA-4FA1-BD69-7D44DB8C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保存报告，也保存研究是如何完成的</a:t>
            </a:r>
          </a:p>
        </p:txBody>
      </p:sp>
      <p:sp>
        <p:nvSpPr>
          <p:cNvPr id="17" name="text-365">
            <a:extLst xmlns:a="http://schemas.openxmlformats.org/drawingml/2006/main">
              <a:ext uri="{FF2B5EF4-FFF2-40B4-BE49-F238E27FC236}">
                <a16:creationId xmlns:a16="http://schemas.microsoft.com/office/drawing/2014/main" id="{E9E4DCAE-2238-45DA-975F-04C60183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主要负责</a:t>
            </a:r>
          </a:p>
        </p:txBody>
      </p:sp>
      <p:sp>
        <p:nvSpPr>
          <p:cNvPr id="18" name="text-366">
            <a:extLst xmlns:a="http://schemas.openxmlformats.org/drawingml/2006/main">
              <a:ext uri="{FF2B5EF4-FFF2-40B4-BE49-F238E27FC236}">
                <a16:creationId xmlns:a16="http://schemas.microsoft.com/office/drawing/2014/main" id="{81F1B615-3F24-4E48-BE17-8CFD5D86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5668921a2ba464f" action="ppaction://hlinksldjump"/>
              </a:rPr>
              <a:t>研究总控 →</a:t>
            </a:r>
          </a:p>
        </p:txBody>
      </p:sp>
      <p:sp>
        <p:nvSpPr>
          <p:cNvPr id="19" name="shape-367">
            <a:extLst xmlns:a="http://schemas.openxmlformats.org/drawingml/2006/main">
              <a:ext uri="{FF2B5EF4-FFF2-40B4-BE49-F238E27FC236}">
                <a16:creationId xmlns:a16="http://schemas.microsoft.com/office/drawing/2014/main" id="{4E34AA2E-06F1-4DEF-B993-59C08441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430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0" name="text-368">
            <a:extLst xmlns:a="http://schemas.openxmlformats.org/drawingml/2006/main">
              <a:ext uri="{FF2B5EF4-FFF2-40B4-BE49-F238E27FC236}">
                <a16:creationId xmlns:a16="http://schemas.microsoft.com/office/drawing/2014/main" id="{45A498FF-1B1A-480C-9DDA-DF60A386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0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收到什么</a:t>
            </a:r>
          </a:p>
        </p:txBody>
      </p:sp>
      <p:sp>
        <p:nvSpPr>
          <p:cNvPr id="21" name="text-369">
            <a:extLst xmlns:a="http://schemas.openxmlformats.org/drawingml/2006/main">
              <a:ext uri="{FF2B5EF4-FFF2-40B4-BE49-F238E27FC236}">
                <a16:creationId xmlns:a16="http://schemas.microsoft.com/office/drawing/2014/main" id="{0A5B9714-1689-420E-92B0-C3DC239A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764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任务书、方案、工具、变量、数据、证据、洞察和最终报告。</a:t>
            </a:r>
          </a:p>
        </p:txBody>
      </p:sp>
      <p:sp>
        <p:nvSpPr>
          <p:cNvPr id="22" name="shape-370">
            <a:extLst xmlns:a="http://schemas.openxmlformats.org/drawingml/2006/main">
              <a:ext uri="{FF2B5EF4-FFF2-40B4-BE49-F238E27FC236}">
                <a16:creationId xmlns:a16="http://schemas.microsoft.com/office/drawing/2014/main" id="{3E6681FD-2BBE-48B1-98C5-8C55BC67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146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3" name="text-371">
            <a:extLst xmlns:a="http://schemas.openxmlformats.org/drawingml/2006/main">
              <a:ext uri="{FF2B5EF4-FFF2-40B4-BE49-F238E27FC236}">
                <a16:creationId xmlns:a16="http://schemas.microsoft.com/office/drawing/2014/main" id="{8F43EEB7-6448-4A76-9479-BF974649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怎么处理</a:t>
            </a:r>
          </a:p>
        </p:txBody>
      </p:sp>
      <p:sp>
        <p:nvSpPr>
          <p:cNvPr id="24" name="text-372">
            <a:extLst xmlns:a="http://schemas.openxmlformats.org/drawingml/2006/main">
              <a:ext uri="{FF2B5EF4-FFF2-40B4-BE49-F238E27FC236}">
                <a16:creationId xmlns:a16="http://schemas.microsoft.com/office/drawing/2014/main" id="{6C75B4E6-83C9-4DA9-82F8-3062DC4E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479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登记课题、目标人群、时间、版本、限制与可复用条件。</a:t>
            </a:r>
          </a:p>
        </p:txBody>
      </p:sp>
      <p:sp>
        <p:nvSpPr>
          <p:cNvPr id="25" name="shape-373">
            <a:extLst xmlns:a="http://schemas.openxmlformats.org/drawingml/2006/main">
              <a:ext uri="{FF2B5EF4-FFF2-40B4-BE49-F238E27FC236}">
                <a16:creationId xmlns:a16="http://schemas.microsoft.com/office/drawing/2014/main" id="{6BE87F49-A9FD-4B3D-9814-DC36FE19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8617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374">
            <a:extLst xmlns:a="http://schemas.openxmlformats.org/drawingml/2006/main">
              <a:ext uri="{FF2B5EF4-FFF2-40B4-BE49-F238E27FC236}">
                <a16:creationId xmlns:a16="http://schemas.microsoft.com/office/drawing/2014/main" id="{3C8B9A17-0244-4123-AD52-95CB2925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质量控制</a:t>
            </a:r>
          </a:p>
        </p:txBody>
      </p:sp>
      <p:sp>
        <p:nvSpPr>
          <p:cNvPr id="27" name="text-375">
            <a:extLst xmlns:a="http://schemas.openxmlformats.org/drawingml/2006/main">
              <a:ext uri="{FF2B5EF4-FFF2-40B4-BE49-F238E27FC236}">
                <a16:creationId xmlns:a16="http://schemas.microsoft.com/office/drawing/2014/main" id="{FE9D4F63-51FF-40B3-801F-7072719A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1952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新课题只能借鉴旧方法，不能直接套用旧结论或自动写入客户档案。</a:t>
            </a:r>
          </a:p>
        </p:txBody>
      </p:sp>
      <p:sp>
        <p:nvSpPr>
          <p:cNvPr id="28" name="shape-376">
            <a:extLst xmlns:a="http://schemas.openxmlformats.org/drawingml/2006/main">
              <a:ext uri="{FF2B5EF4-FFF2-40B4-BE49-F238E27FC236}">
                <a16:creationId xmlns:a16="http://schemas.microsoft.com/office/drawing/2014/main" id="{59A6B16B-66E1-464A-A82D-5BE3B7A9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29" name="text-377">
            <a:extLst xmlns:a="http://schemas.openxmlformats.org/drawingml/2006/main">
              <a:ext uri="{FF2B5EF4-FFF2-40B4-BE49-F238E27FC236}">
                <a16:creationId xmlns:a16="http://schemas.microsoft.com/office/drawing/2014/main" id="{A097EA2E-4D1A-4B92-9B1A-20D55E40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9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30" name="text-378">
            <a:extLst xmlns:a="http://schemas.openxmlformats.org/drawingml/2006/main">
              <a:ext uri="{FF2B5EF4-FFF2-40B4-BE49-F238E27FC236}">
                <a16:creationId xmlns:a16="http://schemas.microsoft.com/office/drawing/2014/main" id="{306D3F03-E78B-4DDE-96D0-24019A4C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91075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rPr>
              <a:t>组织研究资产库：可检索、可复用，并保留完整来源与责任记录。</a:t>
            </a:r>
          </a:p>
        </p:txBody>
      </p:sp>
      <p:sp>
        <p:nvSpPr>
          <p:cNvPr id="31" name="text-379">
            <a:extLst xmlns:a="http://schemas.openxmlformats.org/drawingml/2006/main">
              <a:ext uri="{FF2B5EF4-FFF2-40B4-BE49-F238E27FC236}">
                <a16:creationId xmlns:a16="http://schemas.microsoft.com/office/drawing/2014/main" id="{9F26CFE4-9C86-4038-A47D-3749E5C0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d99b7817b8bc4141" action="ppaction://hlinksldjump"/>
              </a:rPr>
              <a:t>← 返回完整工作流</a:t>
            </a:r>
          </a:p>
        </p:txBody>
      </p:sp>
    </p:spTree>
    <p:extLst>
      <p:ext uri="{BB962C8B-B14F-4D97-AF65-F5344CB8AC3E}">
        <p14:creationId xmlns:p14="http://schemas.microsoft.com/office/powerpoint/2010/main" val="12177208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380">
            <a:extLst xmlns:a="http://schemas.openxmlformats.org/drawingml/2006/main">
              <a:ext uri="{FF2B5EF4-FFF2-40B4-BE49-F238E27FC236}">
                <a16:creationId xmlns:a16="http://schemas.microsoft.com/office/drawing/2014/main" id="{44617CD9-7ABD-4A13-998B-606E55CE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质量审核贯穿流程，关键决定必须由人确认</a:t>
            </a:r>
          </a:p>
        </p:txBody>
      </p:sp>
      <p:sp>
        <p:nvSpPr>
          <p:cNvPr id="2" name="text-381">
            <a:extLst xmlns:a="http://schemas.openxmlformats.org/drawingml/2006/main">
              <a:ext uri="{FF2B5EF4-FFF2-40B4-BE49-F238E27FC236}">
                <a16:creationId xmlns:a16="http://schemas.microsoft.com/office/drawing/2014/main" id="{A6DF5038-FDAB-43D4-A1AD-7E6F3E0E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AF9F5"/>
                </a:solidFill>
                <a:latin typeface="SimSun"/>
                <a:ea typeface="SimSun"/>
                <a:cs typeface="SimSun"/>
              </a:defRPr>
            </a:pPr>
            <a:r>
              <a:rPr sz="3600" b="0">
                <a:solidFill>
                  <a:srgbClr val="FAF9F5"/>
                </a:solidFill>
                <a:latin typeface="SimSun"/>
                <a:ea typeface="SimSun"/>
                <a:cs typeface="SimSun"/>
              </a:rPr>
              <a:t>AI可以生成和预审，研究责任不能交给AI</a:t>
            </a:r>
          </a:p>
        </p:txBody>
      </p:sp>
      <p:sp>
        <p:nvSpPr>
          <p:cNvPr id="3" name="shape-382">
            <a:extLst xmlns:a="http://schemas.openxmlformats.org/drawingml/2006/main">
              <a:ext uri="{FF2B5EF4-FFF2-40B4-BE49-F238E27FC236}">
                <a16:creationId xmlns:a16="http://schemas.microsoft.com/office/drawing/2014/main" id="{1B8DD88A-8463-408E-8E2F-01FED2D6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D3D3A"/>
            </a:solidFill>
            <a:prstDash val="solid"/>
          </a:ln>
        </p:spPr>
      </p:sp>
      <p:sp>
        <p:nvSpPr>
          <p:cNvPr id="4" name="text-383">
            <a:extLst xmlns:a="http://schemas.openxmlformats.org/drawingml/2006/main">
              <a:ext uri="{FF2B5EF4-FFF2-40B4-BE49-F238E27FC236}">
                <a16:creationId xmlns:a16="http://schemas.microsoft.com/office/drawing/2014/main" id="{24933260-18AB-4A37-B850-C43993A5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人工确认与质量责任</a:t>
            </a:r>
          </a:p>
        </p:txBody>
      </p:sp>
      <p:sp>
        <p:nvSpPr>
          <p:cNvPr id="5" name="text-384">
            <a:extLst xmlns:a="http://schemas.openxmlformats.org/drawingml/2006/main">
              <a:ext uri="{FF2B5EF4-FFF2-40B4-BE49-F238E27FC236}">
                <a16:creationId xmlns:a16="http://schemas.microsoft.com/office/drawing/2014/main" id="{3944CDC2-847C-4C12-838E-59130C51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6" name="shape-385">
            <a:extLst xmlns:a="http://schemas.openxmlformats.org/drawingml/2006/main">
              <a:ext uri="{FF2B5EF4-FFF2-40B4-BE49-F238E27FC236}">
                <a16:creationId xmlns:a16="http://schemas.microsoft.com/office/drawing/2014/main" id="{CAA40C01-3BDB-49D8-B2BC-8C916F8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43150" cy="25717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57"/>
            </a:solidFill>
            <a:prstDash val="solid"/>
          </a:ln>
        </p:spPr>
      </p:sp>
      <p:sp>
        <p:nvSpPr>
          <p:cNvPr id="7" name="text-386">
            <a:extLst xmlns:a="http://schemas.openxmlformats.org/drawingml/2006/main">
              <a:ext uri="{FF2B5EF4-FFF2-40B4-BE49-F238E27FC236}">
                <a16:creationId xmlns:a16="http://schemas.microsoft.com/office/drawing/2014/main" id="{EFD9EEEF-E21E-4140-9176-75CAD199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5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确认点 01</a:t>
            </a:r>
          </a:p>
        </p:txBody>
      </p:sp>
      <p:sp>
        <p:nvSpPr>
          <p:cNvPr id="8" name="text-387">
            <a:extLst xmlns:a="http://schemas.openxmlformats.org/drawingml/2006/main">
              <a:ext uri="{FF2B5EF4-FFF2-40B4-BE49-F238E27FC236}">
                <a16:creationId xmlns:a16="http://schemas.microsoft.com/office/drawing/2014/main" id="{CAD8BF8D-4928-4322-82D1-6F6AB5A0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研究什么</a:t>
            </a:r>
          </a:p>
        </p:txBody>
      </p:sp>
      <p:sp>
        <p:nvSpPr>
          <p:cNvPr id="9" name="text-388">
            <a:extLst xmlns:a="http://schemas.openxmlformats.org/drawingml/2006/main">
              <a:ext uri="{FF2B5EF4-FFF2-40B4-BE49-F238E27FC236}">
                <a16:creationId xmlns:a16="http://schemas.microsoft.com/office/drawing/2014/main" id="{063EAEB4-8774-4A43-9207-9EEC1DC4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2000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确认目标、人群、范围和决策用途。</a:t>
            </a:r>
          </a:p>
        </p:txBody>
      </p:sp>
      <p:sp>
        <p:nvSpPr>
          <p:cNvPr id="10" name="shape-389">
            <a:extLst xmlns:a="http://schemas.openxmlformats.org/drawingml/2006/main">
              <a:ext uri="{FF2B5EF4-FFF2-40B4-BE49-F238E27FC236}">
                <a16:creationId xmlns:a16="http://schemas.microsoft.com/office/drawing/2014/main" id="{17FF2888-7750-4291-917F-55D564ED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9562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11" name="shape-390">
            <a:extLst xmlns:a="http://schemas.openxmlformats.org/drawingml/2006/main">
              <a:ext uri="{FF2B5EF4-FFF2-40B4-BE49-F238E27FC236}">
                <a16:creationId xmlns:a16="http://schemas.microsoft.com/office/drawing/2014/main" id="{9D293B9C-C11B-4428-8ED3-A2BF31C7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52625"/>
            <a:ext cx="2343150" cy="25717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57"/>
            </a:solidFill>
            <a:prstDash val="solid"/>
          </a:ln>
        </p:spPr>
      </p:sp>
      <p:sp>
        <p:nvSpPr>
          <p:cNvPr id="12" name="text-391">
            <a:extLst xmlns:a="http://schemas.openxmlformats.org/drawingml/2006/main">
              <a:ext uri="{FF2B5EF4-FFF2-40B4-BE49-F238E27FC236}">
                <a16:creationId xmlns:a16="http://schemas.microsoft.com/office/drawing/2014/main" id="{89615395-12D8-452F-9BAE-78816924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859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5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确认点 02</a:t>
            </a:r>
          </a:p>
        </p:txBody>
      </p:sp>
      <p:sp>
        <p:nvSpPr>
          <p:cNvPr id="13" name="text-392">
            <a:extLst xmlns:a="http://schemas.openxmlformats.org/drawingml/2006/main">
              <a:ext uri="{FF2B5EF4-FFF2-40B4-BE49-F238E27FC236}">
                <a16:creationId xmlns:a16="http://schemas.microsoft.com/office/drawing/2014/main" id="{0FB090BF-424C-4C65-BD24-DEA375FB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能否执行</a:t>
            </a:r>
          </a:p>
        </p:txBody>
      </p:sp>
      <p:sp>
        <p:nvSpPr>
          <p:cNvPr id="14" name="text-393">
            <a:extLst xmlns:a="http://schemas.openxmlformats.org/drawingml/2006/main">
              <a:ext uri="{FF2B5EF4-FFF2-40B4-BE49-F238E27FC236}">
                <a16:creationId xmlns:a16="http://schemas.microsoft.com/office/drawing/2014/main" id="{68272D38-8121-4AEC-98A5-11FA4440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90825"/>
            <a:ext cx="2000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确认方法、题目、事实、隐私和样本方案。</a:t>
            </a:r>
          </a:p>
        </p:txBody>
      </p:sp>
      <p:sp>
        <p:nvSpPr>
          <p:cNvPr id="15" name="shape-394">
            <a:extLst xmlns:a="http://schemas.openxmlformats.org/drawingml/2006/main">
              <a:ext uri="{FF2B5EF4-FFF2-40B4-BE49-F238E27FC236}">
                <a16:creationId xmlns:a16="http://schemas.microsoft.com/office/drawing/2014/main" id="{A13ED361-8DB6-46DD-A072-318A6529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9562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16" name="shape-395">
            <a:extLst xmlns:a="http://schemas.openxmlformats.org/drawingml/2006/main">
              <a:ext uri="{FF2B5EF4-FFF2-40B4-BE49-F238E27FC236}">
                <a16:creationId xmlns:a16="http://schemas.microsoft.com/office/drawing/2014/main" id="{3FB0BDF2-D67A-4974-9397-D8883815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2343150" cy="25717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57"/>
            </a:solidFill>
            <a:prstDash val="solid"/>
          </a:ln>
        </p:spPr>
      </p:sp>
      <p:sp>
        <p:nvSpPr>
          <p:cNvPr id="17" name="text-396">
            <a:extLst xmlns:a="http://schemas.openxmlformats.org/drawingml/2006/main">
              <a:ext uri="{FF2B5EF4-FFF2-40B4-BE49-F238E27FC236}">
                <a16:creationId xmlns:a16="http://schemas.microsoft.com/office/drawing/2014/main" id="{CF460E05-D6A3-4A1C-B36C-BA296A74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859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5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确认点 03</a:t>
            </a:r>
          </a:p>
        </p:txBody>
      </p:sp>
      <p:sp>
        <p:nvSpPr>
          <p:cNvPr id="18" name="text-397">
            <a:extLst xmlns:a="http://schemas.openxmlformats.org/drawingml/2006/main">
              <a:ext uri="{FF2B5EF4-FFF2-40B4-BE49-F238E27FC236}">
                <a16:creationId xmlns:a16="http://schemas.microsoft.com/office/drawing/2014/main" id="{F478FC9D-FE9D-4A84-8952-A55DF888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洞察是否成立</a:t>
            </a:r>
          </a:p>
        </p:txBody>
      </p:sp>
      <p:sp>
        <p:nvSpPr>
          <p:cNvPr id="19" name="text-398">
            <a:extLst xmlns:a="http://schemas.openxmlformats.org/drawingml/2006/main">
              <a:ext uri="{FF2B5EF4-FFF2-40B4-BE49-F238E27FC236}">
                <a16:creationId xmlns:a16="http://schemas.microsoft.com/office/drawing/2014/main" id="{9CD76644-6324-416B-B664-99AD0392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90825"/>
            <a:ext cx="2000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确认结论受到证据支持且边界清楚。</a:t>
            </a:r>
          </a:p>
        </p:txBody>
      </p:sp>
      <p:sp>
        <p:nvSpPr>
          <p:cNvPr id="20" name="shape-399">
            <a:extLst xmlns:a="http://schemas.openxmlformats.org/drawingml/2006/main">
              <a:ext uri="{FF2B5EF4-FFF2-40B4-BE49-F238E27FC236}">
                <a16:creationId xmlns:a16="http://schemas.microsoft.com/office/drawing/2014/main" id="{2CCE9AE0-673D-43BB-A57B-82AEC70A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9562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21" name="shape-400">
            <a:extLst xmlns:a="http://schemas.openxmlformats.org/drawingml/2006/main">
              <a:ext uri="{FF2B5EF4-FFF2-40B4-BE49-F238E27FC236}">
                <a16:creationId xmlns:a16="http://schemas.microsoft.com/office/drawing/2014/main" id="{6B0AE89F-376E-4653-9726-F4BC1140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52625"/>
            <a:ext cx="2343150" cy="25717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57"/>
            </a:solidFill>
            <a:prstDash val="solid"/>
          </a:ln>
        </p:spPr>
      </p:sp>
      <p:sp>
        <p:nvSpPr>
          <p:cNvPr id="22" name="text-401">
            <a:extLst xmlns:a="http://schemas.openxmlformats.org/drawingml/2006/main">
              <a:ext uri="{FF2B5EF4-FFF2-40B4-BE49-F238E27FC236}">
                <a16:creationId xmlns:a16="http://schemas.microsoft.com/office/drawing/2014/main" id="{962F55DD-B6E1-4FC0-894E-C817A61F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859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5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确认点 04</a:t>
            </a:r>
          </a:p>
        </p:txBody>
      </p:sp>
      <p:sp>
        <p:nvSpPr>
          <p:cNvPr id="23" name="text-402">
            <a:extLst xmlns:a="http://schemas.openxmlformats.org/drawingml/2006/main">
              <a:ext uri="{FF2B5EF4-FFF2-40B4-BE49-F238E27FC236}">
                <a16:creationId xmlns:a16="http://schemas.microsoft.com/office/drawing/2014/main" id="{DE218721-4070-4547-B4C4-1055F5B8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33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能否发布</a:t>
            </a:r>
          </a:p>
        </p:txBody>
      </p:sp>
      <p:sp>
        <p:nvSpPr>
          <p:cNvPr id="24" name="text-403">
            <a:extLst xmlns:a="http://schemas.openxmlformats.org/drawingml/2006/main">
              <a:ext uri="{FF2B5EF4-FFF2-40B4-BE49-F238E27FC236}">
                <a16:creationId xmlns:a16="http://schemas.microsoft.com/office/drawing/2014/main" id="{0681D75C-722C-427B-B6AC-BF45D4F4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90825"/>
            <a:ext cx="2000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确认报告忠实、易懂、合规和分发范围。</a:t>
            </a:r>
          </a:p>
        </p:txBody>
      </p:sp>
      <p:sp>
        <p:nvSpPr>
          <p:cNvPr id="25" name="text-404">
            <a:extLst xmlns:a="http://schemas.openxmlformats.org/drawingml/2006/main">
              <a:ext uri="{FF2B5EF4-FFF2-40B4-BE49-F238E27FC236}">
                <a16:creationId xmlns:a16="http://schemas.microsoft.com/office/drawing/2014/main" id="{B9C44D8F-D640-4077-AD37-7F01DBB9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rPr>
              <a:t>质量专家发现问题，原责任专家修订，授权人员作出最终确认。</a:t>
            </a:r>
          </a:p>
        </p:txBody>
      </p:sp>
    </p:spTree>
    <p:extLst>
      <p:ext uri="{BB962C8B-B14F-4D97-AF65-F5344CB8AC3E}">
        <p14:creationId xmlns:p14="http://schemas.microsoft.com/office/powerpoint/2010/main" val="21132337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405">
            <a:extLst xmlns:a="http://schemas.openxmlformats.org/drawingml/2006/main">
              <a:ext uri="{FF2B5EF4-FFF2-40B4-BE49-F238E27FC236}">
                <a16:creationId xmlns:a16="http://schemas.microsoft.com/office/drawing/2014/main" id="{A3054BD5-593D-45BA-A205-1E9D159B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每个结论都能沿原路返回</a:t>
            </a:r>
          </a:p>
        </p:txBody>
      </p:sp>
      <p:sp>
        <p:nvSpPr>
          <p:cNvPr id="2" name="text-406">
            <a:extLst xmlns:a="http://schemas.openxmlformats.org/drawingml/2006/main">
              <a:ext uri="{FF2B5EF4-FFF2-40B4-BE49-F238E27FC236}">
                <a16:creationId xmlns:a16="http://schemas.microsoft.com/office/drawing/2014/main" id="{8CAD007B-F716-4AEC-A337-FCB47DF9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AF9F5"/>
                </a:solidFill>
                <a:latin typeface="SimSun"/>
                <a:ea typeface="SimSun"/>
                <a:cs typeface="SimSun"/>
              </a:defRPr>
            </a:pPr>
            <a:r>
              <a:rPr sz="3600" b="0">
                <a:solidFill>
                  <a:srgbClr val="FAF9F5"/>
                </a:solidFill>
                <a:latin typeface="SimSun"/>
                <a:ea typeface="SimSun"/>
                <a:cs typeface="SimSun"/>
              </a:rPr>
              <a:t>从原始回答到业务建议，中间不能跳步</a:t>
            </a:r>
          </a:p>
        </p:txBody>
      </p:sp>
      <p:sp>
        <p:nvSpPr>
          <p:cNvPr id="3" name="shape-407">
            <a:extLst xmlns:a="http://schemas.openxmlformats.org/drawingml/2006/main">
              <a:ext uri="{FF2B5EF4-FFF2-40B4-BE49-F238E27FC236}">
                <a16:creationId xmlns:a16="http://schemas.microsoft.com/office/drawing/2014/main" id="{F417268E-8C57-4170-9650-BE3B55F8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D3D3A"/>
            </a:solidFill>
            <a:prstDash val="solid"/>
          </a:ln>
        </p:spPr>
      </p:sp>
      <p:sp>
        <p:nvSpPr>
          <p:cNvPr id="4" name="text-408">
            <a:extLst xmlns:a="http://schemas.openxmlformats.org/drawingml/2006/main">
              <a:ext uri="{FF2B5EF4-FFF2-40B4-BE49-F238E27FC236}">
                <a16:creationId xmlns:a16="http://schemas.microsoft.com/office/drawing/2014/main" id="{2947D289-20ED-4082-9ED7-F1C0DFAD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证据 → 发现 → 洞察 → 建议</a:t>
            </a:r>
          </a:p>
        </p:txBody>
      </p:sp>
      <p:sp>
        <p:nvSpPr>
          <p:cNvPr id="5" name="text-409">
            <a:extLst xmlns:a="http://schemas.openxmlformats.org/drawingml/2006/main">
              <a:ext uri="{FF2B5EF4-FFF2-40B4-BE49-F238E27FC236}">
                <a16:creationId xmlns:a16="http://schemas.microsoft.com/office/drawing/2014/main" id="{7E2262C7-BA51-4744-BC73-E5B15696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6" name="shape-410">
            <a:extLst xmlns:a="http://schemas.openxmlformats.org/drawingml/2006/main">
              <a:ext uri="{FF2B5EF4-FFF2-40B4-BE49-F238E27FC236}">
                <a16:creationId xmlns:a16="http://schemas.microsoft.com/office/drawing/2014/main" id="{8AB7B3A2-7E33-4D1C-B382-014C7F5B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943100" cy="2714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7" name="text-411">
            <a:extLst xmlns:a="http://schemas.openxmlformats.org/drawingml/2006/main">
              <a:ext uri="{FF2B5EF4-FFF2-40B4-BE49-F238E27FC236}">
                <a16:creationId xmlns:a16="http://schemas.microsoft.com/office/drawing/2014/main" id="{E100C8EB-9C25-4CD3-915B-88E9DD2B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-412">
            <a:extLst xmlns:a="http://schemas.openxmlformats.org/drawingml/2006/main">
              <a:ext uri="{FF2B5EF4-FFF2-40B4-BE49-F238E27FC236}">
                <a16:creationId xmlns:a16="http://schemas.microsoft.com/office/drawing/2014/main" id="{7CE9B1DF-59C7-41B7-9D7A-E24371F7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用户回答</a:t>
            </a:r>
          </a:p>
        </p:txBody>
      </p:sp>
      <p:sp>
        <p:nvSpPr>
          <p:cNvPr id="9" name="text-413">
            <a:extLst xmlns:a="http://schemas.openxmlformats.org/drawingml/2006/main">
              <a:ext uri="{FF2B5EF4-FFF2-40B4-BE49-F238E27FC236}">
                <a16:creationId xmlns:a16="http://schemas.microsoft.com/office/drawing/2014/main" id="{60E54B0F-1C87-4F46-B3A7-39E3409F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6002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rPr>
              <a:t>答卷、原话与观察记录</a:t>
            </a:r>
          </a:p>
        </p:txBody>
      </p:sp>
      <p:sp>
        <p:nvSpPr>
          <p:cNvPr id="10" name="shape-414">
            <a:extLst xmlns:a="http://schemas.openxmlformats.org/drawingml/2006/main">
              <a:ext uri="{FF2B5EF4-FFF2-40B4-BE49-F238E27FC236}">
                <a16:creationId xmlns:a16="http://schemas.microsoft.com/office/drawing/2014/main" id="{8509C210-4015-42BB-9236-DC7732BC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1432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11" name="shape-415">
            <a:extLst xmlns:a="http://schemas.openxmlformats.org/drawingml/2006/main">
              <a:ext uri="{FF2B5EF4-FFF2-40B4-BE49-F238E27FC236}">
                <a16:creationId xmlns:a16="http://schemas.microsoft.com/office/drawing/2014/main" id="{E968CE8D-97D9-41EF-9D53-BCFD3CF0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00250"/>
            <a:ext cx="1943100" cy="2714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12" name="text-416">
            <a:extLst xmlns:a="http://schemas.openxmlformats.org/drawingml/2006/main">
              <a:ext uri="{FF2B5EF4-FFF2-40B4-BE49-F238E27FC236}">
                <a16:creationId xmlns:a16="http://schemas.microsoft.com/office/drawing/2014/main" id="{68222A5A-F493-4804-A430-2EC80410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336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417">
            <a:extLst xmlns:a="http://schemas.openxmlformats.org/drawingml/2006/main">
              <a:ext uri="{FF2B5EF4-FFF2-40B4-BE49-F238E27FC236}">
                <a16:creationId xmlns:a16="http://schemas.microsoft.com/office/drawing/2014/main" id="{8AA58E25-34E7-4543-AA1E-14F48E5E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812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证据单元</a:t>
            </a:r>
          </a:p>
        </p:txBody>
      </p:sp>
      <p:sp>
        <p:nvSpPr>
          <p:cNvPr id="14" name="text-418">
            <a:extLst xmlns:a="http://schemas.openxmlformats.org/drawingml/2006/main">
              <a:ext uri="{FF2B5EF4-FFF2-40B4-BE49-F238E27FC236}">
                <a16:creationId xmlns:a16="http://schemas.microsoft.com/office/drawing/2014/main" id="{76774FA7-25EA-4430-862F-20EE8D8E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38450"/>
            <a:ext cx="16002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rPr>
              <a:t>带题目、分母和来源位置</a:t>
            </a:r>
          </a:p>
        </p:txBody>
      </p:sp>
      <p:sp>
        <p:nvSpPr>
          <p:cNvPr id="15" name="shape-419">
            <a:extLst xmlns:a="http://schemas.openxmlformats.org/drawingml/2006/main">
              <a:ext uri="{FF2B5EF4-FFF2-40B4-BE49-F238E27FC236}">
                <a16:creationId xmlns:a16="http://schemas.microsoft.com/office/drawing/2014/main" id="{EF77DB5D-D97F-491A-8499-2D430F70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432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16" name="shape-420">
            <a:extLst xmlns:a="http://schemas.openxmlformats.org/drawingml/2006/main">
              <a:ext uri="{FF2B5EF4-FFF2-40B4-BE49-F238E27FC236}">
                <a16:creationId xmlns:a16="http://schemas.microsoft.com/office/drawing/2014/main" id="{55F1F9C6-1145-4633-A435-32408301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0250"/>
            <a:ext cx="1943100" cy="2714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D97757"/>
            </a:solidFill>
            <a:prstDash val="solid"/>
          </a:ln>
        </p:spPr>
      </p:sp>
      <p:sp>
        <p:nvSpPr>
          <p:cNvPr id="17" name="text-421">
            <a:extLst xmlns:a="http://schemas.openxmlformats.org/drawingml/2006/main">
              <a:ext uri="{FF2B5EF4-FFF2-40B4-BE49-F238E27FC236}">
                <a16:creationId xmlns:a16="http://schemas.microsoft.com/office/drawing/2014/main" id="{C63C0E50-F09B-4090-8195-072C7952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5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8" name="text-422">
            <a:extLst xmlns:a="http://schemas.openxmlformats.org/drawingml/2006/main">
              <a:ext uri="{FF2B5EF4-FFF2-40B4-BE49-F238E27FC236}">
                <a16:creationId xmlns:a16="http://schemas.microsoft.com/office/drawing/2014/main" id="{11998F19-9042-44CD-8E6D-34C3812D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事实发现</a:t>
            </a:r>
          </a:p>
        </p:txBody>
      </p:sp>
      <p:sp>
        <p:nvSpPr>
          <p:cNvPr id="19" name="text-423">
            <a:extLst xmlns:a="http://schemas.openxmlformats.org/drawingml/2006/main">
              <a:ext uri="{FF2B5EF4-FFF2-40B4-BE49-F238E27FC236}">
                <a16:creationId xmlns:a16="http://schemas.microsoft.com/office/drawing/2014/main" id="{113C3CBF-BFD4-4474-9796-FA0DF09F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38450"/>
            <a:ext cx="16002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rPr>
              <a:t>证据直接显示了什么</a:t>
            </a:r>
          </a:p>
        </p:txBody>
      </p:sp>
      <p:sp>
        <p:nvSpPr>
          <p:cNvPr id="20" name="shape-424">
            <a:extLst xmlns:a="http://schemas.openxmlformats.org/drawingml/2006/main">
              <a:ext uri="{FF2B5EF4-FFF2-40B4-BE49-F238E27FC236}">
                <a16:creationId xmlns:a16="http://schemas.microsoft.com/office/drawing/2014/main" id="{D4FD3C36-C890-41BD-8DA0-9D80DDB7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432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21" name="shape-425">
            <a:extLst xmlns:a="http://schemas.openxmlformats.org/drawingml/2006/main">
              <a:ext uri="{FF2B5EF4-FFF2-40B4-BE49-F238E27FC236}">
                <a16:creationId xmlns:a16="http://schemas.microsoft.com/office/drawing/2014/main" id="{819E1026-5FB0-4553-90C0-055682C0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00250"/>
            <a:ext cx="1943100" cy="2714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D97757"/>
            </a:solidFill>
            <a:prstDash val="solid"/>
          </a:ln>
        </p:spPr>
      </p:sp>
      <p:sp>
        <p:nvSpPr>
          <p:cNvPr id="22" name="text-426">
            <a:extLst xmlns:a="http://schemas.openxmlformats.org/drawingml/2006/main">
              <a:ext uri="{FF2B5EF4-FFF2-40B4-BE49-F238E27FC236}">
                <a16:creationId xmlns:a16="http://schemas.microsoft.com/office/drawing/2014/main" id="{B07449CE-8501-4987-A991-37CBC074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336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5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3" name="text-427">
            <a:extLst xmlns:a="http://schemas.openxmlformats.org/drawingml/2006/main">
              <a:ext uri="{FF2B5EF4-FFF2-40B4-BE49-F238E27FC236}">
                <a16:creationId xmlns:a16="http://schemas.microsoft.com/office/drawing/2014/main" id="{CFC4045F-2D75-4D20-81A1-62F6E6DC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3812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研究洞察</a:t>
            </a:r>
          </a:p>
        </p:txBody>
      </p:sp>
      <p:sp>
        <p:nvSpPr>
          <p:cNvPr id="24" name="text-428">
            <a:extLst xmlns:a="http://schemas.openxmlformats.org/drawingml/2006/main">
              <a:ext uri="{FF2B5EF4-FFF2-40B4-BE49-F238E27FC236}">
                <a16:creationId xmlns:a16="http://schemas.microsoft.com/office/drawing/2014/main" id="{7EC4445D-F726-44B8-A56C-6B64C709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38450"/>
            <a:ext cx="16002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rPr>
              <a:t>为什么重要及替代解释</a:t>
            </a:r>
          </a:p>
        </p:txBody>
      </p:sp>
      <p:sp>
        <p:nvSpPr>
          <p:cNvPr id="25" name="shape-429">
            <a:extLst xmlns:a="http://schemas.openxmlformats.org/drawingml/2006/main">
              <a:ext uri="{FF2B5EF4-FFF2-40B4-BE49-F238E27FC236}">
                <a16:creationId xmlns:a16="http://schemas.microsoft.com/office/drawing/2014/main" id="{3BF0E627-9E2B-4137-A900-BD9168D7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26" name="shape-430">
            <a:extLst xmlns:a="http://schemas.openxmlformats.org/drawingml/2006/main">
              <a:ext uri="{FF2B5EF4-FFF2-40B4-BE49-F238E27FC236}">
                <a16:creationId xmlns:a16="http://schemas.microsoft.com/office/drawing/2014/main" id="{0B13B240-6ABB-4B9B-A77A-B916053B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943100" cy="2714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27" name="text-431">
            <a:extLst xmlns:a="http://schemas.openxmlformats.org/drawingml/2006/main">
              <a:ext uri="{FF2B5EF4-FFF2-40B4-BE49-F238E27FC236}">
                <a16:creationId xmlns:a16="http://schemas.microsoft.com/office/drawing/2014/main" id="{AB44BAC3-8124-4ACF-A3C9-6EB6794B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8" name="text-432">
            <a:extLst xmlns:a="http://schemas.openxmlformats.org/drawingml/2006/main">
              <a:ext uri="{FF2B5EF4-FFF2-40B4-BE49-F238E27FC236}">
                <a16:creationId xmlns:a16="http://schemas.microsoft.com/office/drawing/2014/main" id="{7275E410-353F-4BD8-9439-5871E90E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812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行动建议</a:t>
            </a:r>
          </a:p>
        </p:txBody>
      </p:sp>
      <p:sp>
        <p:nvSpPr>
          <p:cNvPr id="29" name="text-433">
            <a:extLst xmlns:a="http://schemas.openxmlformats.org/drawingml/2006/main">
              <a:ext uri="{FF2B5EF4-FFF2-40B4-BE49-F238E27FC236}">
                <a16:creationId xmlns:a16="http://schemas.microsoft.com/office/drawing/2014/main" id="{D436FF50-C586-45E4-AE7E-BAEE4718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38450"/>
            <a:ext cx="16002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rPr>
              <a:t>产品与投教方向及风险</a:t>
            </a:r>
          </a:p>
        </p:txBody>
      </p:sp>
      <p:sp>
        <p:nvSpPr>
          <p:cNvPr id="30" name="text-434">
            <a:extLst xmlns:a="http://schemas.openxmlformats.org/drawingml/2006/main">
              <a:ext uri="{FF2B5EF4-FFF2-40B4-BE49-F238E27FC236}">
                <a16:creationId xmlns:a16="http://schemas.microsoft.com/office/drawing/2014/main" id="{11CEEFF1-8671-464A-B1C9-4F398400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rPr>
              <a:t>任何数字回到题目与分母；任何解释区分证据和推断；任何建议说明边界与验证方式。</a:t>
            </a:r>
          </a:p>
        </p:txBody>
      </p:sp>
    </p:spTree>
    <p:extLst>
      <p:ext uri="{BB962C8B-B14F-4D97-AF65-F5344CB8AC3E}">
        <p14:creationId xmlns:p14="http://schemas.microsoft.com/office/powerpoint/2010/main" val="14167530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435">
            <a:extLst xmlns:a="http://schemas.openxmlformats.org/drawingml/2006/main">
              <a:ext uri="{FF2B5EF4-FFF2-40B4-BE49-F238E27FC236}">
                <a16:creationId xmlns:a16="http://schemas.microsoft.com/office/drawing/2014/main" id="{1081DFD8-890C-4F57-9711-DAFACB40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不绑定某个课题，也不绑定某个工具</a:t>
            </a:r>
          </a:p>
        </p:txBody>
      </p:sp>
      <p:sp>
        <p:nvSpPr>
          <p:cNvPr id="2" name="text-436">
            <a:extLst xmlns:a="http://schemas.openxmlformats.org/drawingml/2006/main">
              <a:ext uri="{FF2B5EF4-FFF2-40B4-BE49-F238E27FC236}">
                <a16:creationId xmlns:a16="http://schemas.microsoft.com/office/drawing/2014/main" id="{845303A6-C2E4-4D71-BD70-3B29CB49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6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可迁移的关键，是把研究方法与具体工具分开</a:t>
            </a:r>
          </a:p>
        </p:txBody>
      </p:sp>
      <p:sp>
        <p:nvSpPr>
          <p:cNvPr id="3" name="shape-437">
            <a:extLst xmlns:a="http://schemas.openxmlformats.org/drawingml/2006/main">
              <a:ext uri="{FF2B5EF4-FFF2-40B4-BE49-F238E27FC236}">
                <a16:creationId xmlns:a16="http://schemas.microsoft.com/office/drawing/2014/main" id="{00401925-790B-4D29-A147-110D381A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438">
            <a:extLst xmlns:a="http://schemas.openxmlformats.org/drawingml/2006/main">
              <a:ext uri="{FF2B5EF4-FFF2-40B4-BE49-F238E27FC236}">
                <a16:creationId xmlns:a16="http://schemas.microsoft.com/office/drawing/2014/main" id="{3D2180D2-D387-496E-BF0A-33EE6703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可迁移的实现原理</a:t>
            </a:r>
          </a:p>
        </p:txBody>
      </p:sp>
      <p:sp>
        <p:nvSpPr>
          <p:cNvPr id="5" name="text-439">
            <a:extLst xmlns:a="http://schemas.openxmlformats.org/drawingml/2006/main">
              <a:ext uri="{FF2B5EF4-FFF2-40B4-BE49-F238E27FC236}">
                <a16:creationId xmlns:a16="http://schemas.microsoft.com/office/drawing/2014/main" id="{D403B606-CF15-429A-8CAA-D250AFB5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6" name="shape-440">
            <a:extLst xmlns:a="http://schemas.openxmlformats.org/drawingml/2006/main">
              <a:ext uri="{FF2B5EF4-FFF2-40B4-BE49-F238E27FC236}">
                <a16:creationId xmlns:a16="http://schemas.microsoft.com/office/drawing/2014/main" id="{A6C115BB-E58F-4388-9D9A-432A4C65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028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7" name="text-441">
            <a:extLst xmlns:a="http://schemas.openxmlformats.org/drawingml/2006/main">
              <a:ext uri="{FF2B5EF4-FFF2-40B4-BE49-F238E27FC236}">
                <a16:creationId xmlns:a16="http://schemas.microsoft.com/office/drawing/2014/main" id="{BD40868B-2C93-45D1-A3C9-57DAB633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研究输入</a:t>
            </a:r>
          </a:p>
        </p:txBody>
      </p:sp>
      <p:sp>
        <p:nvSpPr>
          <p:cNvPr id="8" name="text-442">
            <a:extLst xmlns:a="http://schemas.openxmlformats.org/drawingml/2006/main">
              <a:ext uri="{FF2B5EF4-FFF2-40B4-BE49-F238E27FC236}">
                <a16:creationId xmlns:a16="http://schemas.microsoft.com/office/drawing/2014/main" id="{2DCD43B6-9BB3-4567-B021-F814F1A5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新基金、投资行为、服务体验、专题访谈</a:t>
            </a:r>
          </a:p>
        </p:txBody>
      </p:sp>
      <p:sp>
        <p:nvSpPr>
          <p:cNvPr id="9" name="text-443">
            <a:extLst xmlns:a="http://schemas.openxmlformats.org/drawingml/2006/main">
              <a:ext uri="{FF2B5EF4-FFF2-40B4-BE49-F238E27FC236}">
                <a16:creationId xmlns:a16="http://schemas.microsoft.com/office/drawing/2014/main" id="{81E0127D-AB28-4FD7-B19A-A7EFBCF9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686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shape-444">
            <a:extLst xmlns:a="http://schemas.openxmlformats.org/drawingml/2006/main">
              <a:ext uri="{FF2B5EF4-FFF2-40B4-BE49-F238E27FC236}">
                <a16:creationId xmlns:a16="http://schemas.microsoft.com/office/drawing/2014/main" id="{70C52CA2-9151-4375-B51E-8F37CC76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028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1" name="text-445">
            <a:extLst xmlns:a="http://schemas.openxmlformats.org/drawingml/2006/main">
              <a:ext uri="{FF2B5EF4-FFF2-40B4-BE49-F238E27FC236}">
                <a16:creationId xmlns:a16="http://schemas.microsoft.com/office/drawing/2014/main" id="{FAFE92E7-CC35-4F0B-9FEF-12203E9F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执行工具</a:t>
            </a:r>
          </a:p>
        </p:txBody>
      </p:sp>
      <p:sp>
        <p:nvSpPr>
          <p:cNvPr id="12" name="text-446">
            <a:extLst xmlns:a="http://schemas.openxmlformats.org/drawingml/2006/main">
              <a:ext uri="{FF2B5EF4-FFF2-40B4-BE49-F238E27FC236}">
                <a16:creationId xmlns:a16="http://schemas.microsoft.com/office/drawing/2014/main" id="{3DDB48A9-7127-4AD8-9D24-C3D18291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在线问卷、线下访谈、表格与访谈记录</a:t>
            </a:r>
          </a:p>
        </p:txBody>
      </p:sp>
      <p:sp>
        <p:nvSpPr>
          <p:cNvPr id="13" name="text-447">
            <a:extLst xmlns:a="http://schemas.openxmlformats.org/drawingml/2006/main">
              <a:ext uri="{FF2B5EF4-FFF2-40B4-BE49-F238E27FC236}">
                <a16:creationId xmlns:a16="http://schemas.microsoft.com/office/drawing/2014/main" id="{B1361622-F1A9-4720-B763-32EEEAC5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686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shape-448">
            <a:extLst xmlns:a="http://schemas.openxmlformats.org/drawingml/2006/main">
              <a:ext uri="{FF2B5EF4-FFF2-40B4-BE49-F238E27FC236}">
                <a16:creationId xmlns:a16="http://schemas.microsoft.com/office/drawing/2014/main" id="{0ADAFA17-1E29-41AE-9B42-C99D1CDE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3028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5" name="text-449">
            <a:extLst xmlns:a="http://schemas.openxmlformats.org/drawingml/2006/main">
              <a:ext uri="{FF2B5EF4-FFF2-40B4-BE49-F238E27FC236}">
                <a16:creationId xmlns:a16="http://schemas.microsoft.com/office/drawing/2014/main" id="{2A9EAFFC-678C-4663-B294-1ED95A82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学习材料</a:t>
            </a:r>
          </a:p>
        </p:txBody>
      </p:sp>
      <p:sp>
        <p:nvSpPr>
          <p:cNvPr id="16" name="text-450">
            <a:extLst xmlns:a="http://schemas.openxmlformats.org/drawingml/2006/main">
              <a:ext uri="{FF2B5EF4-FFF2-40B4-BE49-F238E27FC236}">
                <a16:creationId xmlns:a16="http://schemas.microsoft.com/office/drawing/2014/main" id="{AC72738D-3932-4B31-B8FC-B3145576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产品介绍、官方知识库、金融事实资料</a:t>
            </a:r>
          </a:p>
        </p:txBody>
      </p:sp>
      <p:sp>
        <p:nvSpPr>
          <p:cNvPr id="17" name="text-451">
            <a:extLst xmlns:a="http://schemas.openxmlformats.org/drawingml/2006/main">
              <a:ext uri="{FF2B5EF4-FFF2-40B4-BE49-F238E27FC236}">
                <a16:creationId xmlns:a16="http://schemas.microsoft.com/office/drawing/2014/main" id="{E8D039C5-0285-44AA-B879-77C530F8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2686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shape-452">
            <a:extLst xmlns:a="http://schemas.openxmlformats.org/drawingml/2006/main">
              <a:ext uri="{FF2B5EF4-FFF2-40B4-BE49-F238E27FC236}">
                <a16:creationId xmlns:a16="http://schemas.microsoft.com/office/drawing/2014/main" id="{DDFBE94C-9692-455A-B87D-88223A20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3028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9" name="text-453">
            <a:extLst xmlns:a="http://schemas.openxmlformats.org/drawingml/2006/main">
              <a:ext uri="{FF2B5EF4-FFF2-40B4-BE49-F238E27FC236}">
                <a16:creationId xmlns:a16="http://schemas.microsoft.com/office/drawing/2014/main" id="{4837E582-5362-4B9F-9E1C-DC262FC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输出形式</a:t>
            </a:r>
          </a:p>
        </p:txBody>
      </p:sp>
      <p:sp>
        <p:nvSpPr>
          <p:cNvPr id="20" name="text-454">
            <a:extLst xmlns:a="http://schemas.openxmlformats.org/drawingml/2006/main">
              <a:ext uri="{FF2B5EF4-FFF2-40B4-BE49-F238E27FC236}">
                <a16:creationId xmlns:a16="http://schemas.microsoft.com/office/drawing/2014/main" id="{B75436F1-0990-4FBC-8E7D-983ED677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Word、PDF、演示文稿或内部知识资产</a:t>
            </a:r>
          </a:p>
        </p:txBody>
      </p:sp>
      <p:sp>
        <p:nvSpPr>
          <p:cNvPr id="21" name="text-455">
            <a:extLst xmlns:a="http://schemas.openxmlformats.org/drawingml/2006/main">
              <a:ext uri="{FF2B5EF4-FFF2-40B4-BE49-F238E27FC236}">
                <a16:creationId xmlns:a16="http://schemas.microsoft.com/office/drawing/2014/main" id="{6ED4C6BB-8364-4C05-9E3E-B0E2362A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47950"/>
            <a:ext cx="2686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shape-456">
            <a:extLst xmlns:a="http://schemas.openxmlformats.org/drawingml/2006/main">
              <a:ext uri="{FF2B5EF4-FFF2-40B4-BE49-F238E27FC236}">
                <a16:creationId xmlns:a16="http://schemas.microsoft.com/office/drawing/2014/main" id="{320F9B56-5942-409E-9079-2B0DBE00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3028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3" name="text-457">
            <a:extLst xmlns:a="http://schemas.openxmlformats.org/drawingml/2006/main">
              <a:ext uri="{FF2B5EF4-FFF2-40B4-BE49-F238E27FC236}">
                <a16:creationId xmlns:a16="http://schemas.microsoft.com/office/drawing/2014/main" id="{8AE6996C-E819-4805-A59F-5BBEB428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623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分析重点</a:t>
            </a:r>
          </a:p>
        </p:txBody>
      </p:sp>
      <p:sp>
        <p:nvSpPr>
          <p:cNvPr id="24" name="text-458">
            <a:extLst xmlns:a="http://schemas.openxmlformats.org/drawingml/2006/main">
              <a:ext uri="{FF2B5EF4-FFF2-40B4-BE49-F238E27FC236}">
                <a16:creationId xmlns:a16="http://schemas.microsoft.com/office/drawing/2014/main" id="{26609DF0-5336-4189-B43A-B1E97807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099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总体态度、分群差异、产品与投教建议</a:t>
            </a:r>
          </a:p>
        </p:txBody>
      </p:sp>
      <p:sp>
        <p:nvSpPr>
          <p:cNvPr id="25" name="text-459">
            <a:extLst xmlns:a="http://schemas.openxmlformats.org/drawingml/2006/main">
              <a:ext uri="{FF2B5EF4-FFF2-40B4-BE49-F238E27FC236}">
                <a16:creationId xmlns:a16="http://schemas.microsoft.com/office/drawing/2014/main" id="{1F77874B-85A0-446C-969C-E233B147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67150"/>
            <a:ext cx="2686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shape-460">
            <a:extLst xmlns:a="http://schemas.openxmlformats.org/drawingml/2006/main">
              <a:ext uri="{FF2B5EF4-FFF2-40B4-BE49-F238E27FC236}">
                <a16:creationId xmlns:a16="http://schemas.microsoft.com/office/drawing/2014/main" id="{14F44659-09BF-4F2C-A107-DB730B47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48150"/>
            <a:ext cx="3028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7" name="text-461">
            <a:extLst xmlns:a="http://schemas.openxmlformats.org/drawingml/2006/main">
              <a:ext uri="{FF2B5EF4-FFF2-40B4-BE49-F238E27FC236}">
                <a16:creationId xmlns:a16="http://schemas.microsoft.com/office/drawing/2014/main" id="{546A666E-FF66-4C01-9C3D-4E9C46CC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815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领域知识</a:t>
            </a:r>
          </a:p>
        </p:txBody>
      </p:sp>
      <p:sp>
        <p:nvSpPr>
          <p:cNvPr id="28" name="text-462">
            <a:extLst xmlns:a="http://schemas.openxmlformats.org/drawingml/2006/main">
              <a:ext uri="{FF2B5EF4-FFF2-40B4-BE49-F238E27FC236}">
                <a16:creationId xmlns:a16="http://schemas.microsoft.com/office/drawing/2014/main" id="{34A5AE96-6D7D-4C89-9D8F-8AC9A5E3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291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FOF、指数基金、养老金融或其他领域</a:t>
            </a:r>
          </a:p>
        </p:txBody>
      </p:sp>
      <p:sp>
        <p:nvSpPr>
          <p:cNvPr id="29" name="text-463">
            <a:extLst xmlns:a="http://schemas.openxmlformats.org/drawingml/2006/main">
              <a:ext uri="{FF2B5EF4-FFF2-40B4-BE49-F238E27FC236}">
                <a16:creationId xmlns:a16="http://schemas.microsoft.com/office/drawing/2014/main" id="{85FB63DC-3B76-4A62-AFE6-AB7D7636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86350"/>
            <a:ext cx="2686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shape-464">
            <a:extLst xmlns:a="http://schemas.openxmlformats.org/drawingml/2006/main">
              <a:ext uri="{FF2B5EF4-FFF2-40B4-BE49-F238E27FC236}">
                <a16:creationId xmlns:a16="http://schemas.microsoft.com/office/drawing/2014/main" id="{2225FAAA-9105-4774-9F11-C6D0ADD2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4000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31" name="text-465">
            <a:extLst xmlns:a="http://schemas.openxmlformats.org/drawingml/2006/main">
              <a:ext uri="{FF2B5EF4-FFF2-40B4-BE49-F238E27FC236}">
                <a16:creationId xmlns:a16="http://schemas.microsoft.com/office/drawing/2014/main" id="{C69087D8-6E6F-4332-A2E9-8048F9A2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保持稳定的核心</a:t>
            </a:r>
          </a:p>
        </p:txBody>
      </p:sp>
      <p:sp>
        <p:nvSpPr>
          <p:cNvPr id="32" name="text-466">
            <a:extLst xmlns:a="http://schemas.openxmlformats.org/drawingml/2006/main">
              <a:ext uri="{FF2B5EF4-FFF2-40B4-BE49-F238E27FC236}">
                <a16:creationId xmlns:a16="http://schemas.microsoft.com/office/drawing/2014/main" id="{B1A4CEE6-920A-42A4-B7B7-759704B9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7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同一条研究路径</a:t>
            </a:r>
          </a:p>
        </p:txBody>
      </p:sp>
      <p:sp>
        <p:nvSpPr>
          <p:cNvPr id="33" name="text-467">
            <a:extLst xmlns:a="http://schemas.openxmlformats.org/drawingml/2006/main">
              <a:ext uri="{FF2B5EF4-FFF2-40B4-BE49-F238E27FC236}">
                <a16:creationId xmlns:a16="http://schemas.microsoft.com/office/drawing/2014/main" id="{549C4562-C3D5-4453-A84F-69A33360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71875"/>
            <a:ext cx="316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需求 → 问题 → 方案 → 工具</a:t>
            </a:r>
          </a:p>
          <a:p xmlns:a="http://schemas.openxmlformats.org/drawingml/2006/main">
            <a:pPr algn="ctr">
              <a:defRPr sz="17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→ 执行 → 洞察 → 报告 → 资产</a:t>
            </a:r>
          </a:p>
        </p:txBody>
      </p:sp>
      <p:sp>
        <p:nvSpPr>
          <p:cNvPr id="34" name="text-468">
            <a:extLst xmlns:a="http://schemas.openxmlformats.org/drawingml/2006/main">
              <a:ext uri="{FF2B5EF4-FFF2-40B4-BE49-F238E27FC236}">
                <a16:creationId xmlns:a16="http://schemas.microsoft.com/office/drawing/2014/main" id="{6F610177-62E1-4571-BFC5-A9FA6210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529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5C3E"/>
                </a:solidFill>
                <a:latin typeface="Microsoft YaHei"/>
                <a:ea typeface="Microsoft YaHei"/>
                <a:cs typeface="Microsoft YaHei"/>
              </a:rPr>
              <a:t>专家分工、数据口径、证据追溯与人工审核不变</a:t>
            </a:r>
          </a:p>
        </p:txBody>
      </p:sp>
      <p:sp>
        <p:nvSpPr>
          <p:cNvPr id="35" name="text-469">
            <a:extLst xmlns:a="http://schemas.openxmlformats.org/drawingml/2006/main">
              <a:ext uri="{FF2B5EF4-FFF2-40B4-BE49-F238E27FC236}">
                <a16:creationId xmlns:a16="http://schemas.microsoft.com/office/drawing/2014/main" id="{23E81D5A-1D19-4B7C-A89F-95D593B8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rPr>
              <a:t>迁移新课题时，只需替换业务背景、目标人群和领域知识。</a:t>
            </a:r>
          </a:p>
        </p:txBody>
      </p:sp>
    </p:spTree>
    <p:extLst>
      <p:ext uri="{BB962C8B-B14F-4D97-AF65-F5344CB8AC3E}">
        <p14:creationId xmlns:p14="http://schemas.microsoft.com/office/powerpoint/2010/main" val="7859601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ext-470">
            <a:extLst xmlns:a="http://schemas.openxmlformats.org/drawingml/2006/main">
              <a:ext uri="{FF2B5EF4-FFF2-40B4-BE49-F238E27FC236}">
                <a16:creationId xmlns:a16="http://schemas.microsoft.com/office/drawing/2014/main" id="{ABAE9D03-19E5-4BF5-9AC4-2695F782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真实运行案例 · 沿同一条路径展示</a:t>
            </a:r>
          </a:p>
        </p:txBody>
      </p:sp>
      <p:sp>
        <p:nvSpPr>
          <p:cNvPr id="2" name="text-471">
            <a:extLst xmlns:a="http://schemas.openxmlformats.org/drawingml/2006/main">
              <a:ext uri="{FF2B5EF4-FFF2-40B4-BE49-F238E27FC236}">
                <a16:creationId xmlns:a16="http://schemas.microsoft.com/office/drawing/2014/main" id="{BDD28EDE-C75F-4B82-9E54-4F468E3E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AF9F5"/>
                </a:solidFill>
                <a:latin typeface="SimSun"/>
                <a:ea typeface="SimSun"/>
                <a:cs typeface="SimSun"/>
              </a:defRPr>
            </a:pPr>
            <a:r>
              <a:rPr sz="3600" b="0">
                <a:solidFill>
                  <a:srgbClr val="FAF9F5"/>
                </a:solidFill>
                <a:latin typeface="SimSun"/>
                <a:ea typeface="SimSun"/>
                <a:cs typeface="SimSun"/>
              </a:rPr>
              <a:t>养老目标基金研究如何走完整个工作流</a:t>
            </a:r>
          </a:p>
        </p:txBody>
      </p:sp>
      <p:sp>
        <p:nvSpPr>
          <p:cNvPr id="3" name="shape-472">
            <a:extLst xmlns:a="http://schemas.openxmlformats.org/drawingml/2006/main">
              <a:ext uri="{FF2B5EF4-FFF2-40B4-BE49-F238E27FC236}">
                <a16:creationId xmlns:a16="http://schemas.microsoft.com/office/drawing/2014/main" id="{149EB641-2839-4B67-B510-4DCE432B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D3D3A"/>
            </a:solidFill>
            <a:prstDash val="solid"/>
          </a:ln>
        </p:spPr>
      </p:sp>
      <p:sp>
        <p:nvSpPr>
          <p:cNvPr id="4" name="text-473">
            <a:extLst xmlns:a="http://schemas.openxmlformats.org/drawingml/2006/main">
              <a:ext uri="{FF2B5EF4-FFF2-40B4-BE49-F238E27FC236}">
                <a16:creationId xmlns:a16="http://schemas.microsoft.com/office/drawing/2014/main" id="{8DF48841-22BA-4DB9-8FD7-2D380FFD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真实案例 · 全路径运行</a:t>
            </a:r>
          </a:p>
        </p:txBody>
      </p:sp>
      <p:sp>
        <p:nvSpPr>
          <p:cNvPr id="5" name="text-474">
            <a:extLst xmlns:a="http://schemas.openxmlformats.org/drawingml/2006/main">
              <a:ext uri="{FF2B5EF4-FFF2-40B4-BE49-F238E27FC236}">
                <a16:creationId xmlns:a16="http://schemas.microsoft.com/office/drawing/2014/main" id="{7E4350CD-2BB3-449E-9C99-D7285492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6" name="shape-475">
            <a:extLst xmlns:a="http://schemas.openxmlformats.org/drawingml/2006/main">
              <a:ext uri="{FF2B5EF4-FFF2-40B4-BE49-F238E27FC236}">
                <a16:creationId xmlns:a16="http://schemas.microsoft.com/office/drawing/2014/main" id="{DD205B5C-2041-42AE-89D2-7BA619A4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7" name="text-476">
            <a:extLst xmlns:a="http://schemas.openxmlformats.org/drawingml/2006/main">
              <a:ext uri="{FF2B5EF4-FFF2-40B4-BE49-F238E27FC236}">
                <a16:creationId xmlns:a16="http://schemas.microsoft.com/office/drawing/2014/main" id="{EDDC7CF5-4AC3-4478-813D-095BEAAF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-477">
            <a:extLst xmlns:a="http://schemas.openxmlformats.org/drawingml/2006/main">
              <a:ext uri="{FF2B5EF4-FFF2-40B4-BE49-F238E27FC236}">
                <a16:creationId xmlns:a16="http://schemas.microsoft.com/office/drawing/2014/main" id="{E888A9E3-A621-4483-A490-11029B44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明确背景</a:t>
            </a:r>
          </a:p>
        </p:txBody>
      </p:sp>
      <p:sp>
        <p:nvSpPr>
          <p:cNvPr id="9" name="text-478">
            <a:extLst xmlns:a="http://schemas.openxmlformats.org/drawingml/2006/main">
              <a:ext uri="{FF2B5EF4-FFF2-40B4-BE49-F238E27FC236}">
                <a16:creationId xmlns:a16="http://schemas.microsoft.com/office/drawing/2014/main" id="{8D4629E2-E041-4CE5-975A-209D26E5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提出研究方向</a:t>
            </a:r>
          </a:p>
        </p:txBody>
      </p:sp>
      <p:sp>
        <p:nvSpPr>
          <p:cNvPr id="10" name="shape-479">
            <a:extLst xmlns:a="http://schemas.openxmlformats.org/drawingml/2006/main">
              <a:ext uri="{FF2B5EF4-FFF2-40B4-BE49-F238E27FC236}">
                <a16:creationId xmlns:a16="http://schemas.microsoft.com/office/drawing/2014/main" id="{A0C0DD2F-A165-45FA-BE7C-B51CA111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050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11" name="shape-480">
            <a:extLst xmlns:a="http://schemas.openxmlformats.org/drawingml/2006/main">
              <a:ext uri="{FF2B5EF4-FFF2-40B4-BE49-F238E27FC236}">
                <a16:creationId xmlns:a16="http://schemas.microsoft.com/office/drawing/2014/main" id="{2BCC2D01-B198-47C3-9C31-68ABDD8E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9545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2" name="text-481">
            <a:extLst xmlns:a="http://schemas.openxmlformats.org/drawingml/2006/main">
              <a:ext uri="{FF2B5EF4-FFF2-40B4-BE49-F238E27FC236}">
                <a16:creationId xmlns:a16="http://schemas.microsoft.com/office/drawing/2014/main" id="{7DDE2452-ED63-46C1-AADA-5C564926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482">
            <a:extLst xmlns:a="http://schemas.openxmlformats.org/drawingml/2006/main">
              <a:ext uri="{FF2B5EF4-FFF2-40B4-BE49-F238E27FC236}">
                <a16:creationId xmlns:a16="http://schemas.microsoft.com/office/drawing/2014/main" id="{BC9BC950-AF15-4AC1-9193-2AD0C139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修正前提</a:t>
            </a:r>
          </a:p>
        </p:txBody>
      </p:sp>
      <p:sp>
        <p:nvSpPr>
          <p:cNvPr id="14" name="text-483">
            <a:extLst xmlns:a="http://schemas.openxmlformats.org/drawingml/2006/main">
              <a:ext uri="{FF2B5EF4-FFF2-40B4-BE49-F238E27FC236}">
                <a16:creationId xmlns:a16="http://schemas.microsoft.com/office/drawing/2014/main" id="{897785FE-B9F8-4C45-9ACB-27545E23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聚焦实际购买者</a:t>
            </a:r>
          </a:p>
        </p:txBody>
      </p:sp>
      <p:sp>
        <p:nvSpPr>
          <p:cNvPr id="15" name="shape-484">
            <a:extLst xmlns:a="http://schemas.openxmlformats.org/drawingml/2006/main">
              <a:ext uri="{FF2B5EF4-FFF2-40B4-BE49-F238E27FC236}">
                <a16:creationId xmlns:a16="http://schemas.microsoft.com/office/drawing/2014/main" id="{A6F5A1A8-A8C8-41AC-ABF2-FA540890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050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16" name="shape-485">
            <a:extLst xmlns:a="http://schemas.openxmlformats.org/drawingml/2006/main">
              <a:ext uri="{FF2B5EF4-FFF2-40B4-BE49-F238E27FC236}">
                <a16:creationId xmlns:a16="http://schemas.microsoft.com/office/drawing/2014/main" id="{1601A09F-8F89-4591-A7E0-294A432E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7" name="text-486">
            <a:extLst xmlns:a="http://schemas.openxmlformats.org/drawingml/2006/main">
              <a:ext uri="{FF2B5EF4-FFF2-40B4-BE49-F238E27FC236}">
                <a16:creationId xmlns:a16="http://schemas.microsoft.com/office/drawing/2014/main" id="{6C300CFA-1EE3-46A7-8C02-62C88524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8" name="text-487">
            <a:extLst xmlns:a="http://schemas.openxmlformats.org/drawingml/2006/main">
              <a:ext uri="{FF2B5EF4-FFF2-40B4-BE49-F238E27FC236}">
                <a16:creationId xmlns:a16="http://schemas.microsoft.com/office/drawing/2014/main" id="{165B71AE-CFDD-4BEC-A883-91C14EAA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57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确定方法</a:t>
            </a:r>
          </a:p>
        </p:txBody>
      </p:sp>
      <p:sp>
        <p:nvSpPr>
          <p:cNvPr id="19" name="text-488">
            <a:extLst xmlns:a="http://schemas.openxmlformats.org/drawingml/2006/main">
              <a:ext uri="{FF2B5EF4-FFF2-40B4-BE49-F238E27FC236}">
                <a16:creationId xmlns:a16="http://schemas.microsoft.com/office/drawing/2014/main" id="{70AF8A1B-1A5B-4D30-BAEF-CFF232D8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采用结构化问卷</a:t>
            </a:r>
          </a:p>
        </p:txBody>
      </p:sp>
      <p:sp>
        <p:nvSpPr>
          <p:cNvPr id="20" name="shape-489">
            <a:extLst xmlns:a="http://schemas.openxmlformats.org/drawingml/2006/main">
              <a:ext uri="{FF2B5EF4-FFF2-40B4-BE49-F238E27FC236}">
                <a16:creationId xmlns:a16="http://schemas.microsoft.com/office/drawing/2014/main" id="{BB23AB37-6805-45FF-9D4B-5B1C227A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21" name="shape-490">
            <a:extLst xmlns:a="http://schemas.openxmlformats.org/drawingml/2006/main">
              <a:ext uri="{FF2B5EF4-FFF2-40B4-BE49-F238E27FC236}">
                <a16:creationId xmlns:a16="http://schemas.microsoft.com/office/drawing/2014/main" id="{B1DB69A8-A380-469C-8BBE-3528BFCB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9545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2" name="text-491">
            <a:extLst xmlns:a="http://schemas.openxmlformats.org/drawingml/2006/main">
              <a:ext uri="{FF2B5EF4-FFF2-40B4-BE49-F238E27FC236}">
                <a16:creationId xmlns:a16="http://schemas.microsoft.com/office/drawing/2014/main" id="{2DF6BD3E-F97A-46F8-83D9-330019BE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9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3" name="text-492">
            <a:extLst xmlns:a="http://schemas.openxmlformats.org/drawingml/2006/main">
              <a:ext uri="{FF2B5EF4-FFF2-40B4-BE49-F238E27FC236}">
                <a16:creationId xmlns:a16="http://schemas.microsoft.com/office/drawing/2014/main" id="{0952A38D-88F3-4249-95D3-2C64FDB7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形成问卷</a:t>
            </a:r>
          </a:p>
        </p:txBody>
      </p:sp>
      <p:sp>
        <p:nvSpPr>
          <p:cNvPr id="24" name="text-493">
            <a:extLst xmlns:a="http://schemas.openxmlformats.org/drawingml/2006/main">
              <a:ext uri="{FF2B5EF4-FFF2-40B4-BE49-F238E27FC236}">
                <a16:creationId xmlns:a16="http://schemas.microsoft.com/office/drawing/2014/main" id="{B9A32D42-F3AB-4F8F-933C-FF149BD0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38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35项题目与口径</a:t>
            </a:r>
          </a:p>
        </p:txBody>
      </p:sp>
      <p:sp>
        <p:nvSpPr>
          <p:cNvPr id="25" name="shape-494">
            <a:extLst xmlns:a="http://schemas.openxmlformats.org/drawingml/2006/main">
              <a:ext uri="{FF2B5EF4-FFF2-40B4-BE49-F238E27FC236}">
                <a16:creationId xmlns:a16="http://schemas.microsoft.com/office/drawing/2014/main" id="{790B8299-6254-40D2-9F25-2C1B3562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495">
            <a:extLst xmlns:a="http://schemas.openxmlformats.org/drawingml/2006/main">
              <a:ext uri="{FF2B5EF4-FFF2-40B4-BE49-F238E27FC236}">
                <a16:creationId xmlns:a16="http://schemas.microsoft.com/office/drawing/2014/main" id="{8625AC73-1B8E-4D53-A17B-D02113C4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7" name="text-496">
            <a:extLst xmlns:a="http://schemas.openxmlformats.org/drawingml/2006/main">
              <a:ext uri="{FF2B5EF4-FFF2-40B4-BE49-F238E27FC236}">
                <a16:creationId xmlns:a16="http://schemas.microsoft.com/office/drawing/2014/main" id="{8D3B692F-249D-47DA-903F-E83A09BD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发行回收</a:t>
            </a:r>
          </a:p>
        </p:txBody>
      </p:sp>
      <p:sp>
        <p:nvSpPr>
          <p:cNvPr id="28" name="text-497">
            <a:extLst xmlns:a="http://schemas.openxmlformats.org/drawingml/2006/main">
              <a:ext uri="{FF2B5EF4-FFF2-40B4-BE49-F238E27FC236}">
                <a16:creationId xmlns:a16="http://schemas.microsoft.com/office/drawing/2014/main" id="{2759787E-2440-425A-98C0-A814F4DA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200份答卷</a:t>
            </a:r>
          </a:p>
        </p:txBody>
      </p:sp>
      <p:sp>
        <p:nvSpPr>
          <p:cNvPr id="29" name="shape-498">
            <a:extLst xmlns:a="http://schemas.openxmlformats.org/drawingml/2006/main">
              <a:ext uri="{FF2B5EF4-FFF2-40B4-BE49-F238E27FC236}">
                <a16:creationId xmlns:a16="http://schemas.microsoft.com/office/drawing/2014/main" id="{E9C8A78E-F7BF-427F-99E0-34D5FB58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2291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30" name="shape-499">
            <a:extLst xmlns:a="http://schemas.openxmlformats.org/drawingml/2006/main">
              <a:ext uri="{FF2B5EF4-FFF2-40B4-BE49-F238E27FC236}">
                <a16:creationId xmlns:a16="http://schemas.microsoft.com/office/drawing/2014/main" id="{BCEBB4A4-DE40-49B0-9A09-B92330E7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1950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31" name="text-500">
            <a:extLst xmlns:a="http://schemas.openxmlformats.org/drawingml/2006/main">
              <a:ext uri="{FF2B5EF4-FFF2-40B4-BE49-F238E27FC236}">
                <a16:creationId xmlns:a16="http://schemas.microsoft.com/office/drawing/2014/main" id="{C79D6FC7-5D0A-47D2-BD7A-7BF8806D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2" name="text-501">
            <a:extLst xmlns:a="http://schemas.openxmlformats.org/drawingml/2006/main">
              <a:ext uri="{FF2B5EF4-FFF2-40B4-BE49-F238E27FC236}">
                <a16:creationId xmlns:a16="http://schemas.microsoft.com/office/drawing/2014/main" id="{A2B64617-5ADB-4123-8E25-5E5108A1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81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总体与分群</a:t>
            </a:r>
          </a:p>
        </p:txBody>
      </p:sp>
      <p:sp>
        <p:nvSpPr>
          <p:cNvPr id="33" name="text-502">
            <a:extLst xmlns:a="http://schemas.openxmlformats.org/drawingml/2006/main">
              <a:ext uri="{FF2B5EF4-FFF2-40B4-BE49-F238E27FC236}">
                <a16:creationId xmlns:a16="http://schemas.microsoft.com/office/drawing/2014/main" id="{0D414F8C-7C8E-488C-9FEC-FCBB929F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形成产品与投教建议</a:t>
            </a:r>
          </a:p>
        </p:txBody>
      </p:sp>
      <p:sp>
        <p:nvSpPr>
          <p:cNvPr id="34" name="shape-503">
            <a:extLst xmlns:a="http://schemas.openxmlformats.org/drawingml/2006/main">
              <a:ext uri="{FF2B5EF4-FFF2-40B4-BE49-F238E27FC236}">
                <a16:creationId xmlns:a16="http://schemas.microsoft.com/office/drawing/2014/main" id="{A63B1CB2-13B4-4E17-BF3B-2E5FA21B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2291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35" name="shape-504">
            <a:extLst xmlns:a="http://schemas.openxmlformats.org/drawingml/2006/main">
              <a:ext uri="{FF2B5EF4-FFF2-40B4-BE49-F238E27FC236}">
                <a16:creationId xmlns:a16="http://schemas.microsoft.com/office/drawing/2014/main" id="{DD224E03-2920-44FD-ADF3-73D27DDB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36" name="text-505">
            <a:extLst xmlns:a="http://schemas.openxmlformats.org/drawingml/2006/main">
              <a:ext uri="{FF2B5EF4-FFF2-40B4-BE49-F238E27FC236}">
                <a16:creationId xmlns:a16="http://schemas.microsoft.com/office/drawing/2014/main" id="{E23903C2-0E81-4B8E-9417-3128EE64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37" name="text-506">
            <a:extLst xmlns:a="http://schemas.openxmlformats.org/drawingml/2006/main">
              <a:ext uri="{FF2B5EF4-FFF2-40B4-BE49-F238E27FC236}">
                <a16:creationId xmlns:a16="http://schemas.microsoft.com/office/drawing/2014/main" id="{ECC1FE28-81C3-425C-A995-1FD03A8D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81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管理层表达</a:t>
            </a:r>
          </a:p>
        </p:txBody>
      </p:sp>
      <p:sp>
        <p:nvSpPr>
          <p:cNvPr id="38" name="text-507">
            <a:extLst xmlns:a="http://schemas.openxmlformats.org/drawingml/2006/main">
              <a:ext uri="{FF2B5EF4-FFF2-40B4-BE49-F238E27FC236}">
                <a16:creationId xmlns:a16="http://schemas.microsoft.com/office/drawing/2014/main" id="{F6E081ED-F3F6-4895-A855-951ED5F4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生成19页报告</a:t>
            </a:r>
          </a:p>
        </p:txBody>
      </p:sp>
      <p:sp>
        <p:nvSpPr>
          <p:cNvPr id="39" name="shape-508">
            <a:extLst xmlns:a="http://schemas.openxmlformats.org/drawingml/2006/main">
              <a:ext uri="{FF2B5EF4-FFF2-40B4-BE49-F238E27FC236}">
                <a16:creationId xmlns:a16="http://schemas.microsoft.com/office/drawing/2014/main" id="{6B336386-5567-4B70-9BFD-1F5308AC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291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D97757"/>
            </a:solidFill>
            <a:prstDash val="solid"/>
          </a:ln>
        </p:spPr>
      </p:sp>
      <p:sp>
        <p:nvSpPr>
          <p:cNvPr id="40" name="shape-509">
            <a:extLst xmlns:a="http://schemas.openxmlformats.org/drawingml/2006/main">
              <a:ext uri="{FF2B5EF4-FFF2-40B4-BE49-F238E27FC236}">
                <a16:creationId xmlns:a16="http://schemas.microsoft.com/office/drawing/2014/main" id="{F6D94613-7F9A-462D-8FDD-9956D933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19500"/>
            <a:ext cx="23622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1" name="text-510">
            <a:extLst xmlns:a="http://schemas.openxmlformats.org/drawingml/2006/main">
              <a:ext uri="{FF2B5EF4-FFF2-40B4-BE49-F238E27FC236}">
                <a16:creationId xmlns:a16="http://schemas.microsoft.com/office/drawing/2014/main" id="{00F60346-DD63-4F99-8F1A-C5DC1EBA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42" name="text-511">
            <a:extLst xmlns:a="http://schemas.openxmlformats.org/drawingml/2006/main">
              <a:ext uri="{FF2B5EF4-FFF2-40B4-BE49-F238E27FC236}">
                <a16:creationId xmlns:a16="http://schemas.microsoft.com/office/drawing/2014/main" id="{6F195F67-115F-4A74-A6D9-6051AC73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81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完整留存</a:t>
            </a:r>
          </a:p>
        </p:txBody>
      </p:sp>
      <p:sp>
        <p:nvSpPr>
          <p:cNvPr id="43" name="text-512">
            <a:extLst xmlns:a="http://schemas.openxmlformats.org/drawingml/2006/main">
              <a:ext uri="{FF2B5EF4-FFF2-40B4-BE49-F238E27FC236}">
                <a16:creationId xmlns:a16="http://schemas.microsoft.com/office/drawing/2014/main" id="{3A34AF51-B67C-4AF1-92B5-0EDEC08B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供后续课题复用</a:t>
            </a:r>
          </a:p>
        </p:txBody>
      </p:sp>
      <p:sp>
        <p:nvSpPr>
          <p:cNvPr id="44" name="text-513">
            <a:extLst xmlns:a="http://schemas.openxmlformats.org/drawingml/2006/main">
              <a:ext uri="{FF2B5EF4-FFF2-40B4-BE49-F238E27FC236}">
                <a16:creationId xmlns:a16="http://schemas.microsoft.com/office/drawing/2014/main" id="{2E0B5037-37AE-44CF-A542-3D8E0D53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rPr>
              <a:t>完整闭环：研究问题 → 35项问卷 → 200份数据 → 分群洞察 → 19页正式报告</a:t>
            </a:r>
          </a:p>
        </p:txBody>
      </p:sp>
    </p:spTree>
    <p:extLst>
      <p:ext uri="{BB962C8B-B14F-4D97-AF65-F5344CB8AC3E}">
        <p14:creationId xmlns:p14="http://schemas.microsoft.com/office/powerpoint/2010/main" val="15611069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514">
            <a:extLst xmlns:a="http://schemas.openxmlformats.org/drawingml/2006/main">
              <a:ext uri="{FF2B5EF4-FFF2-40B4-BE49-F238E27FC236}">
                <a16:creationId xmlns:a16="http://schemas.microsoft.com/office/drawing/2014/main" id="{5A4DFF4E-FBB4-4DA1-AB95-BF050F0A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真实案例 · 从数据走到行动</a:t>
            </a:r>
          </a:p>
        </p:txBody>
      </p:sp>
      <p:sp>
        <p:nvSpPr>
          <p:cNvPr id="2" name="text-515">
            <a:extLst xmlns:a="http://schemas.openxmlformats.org/drawingml/2006/main">
              <a:ext uri="{FF2B5EF4-FFF2-40B4-BE49-F238E27FC236}">
                <a16:creationId xmlns:a16="http://schemas.microsoft.com/office/drawing/2014/main" id="{3FEFD3E4-F686-4664-A51D-ABF5F9EC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工作流回答了用户如何理解、如何选择、持有后需要什么</a:t>
            </a:r>
          </a:p>
        </p:txBody>
      </p:sp>
      <p:sp>
        <p:nvSpPr>
          <p:cNvPr id="3" name="shape-516">
            <a:extLst xmlns:a="http://schemas.openxmlformats.org/drawingml/2006/main">
              <a:ext uri="{FF2B5EF4-FFF2-40B4-BE49-F238E27FC236}">
                <a16:creationId xmlns:a16="http://schemas.microsoft.com/office/drawing/2014/main" id="{E24CE2AE-9208-4BD8-9EC8-E77C487C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517">
            <a:extLst xmlns:a="http://schemas.openxmlformats.org/drawingml/2006/main">
              <a:ext uri="{FF2B5EF4-FFF2-40B4-BE49-F238E27FC236}">
                <a16:creationId xmlns:a16="http://schemas.microsoft.com/office/drawing/2014/main" id="{12936BA2-657E-4509-9572-A2C306D3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真实数据 → 洞察 → 行动</a:t>
            </a:r>
          </a:p>
        </p:txBody>
      </p:sp>
      <p:sp>
        <p:nvSpPr>
          <p:cNvPr id="5" name="text-518">
            <a:extLst xmlns:a="http://schemas.openxmlformats.org/drawingml/2006/main">
              <a:ext uri="{FF2B5EF4-FFF2-40B4-BE49-F238E27FC236}">
                <a16:creationId xmlns:a16="http://schemas.microsoft.com/office/drawing/2014/main" id="{0E404806-265E-4F93-9E7D-C5975A45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6286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d7e44552a44dec"/>
          </a:graphicData>
        </a:graphic>
      </p:graphicFrame>
      <p:sp>
        <p:nvSpPr>
          <p:cNvPr id="7" name="shape-519">
            <a:extLst xmlns:a="http://schemas.openxmlformats.org/drawingml/2006/main">
              <a:ext uri="{FF2B5EF4-FFF2-40B4-BE49-F238E27FC236}">
                <a16:creationId xmlns:a16="http://schemas.microsoft.com/office/drawing/2014/main" id="{257CED4C-6AC9-4EB5-9ACF-A1A36BAB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8" name="text-520">
            <a:extLst xmlns:a="http://schemas.openxmlformats.org/drawingml/2006/main">
              <a:ext uri="{FF2B5EF4-FFF2-40B4-BE49-F238E27FC236}">
                <a16:creationId xmlns:a16="http://schemas.microsoft.com/office/drawing/2014/main" id="{0DDAC63B-6F0F-440A-93F4-F63C29BB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24050"/>
            <a:ext cx="3829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洞察 01</a:t>
            </a:r>
          </a:p>
        </p:txBody>
      </p:sp>
      <p:sp>
        <p:nvSpPr>
          <p:cNvPr id="9" name="text-521">
            <a:extLst xmlns:a="http://schemas.openxmlformats.org/drawingml/2006/main">
              <a:ext uri="{FF2B5EF4-FFF2-40B4-BE49-F238E27FC236}">
                <a16:creationId xmlns:a16="http://schemas.microsoft.com/office/drawing/2014/main" id="{63FCC238-4048-489C-B2BC-C2F68067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717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购买不等于理解</a:t>
            </a:r>
          </a:p>
        </p:txBody>
      </p:sp>
      <p:sp>
        <p:nvSpPr>
          <p:cNvPr id="10" name="text-522">
            <a:extLst xmlns:a="http://schemas.openxmlformats.org/drawingml/2006/main">
              <a:ext uri="{FF2B5EF4-FFF2-40B4-BE49-F238E27FC236}">
                <a16:creationId xmlns:a16="http://schemas.microsoft.com/office/drawing/2014/main" id="{EBC9C634-8877-45B0-B93A-173B898D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28900"/>
            <a:ext cx="38290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产品类型、下滑曲线与风险边界尚未形成稳定判断链。</a:t>
            </a:r>
          </a:p>
        </p:txBody>
      </p:sp>
      <p:sp>
        <p:nvSpPr>
          <p:cNvPr id="11" name="shape-523">
            <a:extLst xmlns:a="http://schemas.openxmlformats.org/drawingml/2006/main">
              <a:ext uri="{FF2B5EF4-FFF2-40B4-BE49-F238E27FC236}">
                <a16:creationId xmlns:a16="http://schemas.microsoft.com/office/drawing/2014/main" id="{A884729B-83E3-438B-B9BB-5C64DDC1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908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2" name="text-524">
            <a:extLst xmlns:a="http://schemas.openxmlformats.org/drawingml/2006/main">
              <a:ext uri="{FF2B5EF4-FFF2-40B4-BE49-F238E27FC236}">
                <a16:creationId xmlns:a16="http://schemas.microsoft.com/office/drawing/2014/main" id="{06053F27-D4C2-403D-88EB-FD117014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24200"/>
            <a:ext cx="3829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洞察 02</a:t>
            </a:r>
          </a:p>
        </p:txBody>
      </p:sp>
      <p:sp>
        <p:nvSpPr>
          <p:cNvPr id="13" name="text-525">
            <a:extLst xmlns:a="http://schemas.openxmlformats.org/drawingml/2006/main">
              <a:ext uri="{FF2B5EF4-FFF2-40B4-BE49-F238E27FC236}">
                <a16:creationId xmlns:a16="http://schemas.microsoft.com/office/drawing/2014/main" id="{CAACB912-FE9D-4C33-A738-3870306B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718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入口信息不等于判断信息</a:t>
            </a:r>
          </a:p>
        </p:txBody>
      </p:sp>
      <p:sp>
        <p:nvSpPr>
          <p:cNvPr id="14" name="text-526">
            <a:extLst xmlns:a="http://schemas.openxmlformats.org/drawingml/2006/main">
              <a:ext uri="{FF2B5EF4-FFF2-40B4-BE49-F238E27FC236}">
                <a16:creationId xmlns:a16="http://schemas.microsoft.com/office/drawing/2014/main" id="{9CF3AF9B-0799-44C3-BC55-2D22D031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29050"/>
            <a:ext cx="38290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品牌和业绩吸引注意，退休年份与风险类型更接近决策依据。</a:t>
            </a:r>
          </a:p>
        </p:txBody>
      </p:sp>
      <p:sp>
        <p:nvSpPr>
          <p:cNvPr id="15" name="shape-527">
            <a:extLst xmlns:a="http://schemas.openxmlformats.org/drawingml/2006/main">
              <a:ext uri="{FF2B5EF4-FFF2-40B4-BE49-F238E27FC236}">
                <a16:creationId xmlns:a16="http://schemas.microsoft.com/office/drawing/2014/main" id="{E1AB783A-C40C-4A31-AAAF-07147FCB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9100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6" name="text-528">
            <a:extLst xmlns:a="http://schemas.openxmlformats.org/drawingml/2006/main">
              <a:ext uri="{FF2B5EF4-FFF2-40B4-BE49-F238E27FC236}">
                <a16:creationId xmlns:a16="http://schemas.microsoft.com/office/drawing/2014/main" id="{2656E2EA-C75A-488A-AC96-F58EF212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24350"/>
            <a:ext cx="3829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洞察 03</a:t>
            </a:r>
          </a:p>
        </p:txBody>
      </p:sp>
      <p:sp>
        <p:nvSpPr>
          <p:cNvPr id="17" name="text-529">
            <a:extLst xmlns:a="http://schemas.openxmlformats.org/drawingml/2006/main">
              <a:ext uri="{FF2B5EF4-FFF2-40B4-BE49-F238E27FC236}">
                <a16:creationId xmlns:a16="http://schemas.microsoft.com/office/drawing/2014/main" id="{F20C59F1-4A50-4828-903F-3C17A7A3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720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投教应进入持有期</a:t>
            </a:r>
          </a:p>
        </p:txBody>
      </p:sp>
      <p:sp>
        <p:nvSpPr>
          <p:cNvPr id="18" name="text-530">
            <a:extLst xmlns:a="http://schemas.openxmlformats.org/drawingml/2006/main">
              <a:ext uri="{FF2B5EF4-FFF2-40B4-BE49-F238E27FC236}">
                <a16:creationId xmlns:a16="http://schemas.microsoft.com/office/drawing/2014/main" id="{B570AC36-23E7-4994-BA2E-FD92D897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029200"/>
            <a:ext cx="38290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当前配置、未来变化和调整原因是持续解释需求。</a:t>
            </a:r>
          </a:p>
        </p:txBody>
      </p:sp>
      <p:sp>
        <p:nvSpPr>
          <p:cNvPr id="19" name="text-531">
            <a:extLst xmlns:a="http://schemas.openxmlformats.org/drawingml/2006/main">
              <a:ext uri="{FF2B5EF4-FFF2-40B4-BE49-F238E27FC236}">
                <a16:creationId xmlns:a16="http://schemas.microsoft.com/office/drawing/2014/main" id="{A5B83E56-3069-4E00-A470-5ACF7F96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rPr>
              <a:t>业务输出：重构购买前信息层级，并在首次购买、配置调整和市场波动时提供场景化投教。</a:t>
            </a:r>
          </a:p>
        </p:txBody>
      </p:sp>
    </p:spTree>
    <p:extLst>
      <p:ext uri="{BB962C8B-B14F-4D97-AF65-F5344CB8AC3E}">
        <p14:creationId xmlns:p14="http://schemas.microsoft.com/office/powerpoint/2010/main" val="7866167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532">
            <a:extLst xmlns:a="http://schemas.openxmlformats.org/drawingml/2006/main">
              <a:ext uri="{FF2B5EF4-FFF2-40B4-BE49-F238E27FC236}">
                <a16:creationId xmlns:a16="http://schemas.microsoft.com/office/drawing/2014/main" id="{9B2E993D-8B95-4185-BE12-BAEE73BD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完整工作流的六项能力</a:t>
            </a:r>
          </a:p>
        </p:txBody>
      </p:sp>
      <p:sp>
        <p:nvSpPr>
          <p:cNvPr id="2" name="text-533">
            <a:extLst xmlns:a="http://schemas.openxmlformats.org/drawingml/2006/main">
              <a:ext uri="{FF2B5EF4-FFF2-40B4-BE49-F238E27FC236}">
                <a16:creationId xmlns:a16="http://schemas.microsoft.com/office/drawing/2014/main" id="{BE14F461-B831-48DF-BB16-221BF345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6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它之所以能够运行，是因为研究流程已经连通</a:t>
            </a:r>
          </a:p>
        </p:txBody>
      </p:sp>
      <p:sp>
        <p:nvSpPr>
          <p:cNvPr id="3" name="shape-534">
            <a:extLst xmlns:a="http://schemas.openxmlformats.org/drawingml/2006/main">
              <a:ext uri="{FF2B5EF4-FFF2-40B4-BE49-F238E27FC236}">
                <a16:creationId xmlns:a16="http://schemas.microsoft.com/office/drawing/2014/main" id="{778D0902-B870-4B05-80A3-847BEED9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535">
            <a:extLst xmlns:a="http://schemas.openxmlformats.org/drawingml/2006/main">
              <a:ext uri="{FF2B5EF4-FFF2-40B4-BE49-F238E27FC236}">
                <a16:creationId xmlns:a16="http://schemas.microsoft.com/office/drawing/2014/main" id="{FCB9B8BA-C3CD-41D5-9E3C-29913860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完整运行能力</a:t>
            </a:r>
          </a:p>
        </p:txBody>
      </p:sp>
      <p:sp>
        <p:nvSpPr>
          <p:cNvPr id="5" name="text-536">
            <a:extLst xmlns:a="http://schemas.openxmlformats.org/drawingml/2006/main">
              <a:ext uri="{FF2B5EF4-FFF2-40B4-BE49-F238E27FC236}">
                <a16:creationId xmlns:a16="http://schemas.microsoft.com/office/drawing/2014/main" id="{0B97D2CF-45C3-455A-934B-45F2E68F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  <p:sp>
        <p:nvSpPr>
          <p:cNvPr id="6" name="shape-537">
            <a:extLst xmlns:a="http://schemas.openxmlformats.org/drawingml/2006/main">
              <a:ext uri="{FF2B5EF4-FFF2-40B4-BE49-F238E27FC236}">
                <a16:creationId xmlns:a16="http://schemas.microsoft.com/office/drawing/2014/main" id="{F08E661D-BFF8-43D6-83FE-BFA0C10D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429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7" name="text-538">
            <a:extLst xmlns:a="http://schemas.openxmlformats.org/drawingml/2006/main">
              <a:ext uri="{FF2B5EF4-FFF2-40B4-BE49-F238E27FC236}">
                <a16:creationId xmlns:a16="http://schemas.microsoft.com/office/drawing/2014/main" id="{453B1DA4-7449-421E-8101-56F14E37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-539">
            <a:extLst xmlns:a="http://schemas.openxmlformats.org/drawingml/2006/main">
              <a:ext uri="{FF2B5EF4-FFF2-40B4-BE49-F238E27FC236}">
                <a16:creationId xmlns:a16="http://schemas.microsoft.com/office/drawing/2014/main" id="{566844B7-6ECB-42C0-804E-B4EDB601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能理解</a:t>
            </a:r>
          </a:p>
        </p:txBody>
      </p:sp>
      <p:sp>
        <p:nvSpPr>
          <p:cNvPr id="9" name="text-540">
            <a:extLst xmlns:a="http://schemas.openxmlformats.org/drawingml/2006/main">
              <a:ext uri="{FF2B5EF4-FFF2-40B4-BE49-F238E27FC236}">
                <a16:creationId xmlns:a16="http://schemas.microsoft.com/office/drawing/2014/main" id="{6CD1B8A5-1582-415D-99DD-DE36C612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0325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厘清目的与假设，不让模糊诉求直接变成题目。</a:t>
            </a:r>
          </a:p>
        </p:txBody>
      </p:sp>
      <p:sp>
        <p:nvSpPr>
          <p:cNvPr id="10" name="shape-541">
            <a:extLst xmlns:a="http://schemas.openxmlformats.org/drawingml/2006/main">
              <a:ext uri="{FF2B5EF4-FFF2-40B4-BE49-F238E27FC236}">
                <a16:creationId xmlns:a16="http://schemas.microsoft.com/office/drawing/2014/main" id="{AC6DF797-6252-4D58-86CC-C392AE6F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429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1" name="text-542">
            <a:extLst xmlns:a="http://schemas.openxmlformats.org/drawingml/2006/main">
              <a:ext uri="{FF2B5EF4-FFF2-40B4-BE49-F238E27FC236}">
                <a16:creationId xmlns:a16="http://schemas.microsoft.com/office/drawing/2014/main" id="{6DDBEA71-6DEE-4F8A-8AD9-11F30A22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954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text-543">
            <a:extLst xmlns:a="http://schemas.openxmlformats.org/drawingml/2006/main">
              <a:ext uri="{FF2B5EF4-FFF2-40B4-BE49-F238E27FC236}">
                <a16:creationId xmlns:a16="http://schemas.microsoft.com/office/drawing/2014/main" id="{D3B4822B-AD2A-4435-95CD-8A90E21D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能设计</a:t>
            </a:r>
          </a:p>
        </p:txBody>
      </p:sp>
      <p:sp>
        <p:nvSpPr>
          <p:cNvPr id="13" name="text-544">
            <a:extLst xmlns:a="http://schemas.openxmlformats.org/drawingml/2006/main">
              <a:ext uri="{FF2B5EF4-FFF2-40B4-BE49-F238E27FC236}">
                <a16:creationId xmlns:a16="http://schemas.microsoft.com/office/drawing/2014/main" id="{9BAD2F7A-68A2-4F94-A38A-BBC49917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0325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方法、题目、变量、分群和分析口径共同设计。</a:t>
            </a:r>
          </a:p>
        </p:txBody>
      </p:sp>
      <p:sp>
        <p:nvSpPr>
          <p:cNvPr id="14" name="shape-545">
            <a:extLst xmlns:a="http://schemas.openxmlformats.org/drawingml/2006/main">
              <a:ext uri="{FF2B5EF4-FFF2-40B4-BE49-F238E27FC236}">
                <a16:creationId xmlns:a16="http://schemas.microsoft.com/office/drawing/2014/main" id="{3B822B75-6560-425C-98FA-0AD8E74B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3429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5" name="text-546">
            <a:extLst xmlns:a="http://schemas.openxmlformats.org/drawingml/2006/main">
              <a:ext uri="{FF2B5EF4-FFF2-40B4-BE49-F238E27FC236}">
                <a16:creationId xmlns:a16="http://schemas.microsoft.com/office/drawing/2014/main" id="{797137C0-46BE-4DDE-BE9C-E905B0F9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954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text-547">
            <a:extLst xmlns:a="http://schemas.openxmlformats.org/drawingml/2006/main">
              <a:ext uri="{FF2B5EF4-FFF2-40B4-BE49-F238E27FC236}">
                <a16:creationId xmlns:a16="http://schemas.microsoft.com/office/drawing/2014/main" id="{4DDF797F-9553-40D6-A19E-710AEDA4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能协作</a:t>
            </a:r>
          </a:p>
        </p:txBody>
      </p:sp>
      <p:sp>
        <p:nvSpPr>
          <p:cNvPr id="17" name="text-548">
            <a:extLst xmlns:a="http://schemas.openxmlformats.org/drawingml/2006/main">
              <a:ext uri="{FF2B5EF4-FFF2-40B4-BE49-F238E27FC236}">
                <a16:creationId xmlns:a16="http://schemas.microsoft.com/office/drawing/2014/main" id="{B8D6C5CA-AA30-4560-BE8E-1DCE320F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0325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六位专家按责任交接，总控组织连续运行。</a:t>
            </a:r>
          </a:p>
        </p:txBody>
      </p:sp>
      <p:sp>
        <p:nvSpPr>
          <p:cNvPr id="18" name="shape-549">
            <a:extLst xmlns:a="http://schemas.openxmlformats.org/drawingml/2006/main">
              <a:ext uri="{FF2B5EF4-FFF2-40B4-BE49-F238E27FC236}">
                <a16:creationId xmlns:a16="http://schemas.microsoft.com/office/drawing/2014/main" id="{4C72DDFF-0D09-4DCD-AE49-1137A647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429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9" name="text-550">
            <a:extLst xmlns:a="http://schemas.openxmlformats.org/drawingml/2006/main">
              <a:ext uri="{FF2B5EF4-FFF2-40B4-BE49-F238E27FC236}">
                <a16:creationId xmlns:a16="http://schemas.microsoft.com/office/drawing/2014/main" id="{629AE82B-11A5-4838-9651-EEE19A52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0" name="text-551">
            <a:extLst xmlns:a="http://schemas.openxmlformats.org/drawingml/2006/main">
              <a:ext uri="{FF2B5EF4-FFF2-40B4-BE49-F238E27FC236}">
                <a16:creationId xmlns:a16="http://schemas.microsoft.com/office/drawing/2014/main" id="{DADAC548-B5E7-4D59-B938-04DA655E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能审核</a:t>
            </a:r>
          </a:p>
        </p:txBody>
      </p:sp>
      <p:sp>
        <p:nvSpPr>
          <p:cNvPr id="21" name="text-552">
            <a:extLst xmlns:a="http://schemas.openxmlformats.org/drawingml/2006/main">
              <a:ext uri="{FF2B5EF4-FFF2-40B4-BE49-F238E27FC236}">
                <a16:creationId xmlns:a16="http://schemas.microsoft.com/office/drawing/2014/main" id="{7C1B28CD-05B7-4FCB-8FB1-D04B1600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质量专家独立复核，关键阶段保留人工确认。</a:t>
            </a:r>
          </a:p>
        </p:txBody>
      </p:sp>
      <p:sp>
        <p:nvSpPr>
          <p:cNvPr id="22" name="shape-553">
            <a:extLst xmlns:a="http://schemas.openxmlformats.org/drawingml/2006/main">
              <a:ext uri="{FF2B5EF4-FFF2-40B4-BE49-F238E27FC236}">
                <a16:creationId xmlns:a16="http://schemas.microsoft.com/office/drawing/2014/main" id="{C6BEE20A-E361-4B4B-9700-BC3154F9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3429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3" name="text-554">
            <a:extLst xmlns:a="http://schemas.openxmlformats.org/drawingml/2006/main">
              <a:ext uri="{FF2B5EF4-FFF2-40B4-BE49-F238E27FC236}">
                <a16:creationId xmlns:a16="http://schemas.microsoft.com/office/drawing/2014/main" id="{0E8C714F-A93C-4C35-9684-871C52BA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4" name="text-555">
            <a:extLst xmlns:a="http://schemas.openxmlformats.org/drawingml/2006/main">
              <a:ext uri="{FF2B5EF4-FFF2-40B4-BE49-F238E27FC236}">
                <a16:creationId xmlns:a16="http://schemas.microsoft.com/office/drawing/2014/main" id="{6FAC684C-7B39-49D0-882B-058EF67D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能追溯</a:t>
            </a:r>
          </a:p>
        </p:txBody>
      </p:sp>
      <p:sp>
        <p:nvSpPr>
          <p:cNvPr id="25" name="text-556">
            <a:extLst xmlns:a="http://schemas.openxmlformats.org/drawingml/2006/main">
              <a:ext uri="{FF2B5EF4-FFF2-40B4-BE49-F238E27FC236}">
                <a16:creationId xmlns:a16="http://schemas.microsoft.com/office/drawing/2014/main" id="{9273FF2D-AD06-496D-824F-599FACB6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数字、结论和建议都能回到原始证据。</a:t>
            </a:r>
          </a:p>
        </p:txBody>
      </p:sp>
      <p:sp>
        <p:nvSpPr>
          <p:cNvPr id="26" name="shape-557">
            <a:extLst xmlns:a="http://schemas.openxmlformats.org/drawingml/2006/main">
              <a:ext uri="{FF2B5EF4-FFF2-40B4-BE49-F238E27FC236}">
                <a16:creationId xmlns:a16="http://schemas.microsoft.com/office/drawing/2014/main" id="{DCBA798B-0592-41F4-A907-F24AA63E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3429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7" name="text-558">
            <a:extLst xmlns:a="http://schemas.openxmlformats.org/drawingml/2006/main">
              <a:ext uri="{FF2B5EF4-FFF2-40B4-BE49-F238E27FC236}">
                <a16:creationId xmlns:a16="http://schemas.microsoft.com/office/drawing/2014/main" id="{9D62398F-A51E-4972-8E30-C0132824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8" name="text-559">
            <a:extLst xmlns:a="http://schemas.openxmlformats.org/drawingml/2006/main">
              <a:ext uri="{FF2B5EF4-FFF2-40B4-BE49-F238E27FC236}">
                <a16:creationId xmlns:a16="http://schemas.microsoft.com/office/drawing/2014/main" id="{6FC5FDB5-91C2-47F9-803B-AEACF5F5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能复用</a:t>
            </a:r>
          </a:p>
        </p:txBody>
      </p:sp>
      <p:sp>
        <p:nvSpPr>
          <p:cNvPr id="29" name="text-560">
            <a:extLst xmlns:a="http://schemas.openxmlformats.org/drawingml/2006/main">
              <a:ext uri="{FF2B5EF4-FFF2-40B4-BE49-F238E27FC236}">
                <a16:creationId xmlns:a16="http://schemas.microsoft.com/office/drawing/2014/main" id="{F9495B5A-E14E-4234-867F-07A13451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方法与工具分开，可迁移到不同课题和载体。</a:t>
            </a:r>
          </a:p>
        </p:txBody>
      </p:sp>
      <p:sp>
        <p:nvSpPr>
          <p:cNvPr id="30" name="text-561">
            <a:extLst xmlns:a="http://schemas.openxmlformats.org/drawingml/2006/main">
              <a:ext uri="{FF2B5EF4-FFF2-40B4-BE49-F238E27FC236}">
                <a16:creationId xmlns:a16="http://schemas.microsoft.com/office/drawing/2014/main" id="{5BFDFE05-24B4-4D62-A935-2584C8A2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rPr>
              <a:t>运行证明：35项问卷 · 200份答卷 · 分群分析 · 产品与投教洞察 · 19页正式报告</a:t>
            </a:r>
          </a:p>
        </p:txBody>
      </p:sp>
    </p:spTree>
    <p:extLst>
      <p:ext uri="{BB962C8B-B14F-4D97-AF65-F5344CB8AC3E}">
        <p14:creationId xmlns:p14="http://schemas.microsoft.com/office/powerpoint/2010/main" val="513100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4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562">
            <a:extLst xmlns:a="http://schemas.openxmlformats.org/drawingml/2006/main">
              <a:ext uri="{FF2B5EF4-FFF2-40B4-BE49-F238E27FC236}">
                <a16:creationId xmlns:a16="http://schemas.microsoft.com/office/drawing/2014/main" id="{7F4986E3-C382-4D04-BE9C-B285CC65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最终总结</a:t>
            </a:r>
          </a:p>
        </p:txBody>
      </p:sp>
      <p:sp>
        <p:nvSpPr>
          <p:cNvPr id="2" name="text-563">
            <a:extLst xmlns:a="http://schemas.openxmlformats.org/drawingml/2006/main">
              <a:ext uri="{FF2B5EF4-FFF2-40B4-BE49-F238E27FC236}">
                <a16:creationId xmlns:a16="http://schemas.microsoft.com/office/drawing/2014/main" id="{3D7E947D-7B67-43F2-884C-B390A6E6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AF9F5"/>
                </a:solidFill>
                <a:latin typeface="SimSun"/>
                <a:ea typeface="SimSun"/>
                <a:cs typeface="SimSun"/>
              </a:defRPr>
            </a:pPr>
            <a:r>
              <a:rPr sz="3600" b="0">
                <a:solidFill>
                  <a:srgbClr val="FAF9F5"/>
                </a:solidFill>
                <a:latin typeface="SimSun"/>
                <a:ea typeface="SimSun"/>
                <a:cs typeface="SimSun"/>
              </a:rPr>
              <a:t>让AI进入研究工作，真正改变的是研究协作方式</a:t>
            </a:r>
          </a:p>
        </p:txBody>
      </p:sp>
      <p:sp>
        <p:nvSpPr>
          <p:cNvPr id="3" name="shape-564">
            <a:extLst xmlns:a="http://schemas.openxmlformats.org/drawingml/2006/main">
              <a:ext uri="{FF2B5EF4-FFF2-40B4-BE49-F238E27FC236}">
                <a16:creationId xmlns:a16="http://schemas.microsoft.com/office/drawing/2014/main" id="{81DD9E71-F2FC-46E9-A80E-81843473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D3D3A"/>
            </a:solidFill>
            <a:prstDash val="solid"/>
          </a:ln>
        </p:spPr>
      </p:sp>
      <p:sp>
        <p:nvSpPr>
          <p:cNvPr id="4" name="text-565">
            <a:extLst xmlns:a="http://schemas.openxmlformats.org/drawingml/2006/main">
              <a:ext uri="{FF2B5EF4-FFF2-40B4-BE49-F238E27FC236}">
                <a16:creationId xmlns:a16="http://schemas.microsoft.com/office/drawing/2014/main" id="{84004FCC-2AE4-472E-B30F-F29CD659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AI辅助用户研究工作流 · 完整运行版</a:t>
            </a:r>
          </a:p>
        </p:txBody>
      </p:sp>
      <p:sp>
        <p:nvSpPr>
          <p:cNvPr id="5" name="text-566">
            <a:extLst xmlns:a="http://schemas.openxmlformats.org/drawingml/2006/main">
              <a:ext uri="{FF2B5EF4-FFF2-40B4-BE49-F238E27FC236}">
                <a16:creationId xmlns:a16="http://schemas.microsoft.com/office/drawing/2014/main" id="{DEDD1375-8429-41FE-B485-812539BA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6" name="shape-567">
            <a:extLst xmlns:a="http://schemas.openxmlformats.org/drawingml/2006/main">
              <a:ext uri="{FF2B5EF4-FFF2-40B4-BE49-F238E27FC236}">
                <a16:creationId xmlns:a16="http://schemas.microsoft.com/office/drawing/2014/main" id="{76604930-F997-41D8-93A7-0CCEEB97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533650" cy="27813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7" name="text-568">
            <a:extLst xmlns:a="http://schemas.openxmlformats.org/drawingml/2006/main">
              <a:ext uri="{FF2B5EF4-FFF2-40B4-BE49-F238E27FC236}">
                <a16:creationId xmlns:a16="http://schemas.microsoft.com/office/drawing/2014/main" id="{7ABB163E-0501-4479-A2C8-B4F48B2C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路径清楚</a:t>
            </a:r>
          </a:p>
        </p:txBody>
      </p:sp>
      <p:sp>
        <p:nvSpPr>
          <p:cNvPr id="8" name="text-569">
            <a:extLst xmlns:a="http://schemas.openxmlformats.org/drawingml/2006/main">
              <a:ext uri="{FF2B5EF4-FFF2-40B4-BE49-F238E27FC236}">
                <a16:creationId xmlns:a16="http://schemas.microsoft.com/office/drawing/2014/main" id="{199E19EC-1A27-444B-87C0-F461F776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八个阶段</a:t>
            </a:r>
          </a:p>
        </p:txBody>
      </p:sp>
      <p:sp>
        <p:nvSpPr>
          <p:cNvPr id="9" name="text-570">
            <a:extLst xmlns:a="http://schemas.openxmlformats.org/drawingml/2006/main">
              <a:ext uri="{FF2B5EF4-FFF2-40B4-BE49-F238E27FC236}">
                <a16:creationId xmlns:a16="http://schemas.microsoft.com/office/drawing/2014/main" id="{DB29C29E-9061-4103-9F7D-FB730264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190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rPr>
              <a:t>每个人都知道研究当前走到哪里。</a:t>
            </a:r>
          </a:p>
        </p:txBody>
      </p:sp>
      <p:sp>
        <p:nvSpPr>
          <p:cNvPr id="10" name="shape-571">
            <a:extLst xmlns:a="http://schemas.openxmlformats.org/drawingml/2006/main">
              <a:ext uri="{FF2B5EF4-FFF2-40B4-BE49-F238E27FC236}">
                <a16:creationId xmlns:a16="http://schemas.microsoft.com/office/drawing/2014/main" id="{DD3D481D-9A55-4794-83B9-1F6EF7E0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05000"/>
            <a:ext cx="2533650" cy="27813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11" name="text-572">
            <a:extLst xmlns:a="http://schemas.openxmlformats.org/drawingml/2006/main">
              <a:ext uri="{FF2B5EF4-FFF2-40B4-BE49-F238E27FC236}">
                <a16:creationId xmlns:a16="http://schemas.microsoft.com/office/drawing/2014/main" id="{5F3D9930-D85D-4E8C-BE28-DD750C9B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38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责任清楚</a:t>
            </a:r>
          </a:p>
        </p:txBody>
      </p:sp>
      <p:sp>
        <p:nvSpPr>
          <p:cNvPr id="12" name="text-573">
            <a:extLst xmlns:a="http://schemas.openxmlformats.org/drawingml/2006/main">
              <a:ext uri="{FF2B5EF4-FFF2-40B4-BE49-F238E27FC236}">
                <a16:creationId xmlns:a16="http://schemas.microsoft.com/office/drawing/2014/main" id="{5F2450AA-73BF-4EE8-9B81-EF10EB7D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86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六位专家</a:t>
            </a:r>
          </a:p>
        </p:txBody>
      </p:sp>
      <p:sp>
        <p:nvSpPr>
          <p:cNvPr id="13" name="text-574">
            <a:extLst xmlns:a="http://schemas.openxmlformats.org/drawingml/2006/main">
              <a:ext uri="{FF2B5EF4-FFF2-40B4-BE49-F238E27FC236}">
                <a16:creationId xmlns:a16="http://schemas.microsoft.com/office/drawing/2014/main" id="{5A87F2F0-A6D5-47EF-8CEC-DBD341EF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43200"/>
            <a:ext cx="2190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rPr>
              <a:t>不同判断由不同角色负责和复核。</a:t>
            </a:r>
          </a:p>
        </p:txBody>
      </p:sp>
      <p:sp>
        <p:nvSpPr>
          <p:cNvPr id="14" name="shape-575">
            <a:extLst xmlns:a="http://schemas.openxmlformats.org/drawingml/2006/main">
              <a:ext uri="{FF2B5EF4-FFF2-40B4-BE49-F238E27FC236}">
                <a16:creationId xmlns:a16="http://schemas.microsoft.com/office/drawing/2014/main" id="{C23222E1-7406-4D49-9C55-F8590E2D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2533650" cy="27813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15" name="text-576">
            <a:extLst xmlns:a="http://schemas.openxmlformats.org/drawingml/2006/main">
              <a:ext uri="{FF2B5EF4-FFF2-40B4-BE49-F238E27FC236}">
                <a16:creationId xmlns:a16="http://schemas.microsoft.com/office/drawing/2014/main" id="{F9861D48-B2E6-415C-B1C7-79EEE8CE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证据清楚</a:t>
            </a:r>
          </a:p>
        </p:txBody>
      </p:sp>
      <p:sp>
        <p:nvSpPr>
          <p:cNvPr id="16" name="text-577">
            <a:extLst xmlns:a="http://schemas.openxmlformats.org/drawingml/2006/main">
              <a:ext uri="{FF2B5EF4-FFF2-40B4-BE49-F238E27FC236}">
                <a16:creationId xmlns:a16="http://schemas.microsoft.com/office/drawing/2014/main" id="{48633498-040B-4D33-B76A-B8FB66AF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逐级追溯</a:t>
            </a:r>
          </a:p>
        </p:txBody>
      </p:sp>
      <p:sp>
        <p:nvSpPr>
          <p:cNvPr id="17" name="text-578">
            <a:extLst xmlns:a="http://schemas.openxmlformats.org/drawingml/2006/main">
              <a:ext uri="{FF2B5EF4-FFF2-40B4-BE49-F238E27FC236}">
                <a16:creationId xmlns:a16="http://schemas.microsoft.com/office/drawing/2014/main" id="{9EB77AC2-C247-4EA7-82F3-BF978DA8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2190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rPr>
              <a:t>从用户回答到业务建议不跳步。</a:t>
            </a:r>
          </a:p>
        </p:txBody>
      </p:sp>
      <p:sp>
        <p:nvSpPr>
          <p:cNvPr id="18" name="shape-579">
            <a:extLst xmlns:a="http://schemas.openxmlformats.org/drawingml/2006/main">
              <a:ext uri="{FF2B5EF4-FFF2-40B4-BE49-F238E27FC236}">
                <a16:creationId xmlns:a16="http://schemas.microsoft.com/office/drawing/2014/main" id="{F99867D3-314B-485A-A4AC-E59D06B5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05000"/>
            <a:ext cx="2533650" cy="27813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19" name="text-580">
            <a:extLst xmlns:a="http://schemas.openxmlformats.org/drawingml/2006/main">
              <a:ext uri="{FF2B5EF4-FFF2-40B4-BE49-F238E27FC236}">
                <a16:creationId xmlns:a16="http://schemas.microsoft.com/office/drawing/2014/main" id="{0DBA1082-637F-4D19-AC99-16D9ED82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38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边界清楚</a:t>
            </a:r>
          </a:p>
        </p:txBody>
      </p:sp>
      <p:sp>
        <p:nvSpPr>
          <p:cNvPr id="20" name="text-581">
            <a:extLst xmlns:a="http://schemas.openxmlformats.org/drawingml/2006/main">
              <a:ext uri="{FF2B5EF4-FFF2-40B4-BE49-F238E27FC236}">
                <a16:creationId xmlns:a16="http://schemas.microsoft.com/office/drawing/2014/main" id="{68EC7EA8-C877-41D6-849C-96423B7E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人工把关</a:t>
            </a:r>
          </a:p>
        </p:txBody>
      </p:sp>
      <p:sp>
        <p:nvSpPr>
          <p:cNvPr id="21" name="text-582">
            <a:extLst xmlns:a="http://schemas.openxmlformats.org/drawingml/2006/main">
              <a:ext uri="{FF2B5EF4-FFF2-40B4-BE49-F238E27FC236}">
                <a16:creationId xmlns:a16="http://schemas.microsoft.com/office/drawing/2014/main" id="{F0F9F75C-D1A7-4C73-819A-80917746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43200"/>
            <a:ext cx="2190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6E3DA"/>
                </a:solidFill>
                <a:latin typeface="Microsoft YaHei"/>
                <a:ea typeface="Microsoft YaHei"/>
                <a:cs typeface="Microsoft YaHei"/>
              </a:rPr>
              <a:t>AI提高效率，人保留最终责任。</a:t>
            </a:r>
          </a:p>
        </p:txBody>
      </p:sp>
      <p:sp>
        <p:nvSpPr>
          <p:cNvPr id="22" name="text-583">
            <a:extLst xmlns:a="http://schemas.openxmlformats.org/drawingml/2006/main">
              <a:ext uri="{FF2B5EF4-FFF2-40B4-BE49-F238E27FC236}">
                <a16:creationId xmlns:a16="http://schemas.microsoft.com/office/drawing/2014/main" id="{6B4C6E1F-DD6F-4486-A7A2-6E8DE89C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AF9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AF9F5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662481733bd4426" action="ppaction://hlinksldjump"/>
              </a:rPr>
              <a:t>我们把一次成功的研究实践，整理成了一套可重复运行、可审核、可迁移的组织能力。
点击此处返回完整工作流总览 →</a:t>
            </a:r>
          </a:p>
        </p:txBody>
      </p:sp>
    </p:spTree>
    <p:extLst>
      <p:ext uri="{BB962C8B-B14F-4D97-AF65-F5344CB8AC3E}">
        <p14:creationId xmlns:p14="http://schemas.microsoft.com/office/powerpoint/2010/main" val="80166835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ext-584">
            <a:extLst xmlns:a="http://schemas.openxmlformats.org/drawingml/2006/main">
              <a:ext uri="{FF2B5EF4-FFF2-40B4-BE49-F238E27FC236}">
                <a16:creationId xmlns:a16="http://schemas.microsoft.com/office/drawing/2014/main" id="{68F7EAA4-3024-49EA-8C4A-C30EC03C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专家方法与工作指令 · 01 / 07</a:t>
            </a:r>
          </a:p>
        </p:txBody>
      </p:sp>
      <p:sp>
        <p:nvSpPr>
          <p:cNvPr id="2" name="text-585">
            <a:extLst xmlns:a="http://schemas.openxmlformats.org/drawingml/2006/main">
              <a:ext uri="{FF2B5EF4-FFF2-40B4-BE49-F238E27FC236}">
                <a16:creationId xmlns:a16="http://schemas.microsoft.com/office/drawing/2014/main" id="{6193EF9F-1A4E-46E1-9A11-E9A6FA12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问题理解专家｜把业务现象转成可检验的研究问题</a:t>
            </a:r>
          </a:p>
        </p:txBody>
      </p:sp>
      <p:sp>
        <p:nvSpPr>
          <p:cNvPr id="3" name="shape-586">
            <a:extLst xmlns:a="http://schemas.openxmlformats.org/drawingml/2006/main">
              <a:ext uri="{FF2B5EF4-FFF2-40B4-BE49-F238E27FC236}">
                <a16:creationId xmlns:a16="http://schemas.microsoft.com/office/drawing/2014/main" id="{AA541A88-8736-425B-81DA-43E5F830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587">
            <a:extLst xmlns:a="http://schemas.openxmlformats.org/drawingml/2006/main">
              <a:ext uri="{FF2B5EF4-FFF2-40B4-BE49-F238E27FC236}">
                <a16:creationId xmlns:a16="http://schemas.microsoft.com/office/drawing/2014/main" id="{4A83F355-8D64-47BC-935F-17B9A1CB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研究问题理解专家 · 专业方法与工作指令</a:t>
            </a:r>
          </a:p>
        </p:txBody>
      </p:sp>
      <p:sp>
        <p:nvSpPr>
          <p:cNvPr id="5" name="text-588">
            <a:extLst xmlns:a="http://schemas.openxmlformats.org/drawingml/2006/main">
              <a:ext uri="{FF2B5EF4-FFF2-40B4-BE49-F238E27FC236}">
                <a16:creationId xmlns:a16="http://schemas.microsoft.com/office/drawing/2014/main" id="{798E66CE-B596-4F00-96D4-9CF2D7FD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  <p:sp>
        <p:nvSpPr>
          <p:cNvPr id="6" name="shape-589">
            <a:extLst xmlns:a="http://schemas.openxmlformats.org/drawingml/2006/main">
              <a:ext uri="{FF2B5EF4-FFF2-40B4-BE49-F238E27FC236}">
                <a16:creationId xmlns:a16="http://schemas.microsoft.com/office/drawing/2014/main" id="{BEFAEE72-AFFF-41C8-BA2D-75C715DC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38500" cy="39433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7" name="text-590">
            <a:extLst xmlns:a="http://schemas.openxmlformats.org/drawingml/2006/main">
              <a:ext uri="{FF2B5EF4-FFF2-40B4-BE49-F238E27FC236}">
                <a16:creationId xmlns:a16="http://schemas.microsoft.com/office/drawing/2014/main" id="{9D0F1408-C0DA-4E65-B386-3687F6B2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主要负责 · 阶段 02</a:t>
            </a:r>
          </a:p>
        </p:txBody>
      </p:sp>
      <p:sp>
        <p:nvSpPr>
          <p:cNvPr id="8" name="text-591">
            <a:extLst xmlns:a="http://schemas.openxmlformats.org/drawingml/2006/main">
              <a:ext uri="{FF2B5EF4-FFF2-40B4-BE49-F238E27FC236}">
                <a16:creationId xmlns:a16="http://schemas.microsoft.com/office/drawing/2014/main" id="{2518E07A-B944-4A21-93E6-C0D3A533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研究问题理解专家</a:t>
            </a:r>
          </a:p>
        </p:txBody>
      </p:sp>
      <p:sp>
        <p:nvSpPr>
          <p:cNvPr id="9" name="text-592">
            <a:extLst xmlns:a="http://schemas.openxmlformats.org/drawingml/2006/main">
              <a:ext uri="{FF2B5EF4-FFF2-40B4-BE49-F238E27FC236}">
                <a16:creationId xmlns:a16="http://schemas.microsoft.com/office/drawing/2014/main" id="{8A5462C4-D54D-4118-905B-90F0FA53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负责什么</a:t>
            </a:r>
          </a:p>
        </p:txBody>
      </p:sp>
      <p:sp>
        <p:nvSpPr>
          <p:cNvPr id="10" name="text-593">
            <a:extLst xmlns:a="http://schemas.openxmlformats.org/drawingml/2006/main">
              <a:ext uri="{FF2B5EF4-FFF2-40B4-BE49-F238E27FC236}">
                <a16:creationId xmlns:a16="http://schemas.microsoft.com/office/drawing/2014/main" id="{38E2CB78-BB6D-4324-AD91-7CA71ABE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负责问题框定与决策对齐，不直接出题。</a:t>
            </a:r>
          </a:p>
        </p:txBody>
      </p:sp>
      <p:sp>
        <p:nvSpPr>
          <p:cNvPr id="11" name="text-594">
            <a:extLst xmlns:a="http://schemas.openxmlformats.org/drawingml/2006/main">
              <a:ext uri="{FF2B5EF4-FFF2-40B4-BE49-F238E27FC236}">
                <a16:creationId xmlns:a16="http://schemas.microsoft.com/office/drawing/2014/main" id="{D02C4808-A1E8-421D-9C69-ADA26550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为什么需要</a:t>
            </a:r>
          </a:p>
        </p:txBody>
      </p:sp>
      <p:sp>
        <p:nvSpPr>
          <p:cNvPr id="12" name="text-595">
            <a:extLst xmlns:a="http://schemas.openxmlformats.org/drawingml/2006/main">
              <a:ext uri="{FF2B5EF4-FFF2-40B4-BE49-F238E27FC236}">
                <a16:creationId xmlns:a16="http://schemas.microsoft.com/office/drawing/2014/main" id="{FA7FCAE5-8469-4A78-9496-9DC61E81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识别预设答案、确认偏误和范围漂移。</a:t>
            </a:r>
          </a:p>
        </p:txBody>
      </p:sp>
      <p:sp>
        <p:nvSpPr>
          <p:cNvPr id="13" name="shape-596">
            <a:extLst xmlns:a="http://schemas.openxmlformats.org/drawingml/2006/main">
              <a:ext uri="{FF2B5EF4-FFF2-40B4-BE49-F238E27FC236}">
                <a16:creationId xmlns:a16="http://schemas.microsoft.com/office/drawing/2014/main" id="{EB13C47C-2A09-42A5-A29F-73B0C85C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281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FAF9F5"/>
            </a:solidFill>
            <a:prstDash val="solid"/>
          </a:ln>
        </p:spPr>
      </p:sp>
      <p:sp>
        <p:nvSpPr>
          <p:cNvPr id="14" name="text-597">
            <a:extLst xmlns:a="http://schemas.openxmlformats.org/drawingml/2006/main">
              <a:ext uri="{FF2B5EF4-FFF2-40B4-BE49-F238E27FC236}">
                <a16:creationId xmlns:a16="http://schemas.microsoft.com/office/drawing/2014/main" id="{90842E8D-9732-4183-916D-BD83B6AB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15" name="text-598">
            <a:extLst xmlns:a="http://schemas.openxmlformats.org/drawingml/2006/main">
              <a:ext uri="{FF2B5EF4-FFF2-40B4-BE49-F238E27FC236}">
                <a16:creationId xmlns:a16="http://schemas.microsoft.com/office/drawing/2014/main" id="{D36576F5-F09D-41AB-A6F1-E675EAF4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rPr>
              <a:t>研究任务书：目标、问题、假设、人群与研究边界。</a:t>
            </a:r>
          </a:p>
        </p:txBody>
      </p:sp>
      <p:sp>
        <p:nvSpPr>
          <p:cNvPr id="16" name="text-599">
            <a:extLst xmlns:a="http://schemas.openxmlformats.org/drawingml/2006/main">
              <a:ext uri="{FF2B5EF4-FFF2-40B4-BE49-F238E27FC236}">
                <a16:creationId xmlns:a16="http://schemas.microsoft.com/office/drawing/2014/main" id="{B08214CA-D04D-47CF-824D-9A0EFA1A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76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专业能力</a:t>
            </a:r>
          </a:p>
        </p:txBody>
      </p:sp>
      <p:sp>
        <p:nvSpPr>
          <p:cNvPr id="17" name="shape-600">
            <a:extLst xmlns:a="http://schemas.openxmlformats.org/drawingml/2006/main">
              <a:ext uri="{FF2B5EF4-FFF2-40B4-BE49-F238E27FC236}">
                <a16:creationId xmlns:a16="http://schemas.microsoft.com/office/drawing/2014/main" id="{27A466B0-D2BB-4F23-8B28-206043A6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7077075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8" name="text-601">
            <a:extLst xmlns:a="http://schemas.openxmlformats.org/drawingml/2006/main">
              <a:ext uri="{FF2B5EF4-FFF2-40B4-BE49-F238E27FC236}">
                <a16:creationId xmlns:a16="http://schemas.microsoft.com/office/drawing/2014/main" id="{D3EE6AB4-E67D-4669-912A-63376AC8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669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9" name="text-602">
            <a:extLst xmlns:a="http://schemas.openxmlformats.org/drawingml/2006/main">
              <a:ext uri="{FF2B5EF4-FFF2-40B4-BE49-F238E27FC236}">
                <a16:creationId xmlns:a16="http://schemas.microsoft.com/office/drawing/2014/main" id="{1321E045-7669-4E76-9FB9-20DF0DBB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决策导向框定</a:t>
            </a:r>
          </a:p>
        </p:txBody>
      </p:sp>
      <p:sp>
        <p:nvSpPr>
          <p:cNvPr id="20" name="text-603">
            <a:extLst xmlns:a="http://schemas.openxmlformats.org/drawingml/2006/main">
              <a:ext uri="{FF2B5EF4-FFF2-40B4-BE49-F238E27FC236}">
                <a16:creationId xmlns:a16="http://schemas.microsoft.com/office/drawing/2014/main" id="{E0634243-F0C7-4B48-A99E-661AED7E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9775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明确研究支持谁在何时作出什么决定</a:t>
            </a:r>
          </a:p>
        </p:txBody>
      </p:sp>
      <p:sp>
        <p:nvSpPr>
          <p:cNvPr id="21" name="shape-604">
            <a:extLst xmlns:a="http://schemas.openxmlformats.org/drawingml/2006/main">
              <a:ext uri="{FF2B5EF4-FFF2-40B4-BE49-F238E27FC236}">
                <a16:creationId xmlns:a16="http://schemas.microsoft.com/office/drawing/2014/main" id="{C10DB5CA-DFBE-4AD3-B47C-24E85072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14588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2" name="text-605">
            <a:extLst xmlns:a="http://schemas.openxmlformats.org/drawingml/2006/main">
              <a:ext uri="{FF2B5EF4-FFF2-40B4-BE49-F238E27FC236}">
                <a16:creationId xmlns:a16="http://schemas.microsoft.com/office/drawing/2014/main" id="{8BCC2B66-BE84-41B5-9ABC-7E2B4C7E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7463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3" name="text-606">
            <a:extLst xmlns:a="http://schemas.openxmlformats.org/drawingml/2006/main">
              <a:ext uri="{FF2B5EF4-FFF2-40B4-BE49-F238E27FC236}">
                <a16:creationId xmlns:a16="http://schemas.microsoft.com/office/drawing/2014/main" id="{C881060F-0D12-4971-AAFD-D2A6C49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8888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可证伪性</a:t>
            </a:r>
          </a:p>
        </p:txBody>
      </p:sp>
      <p:sp>
        <p:nvSpPr>
          <p:cNvPr id="24" name="text-607">
            <a:extLst xmlns:a="http://schemas.openxmlformats.org/drawingml/2006/main">
              <a:ext uri="{FF2B5EF4-FFF2-40B4-BE49-F238E27FC236}">
                <a16:creationId xmlns:a16="http://schemas.microsoft.com/office/drawing/2014/main" id="{8CB37413-862F-46E7-8ECC-FE87CEC6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00313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说明哪些证据会推翻原有假设</a:t>
            </a:r>
          </a:p>
        </p:txBody>
      </p:sp>
      <p:sp>
        <p:nvSpPr>
          <p:cNvPr id="25" name="shape-608">
            <a:extLst xmlns:a="http://schemas.openxmlformats.org/drawingml/2006/main">
              <a:ext uri="{FF2B5EF4-FFF2-40B4-BE49-F238E27FC236}">
                <a16:creationId xmlns:a16="http://schemas.microsoft.com/office/drawing/2014/main" id="{C3E910A9-2674-4A84-A810-E5F9879D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05125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609">
            <a:extLst xmlns:a="http://schemas.openxmlformats.org/drawingml/2006/main">
              <a:ext uri="{FF2B5EF4-FFF2-40B4-BE49-F238E27FC236}">
                <a16:creationId xmlns:a16="http://schemas.microsoft.com/office/drawing/2014/main" id="{88715275-74A2-4FFF-8516-5EF0DDD7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7" name="text-610">
            <a:extLst xmlns:a="http://schemas.openxmlformats.org/drawingml/2006/main">
              <a:ext uri="{FF2B5EF4-FFF2-40B4-BE49-F238E27FC236}">
                <a16:creationId xmlns:a16="http://schemas.microsoft.com/office/drawing/2014/main" id="{7CA02FBC-8509-45BE-A682-C4B660FC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替代解释</a:t>
            </a:r>
          </a:p>
        </p:txBody>
      </p:sp>
      <p:sp>
        <p:nvSpPr>
          <p:cNvPr id="28" name="text-611">
            <a:extLst xmlns:a="http://schemas.openxmlformats.org/drawingml/2006/main">
              <a:ext uri="{FF2B5EF4-FFF2-40B4-BE49-F238E27FC236}">
                <a16:creationId xmlns:a16="http://schemas.microsoft.com/office/drawing/2014/main" id="{70072479-1D00-4EFA-BE4C-B498D4C8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寻找业务直觉之外的竞争性原因</a:t>
            </a:r>
          </a:p>
        </p:txBody>
      </p:sp>
      <p:sp>
        <p:nvSpPr>
          <p:cNvPr id="29" name="shape-612">
            <a:extLst xmlns:a="http://schemas.openxmlformats.org/drawingml/2006/main">
              <a:ext uri="{FF2B5EF4-FFF2-40B4-BE49-F238E27FC236}">
                <a16:creationId xmlns:a16="http://schemas.microsoft.com/office/drawing/2014/main" id="{399CF468-36E9-41CC-B56D-AE88DB8A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5663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30" name="text-613">
            <a:extLst xmlns:a="http://schemas.openxmlformats.org/drawingml/2006/main">
              <a:ext uri="{FF2B5EF4-FFF2-40B4-BE49-F238E27FC236}">
                <a16:creationId xmlns:a16="http://schemas.microsoft.com/office/drawing/2014/main" id="{34DB7F44-B466-4F52-A202-DC797CFC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38538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1" name="text-614">
            <a:extLst xmlns:a="http://schemas.openxmlformats.org/drawingml/2006/main">
              <a:ext uri="{FF2B5EF4-FFF2-40B4-BE49-F238E27FC236}">
                <a16:creationId xmlns:a16="http://schemas.microsoft.com/office/drawing/2014/main" id="{2368713F-DF50-4837-BB52-55E03E43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9963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数据最小化</a:t>
            </a:r>
          </a:p>
        </p:txBody>
      </p:sp>
      <p:sp>
        <p:nvSpPr>
          <p:cNvPr id="32" name="text-615">
            <a:extLst xmlns:a="http://schemas.openxmlformats.org/drawingml/2006/main">
              <a:ext uri="{FF2B5EF4-FFF2-40B4-BE49-F238E27FC236}">
                <a16:creationId xmlns:a16="http://schemas.microsoft.com/office/drawing/2014/main" id="{41EFC380-0481-48D1-87CA-F18E2F67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1388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只收集回答问题所必需的信息</a:t>
            </a:r>
          </a:p>
        </p:txBody>
      </p:sp>
      <p:sp>
        <p:nvSpPr>
          <p:cNvPr id="33" name="shape-616">
            <a:extLst xmlns:a="http://schemas.openxmlformats.org/drawingml/2006/main">
              <a:ext uri="{FF2B5EF4-FFF2-40B4-BE49-F238E27FC236}">
                <a16:creationId xmlns:a16="http://schemas.microsoft.com/office/drawing/2014/main" id="{AA40C3E6-34D7-4D79-A3BA-856769A3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57650"/>
            <a:ext cx="70770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34" name="text-617">
            <a:extLst xmlns:a="http://schemas.openxmlformats.org/drawingml/2006/main">
              <a:ext uri="{FF2B5EF4-FFF2-40B4-BE49-F238E27FC236}">
                <a16:creationId xmlns:a16="http://schemas.microsoft.com/office/drawing/2014/main" id="{73B739FD-4A48-4B47-8E99-18AF104A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核心工作指令</a:t>
            </a:r>
          </a:p>
        </p:txBody>
      </p:sp>
      <p:sp>
        <p:nvSpPr>
          <p:cNvPr id="35" name="text-618">
            <a:extLst xmlns:a="http://schemas.openxmlformats.org/drawingml/2006/main">
              <a:ext uri="{FF2B5EF4-FFF2-40B4-BE49-F238E27FC236}">
                <a16:creationId xmlns:a16="http://schemas.microsoft.com/office/drawing/2014/main" id="{DF7FD8BB-3870-4700-86D6-434696E9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00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1. 保留原始业务需求</a:t>
            </a:r>
          </a:p>
        </p:txBody>
      </p:sp>
      <p:sp>
        <p:nvSpPr>
          <p:cNvPr id="36" name="text-619">
            <a:extLst xmlns:a="http://schemas.openxmlformats.org/drawingml/2006/main">
              <a:ext uri="{FF2B5EF4-FFF2-40B4-BE49-F238E27FC236}">
                <a16:creationId xmlns:a16="http://schemas.microsoft.com/office/drawing/2014/main" id="{129E4D8A-8CED-4618-8F0B-ADF6DE67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00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2. 分开事实、假设与未知</a:t>
            </a:r>
          </a:p>
        </p:txBody>
      </p:sp>
      <p:sp>
        <p:nvSpPr>
          <p:cNvPr id="37" name="text-620">
            <a:extLst xmlns:a="http://schemas.openxmlformats.org/drawingml/2006/main">
              <a:ext uri="{FF2B5EF4-FFF2-40B4-BE49-F238E27FC236}">
                <a16:creationId xmlns:a16="http://schemas.microsoft.com/office/drawing/2014/main" id="{EC1B71CF-49D6-4C39-AF50-DD81ED8D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33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3. 形成中性问题与替代解释</a:t>
            </a:r>
          </a:p>
        </p:txBody>
      </p:sp>
      <p:sp>
        <p:nvSpPr>
          <p:cNvPr id="38" name="text-621">
            <a:extLst xmlns:a="http://schemas.openxmlformats.org/drawingml/2006/main">
              <a:ext uri="{FF2B5EF4-FFF2-40B4-BE49-F238E27FC236}">
                <a16:creationId xmlns:a16="http://schemas.microsoft.com/office/drawing/2014/main" id="{495BCA92-BAD3-4077-AA91-C50A040E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4. 明确不可回答与外推边界</a:t>
            </a:r>
          </a:p>
        </p:txBody>
      </p:sp>
      <p:sp>
        <p:nvSpPr>
          <p:cNvPr id="39" name="shape-622">
            <a:extLst xmlns:a="http://schemas.openxmlformats.org/drawingml/2006/main">
              <a:ext uri="{FF2B5EF4-FFF2-40B4-BE49-F238E27FC236}">
                <a16:creationId xmlns:a16="http://schemas.microsoft.com/office/drawing/2014/main" id="{3807B05C-422E-4D54-BB60-2A09CF21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86350"/>
            <a:ext cx="70770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0EEE6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0" name="text-623">
            <a:extLst xmlns:a="http://schemas.openxmlformats.org/drawingml/2006/main">
              <a:ext uri="{FF2B5EF4-FFF2-40B4-BE49-F238E27FC236}">
                <a16:creationId xmlns:a16="http://schemas.microsoft.com/office/drawing/2014/main" id="{914358F9-896F-4AB0-89BB-D8424448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006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能力边界｜不直接写问卷；不把“用户不了解”写成事实。</a:t>
            </a:r>
          </a:p>
        </p:txBody>
      </p:sp>
      <p:sp>
        <p:nvSpPr>
          <p:cNvPr id="41" name="shape-624">
            <a:extLst xmlns:a="http://schemas.openxmlformats.org/drawingml/2006/main">
              <a:ext uri="{FF2B5EF4-FFF2-40B4-BE49-F238E27FC236}">
                <a16:creationId xmlns:a16="http://schemas.microsoft.com/office/drawing/2014/main" id="{9599F30A-41CC-4E4D-8B38-E42E6391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2" name="text-625">
            <a:extLst xmlns:a="http://schemas.openxmlformats.org/drawingml/2006/main">
              <a:ext uri="{FF2B5EF4-FFF2-40B4-BE49-F238E27FC236}">
                <a16:creationId xmlns:a16="http://schemas.microsoft.com/office/drawing/2014/main" id="{0A9C897B-F49E-4B03-9A69-9252A351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00650"/>
            <a:ext cx="3209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案例表现｜将“开户后没有继续购买”修正为对实际购买者认知、决策与持有行为的研究。</a:t>
            </a:r>
          </a:p>
        </p:txBody>
      </p:sp>
      <p:sp>
        <p:nvSpPr>
          <p:cNvPr id="43" name="text-626">
            <a:extLst xmlns:a="http://schemas.openxmlformats.org/drawingml/2006/main">
              <a:ext uri="{FF2B5EF4-FFF2-40B4-BE49-F238E27FC236}">
                <a16:creationId xmlns:a16="http://schemas.microsoft.com/office/drawing/2014/main" id="{EA4AA879-5AE5-4BB2-B75F-9FD8F715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28b48192a3d847d2" action="ppaction://hlinksldjump"/>
              </a:rPr>
              <a:t>← 返回专家地图</a:t>
            </a:r>
          </a:p>
        </p:txBody>
      </p:sp>
      <p:sp>
        <p:nvSpPr>
          <p:cNvPr id="44" name="text-627">
            <a:extLst xmlns:a="http://schemas.openxmlformats.org/drawingml/2006/main">
              <a:ext uri="{FF2B5EF4-FFF2-40B4-BE49-F238E27FC236}">
                <a16:creationId xmlns:a16="http://schemas.microsoft.com/office/drawing/2014/main" id="{4142829F-58FC-4DA1-B533-E4F0C872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055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47acf6409e6d4bab" action="ppaction://hlinksldjump"/>
              </a:rPr>
              <a:t>回到负责阶段 →</a:t>
            </a:r>
          </a:p>
        </p:txBody>
      </p:sp>
    </p:spTree>
    <p:extLst>
      <p:ext uri="{BB962C8B-B14F-4D97-AF65-F5344CB8AC3E}">
        <p14:creationId xmlns:p14="http://schemas.microsoft.com/office/powerpoint/2010/main" val="2616612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ext-628">
            <a:extLst xmlns:a="http://schemas.openxmlformats.org/drawingml/2006/main">
              <a:ext uri="{FF2B5EF4-FFF2-40B4-BE49-F238E27FC236}">
                <a16:creationId xmlns:a16="http://schemas.microsoft.com/office/drawing/2014/main" id="{174EC9BF-8832-4C92-99BA-5D0517E1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专家方法与工作指令 · 02 / 07</a:t>
            </a:r>
          </a:p>
        </p:txBody>
      </p:sp>
      <p:sp>
        <p:nvSpPr>
          <p:cNvPr id="2" name="text-629">
            <a:extLst xmlns:a="http://schemas.openxmlformats.org/drawingml/2006/main">
              <a:ext uri="{FF2B5EF4-FFF2-40B4-BE49-F238E27FC236}">
                <a16:creationId xmlns:a16="http://schemas.microsoft.com/office/drawing/2014/main" id="{F2258090-41F6-4685-B67D-0388C164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方案设计专家｜让研究方法服从证据需求</a:t>
            </a:r>
          </a:p>
        </p:txBody>
      </p:sp>
      <p:sp>
        <p:nvSpPr>
          <p:cNvPr id="3" name="shape-630">
            <a:extLst xmlns:a="http://schemas.openxmlformats.org/drawingml/2006/main">
              <a:ext uri="{FF2B5EF4-FFF2-40B4-BE49-F238E27FC236}">
                <a16:creationId xmlns:a16="http://schemas.microsoft.com/office/drawing/2014/main" id="{0A757FC9-1706-4423-A014-36B51C5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631">
            <a:extLst xmlns:a="http://schemas.openxmlformats.org/drawingml/2006/main">
              <a:ext uri="{FF2B5EF4-FFF2-40B4-BE49-F238E27FC236}">
                <a16:creationId xmlns:a16="http://schemas.microsoft.com/office/drawing/2014/main" id="{4210C006-A7D6-4965-BBF1-AE964749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研究方案设计专家 · 专业方法与工作指令</a:t>
            </a:r>
          </a:p>
        </p:txBody>
      </p:sp>
      <p:sp>
        <p:nvSpPr>
          <p:cNvPr id="5" name="text-632">
            <a:extLst xmlns:a="http://schemas.openxmlformats.org/drawingml/2006/main">
              <a:ext uri="{FF2B5EF4-FFF2-40B4-BE49-F238E27FC236}">
                <a16:creationId xmlns:a16="http://schemas.microsoft.com/office/drawing/2014/main" id="{8EE3BACE-797B-411A-8C13-92312A38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  <p:sp>
        <p:nvSpPr>
          <p:cNvPr id="6" name="shape-633">
            <a:extLst xmlns:a="http://schemas.openxmlformats.org/drawingml/2006/main">
              <a:ext uri="{FF2B5EF4-FFF2-40B4-BE49-F238E27FC236}">
                <a16:creationId xmlns:a16="http://schemas.microsoft.com/office/drawing/2014/main" id="{B4A967D7-73B7-42E7-B9A1-3BCF9F37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38500" cy="39433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7" name="text-634">
            <a:extLst xmlns:a="http://schemas.openxmlformats.org/drawingml/2006/main">
              <a:ext uri="{FF2B5EF4-FFF2-40B4-BE49-F238E27FC236}">
                <a16:creationId xmlns:a16="http://schemas.microsoft.com/office/drawing/2014/main" id="{63E796CA-A9C8-4221-A5EF-50125FFD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主要负责 · 阶段 03</a:t>
            </a:r>
          </a:p>
        </p:txBody>
      </p:sp>
      <p:sp>
        <p:nvSpPr>
          <p:cNvPr id="8" name="text-635">
            <a:extLst xmlns:a="http://schemas.openxmlformats.org/drawingml/2006/main">
              <a:ext uri="{FF2B5EF4-FFF2-40B4-BE49-F238E27FC236}">
                <a16:creationId xmlns:a16="http://schemas.microsoft.com/office/drawing/2014/main" id="{0EE66883-9CC6-4907-BA09-904A1719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研究方案设计专家</a:t>
            </a:r>
          </a:p>
        </p:txBody>
      </p:sp>
      <p:sp>
        <p:nvSpPr>
          <p:cNvPr id="9" name="text-636">
            <a:extLst xmlns:a="http://schemas.openxmlformats.org/drawingml/2006/main">
              <a:ext uri="{FF2B5EF4-FFF2-40B4-BE49-F238E27FC236}">
                <a16:creationId xmlns:a16="http://schemas.microsoft.com/office/drawing/2014/main" id="{2B7A36FB-88FA-4C1F-B394-DBFE04BD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负责什么</a:t>
            </a:r>
          </a:p>
        </p:txBody>
      </p:sp>
      <p:sp>
        <p:nvSpPr>
          <p:cNvPr id="10" name="text-637">
            <a:extLst xmlns:a="http://schemas.openxmlformats.org/drawingml/2006/main">
              <a:ext uri="{FF2B5EF4-FFF2-40B4-BE49-F238E27FC236}">
                <a16:creationId xmlns:a16="http://schemas.microsoft.com/office/drawing/2014/main" id="{CB3115F0-68B3-464D-8960-E14258C5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将研究问题转换为最小充分、可执行的方案。</a:t>
            </a:r>
          </a:p>
        </p:txBody>
      </p:sp>
      <p:sp>
        <p:nvSpPr>
          <p:cNvPr id="11" name="text-638">
            <a:extLst xmlns:a="http://schemas.openxmlformats.org/drawingml/2006/main">
              <a:ext uri="{FF2B5EF4-FFF2-40B4-BE49-F238E27FC236}">
                <a16:creationId xmlns:a16="http://schemas.microsoft.com/office/drawing/2014/main" id="{A6D05050-095A-47F8-82A3-7F69D2F8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为什么需要</a:t>
            </a:r>
          </a:p>
        </p:txBody>
      </p:sp>
      <p:sp>
        <p:nvSpPr>
          <p:cNvPr id="12" name="text-639">
            <a:extLst xmlns:a="http://schemas.openxmlformats.org/drawingml/2006/main">
              <a:ext uri="{FF2B5EF4-FFF2-40B4-BE49-F238E27FC236}">
                <a16:creationId xmlns:a16="http://schemas.microsoft.com/office/drawing/2014/main" id="{2A480EB9-93E4-4003-94DD-7EFE3660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同时控制方法适用条件、抽样偏差与推断边界。</a:t>
            </a:r>
          </a:p>
        </p:txBody>
      </p:sp>
      <p:sp>
        <p:nvSpPr>
          <p:cNvPr id="13" name="shape-640">
            <a:extLst xmlns:a="http://schemas.openxmlformats.org/drawingml/2006/main">
              <a:ext uri="{FF2B5EF4-FFF2-40B4-BE49-F238E27FC236}">
                <a16:creationId xmlns:a16="http://schemas.microsoft.com/office/drawing/2014/main" id="{DA0E552D-B9D9-4D1A-A08B-9167E44A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281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FAF9F5"/>
            </a:solidFill>
            <a:prstDash val="solid"/>
          </a:ln>
        </p:spPr>
      </p:sp>
      <p:sp>
        <p:nvSpPr>
          <p:cNvPr id="14" name="text-641">
            <a:extLst xmlns:a="http://schemas.openxmlformats.org/drawingml/2006/main">
              <a:ext uri="{FF2B5EF4-FFF2-40B4-BE49-F238E27FC236}">
                <a16:creationId xmlns:a16="http://schemas.microsoft.com/office/drawing/2014/main" id="{2F8B4FD3-1D9C-4DCF-A92E-C93E905F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15" name="text-642">
            <a:extLst xmlns:a="http://schemas.openxmlformats.org/drawingml/2006/main">
              <a:ext uri="{FF2B5EF4-FFF2-40B4-BE49-F238E27FC236}">
                <a16:creationId xmlns:a16="http://schemas.microsoft.com/office/drawing/2014/main" id="{B0888416-20DE-4CAB-9E66-D6E81086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rPr>
              <a:t>研究方案：方法、样本、证据、分析与风险控制。</a:t>
            </a:r>
          </a:p>
        </p:txBody>
      </p:sp>
      <p:sp>
        <p:nvSpPr>
          <p:cNvPr id="16" name="text-643">
            <a:extLst xmlns:a="http://schemas.openxmlformats.org/drawingml/2006/main">
              <a:ext uri="{FF2B5EF4-FFF2-40B4-BE49-F238E27FC236}">
                <a16:creationId xmlns:a16="http://schemas.microsoft.com/office/drawing/2014/main" id="{70D7209C-78DD-4531-A0AB-FE27760B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76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专业能力</a:t>
            </a:r>
          </a:p>
        </p:txBody>
      </p:sp>
      <p:sp>
        <p:nvSpPr>
          <p:cNvPr id="17" name="shape-644">
            <a:extLst xmlns:a="http://schemas.openxmlformats.org/drawingml/2006/main">
              <a:ext uri="{FF2B5EF4-FFF2-40B4-BE49-F238E27FC236}">
                <a16:creationId xmlns:a16="http://schemas.microsoft.com/office/drawing/2014/main" id="{C0623CBF-FAD5-428C-B9CF-3F078009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7077075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8" name="text-645">
            <a:extLst xmlns:a="http://schemas.openxmlformats.org/drawingml/2006/main">
              <a:ext uri="{FF2B5EF4-FFF2-40B4-BE49-F238E27FC236}">
                <a16:creationId xmlns:a16="http://schemas.microsoft.com/office/drawing/2014/main" id="{B05DF533-8C35-4C18-89AF-673CE0AC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669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9" name="text-646">
            <a:extLst xmlns:a="http://schemas.openxmlformats.org/drawingml/2006/main">
              <a:ext uri="{FF2B5EF4-FFF2-40B4-BE49-F238E27FC236}">
                <a16:creationId xmlns:a16="http://schemas.microsoft.com/office/drawing/2014/main" id="{86AF1A31-8741-4851-84B8-207F7210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方法适配</a:t>
            </a:r>
          </a:p>
        </p:txBody>
      </p:sp>
      <p:sp>
        <p:nvSpPr>
          <p:cNvPr id="20" name="text-647">
            <a:extLst xmlns:a="http://schemas.openxmlformats.org/drawingml/2006/main">
              <a:ext uri="{FF2B5EF4-FFF2-40B4-BE49-F238E27FC236}">
                <a16:creationId xmlns:a16="http://schemas.microsoft.com/office/drawing/2014/main" id="{AE6BB9DB-47DD-4FF3-9CC0-4017F5B2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9775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按探索、描述、比较或解释任务选择方法</a:t>
            </a:r>
          </a:p>
        </p:txBody>
      </p:sp>
      <p:sp>
        <p:nvSpPr>
          <p:cNvPr id="21" name="shape-648">
            <a:extLst xmlns:a="http://schemas.openxmlformats.org/drawingml/2006/main">
              <a:ext uri="{FF2B5EF4-FFF2-40B4-BE49-F238E27FC236}">
                <a16:creationId xmlns:a16="http://schemas.microsoft.com/office/drawing/2014/main" id="{5D23CD38-8F46-4437-9741-7852B324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14588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2" name="text-649">
            <a:extLst xmlns:a="http://schemas.openxmlformats.org/drawingml/2006/main">
              <a:ext uri="{FF2B5EF4-FFF2-40B4-BE49-F238E27FC236}">
                <a16:creationId xmlns:a16="http://schemas.microsoft.com/office/drawing/2014/main" id="{0E12C3AC-D81E-4D02-BFB9-6F1BDC1D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7463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3" name="text-650">
            <a:extLst xmlns:a="http://schemas.openxmlformats.org/drawingml/2006/main">
              <a:ext uri="{FF2B5EF4-FFF2-40B4-BE49-F238E27FC236}">
                <a16:creationId xmlns:a16="http://schemas.microsoft.com/office/drawing/2014/main" id="{C3F25FAE-F1F3-467F-8C36-35A2F31D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8888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问题—证据对齐</a:t>
            </a:r>
          </a:p>
        </p:txBody>
      </p:sp>
      <p:sp>
        <p:nvSpPr>
          <p:cNvPr id="24" name="text-651">
            <a:extLst xmlns:a="http://schemas.openxmlformats.org/drawingml/2006/main">
              <a:ext uri="{FF2B5EF4-FFF2-40B4-BE49-F238E27FC236}">
                <a16:creationId xmlns:a16="http://schemas.microsoft.com/office/drawing/2014/main" id="{716ABA34-54C0-4FCE-AD58-9B063931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00313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每个研究问题都对应证据、方法和分析</a:t>
            </a:r>
          </a:p>
        </p:txBody>
      </p:sp>
      <p:sp>
        <p:nvSpPr>
          <p:cNvPr id="25" name="shape-652">
            <a:extLst xmlns:a="http://schemas.openxmlformats.org/drawingml/2006/main">
              <a:ext uri="{FF2B5EF4-FFF2-40B4-BE49-F238E27FC236}">
                <a16:creationId xmlns:a16="http://schemas.microsoft.com/office/drawing/2014/main" id="{C3D6AB6E-F070-4B5C-A7B5-AE89F61D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05125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653">
            <a:extLst xmlns:a="http://schemas.openxmlformats.org/drawingml/2006/main">
              <a:ext uri="{FF2B5EF4-FFF2-40B4-BE49-F238E27FC236}">
                <a16:creationId xmlns:a16="http://schemas.microsoft.com/office/drawing/2014/main" id="{9FF35CCA-AF1C-43F0-B7F2-CFA5AE43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7" name="text-654">
            <a:extLst xmlns:a="http://schemas.openxmlformats.org/drawingml/2006/main">
              <a:ext uri="{FF2B5EF4-FFF2-40B4-BE49-F238E27FC236}">
                <a16:creationId xmlns:a16="http://schemas.microsoft.com/office/drawing/2014/main" id="{99C11E12-7217-4980-AB14-B2B4E34E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预分析计划</a:t>
            </a:r>
          </a:p>
        </p:txBody>
      </p:sp>
      <p:sp>
        <p:nvSpPr>
          <p:cNvPr id="28" name="text-655">
            <a:extLst xmlns:a="http://schemas.openxmlformats.org/drawingml/2006/main">
              <a:ext uri="{FF2B5EF4-FFF2-40B4-BE49-F238E27FC236}">
                <a16:creationId xmlns:a16="http://schemas.microsoft.com/office/drawing/2014/main" id="{C2C631E4-6F64-4538-9CC6-13B2D33F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在看结果前固定指标、分群与缺失处理</a:t>
            </a:r>
          </a:p>
        </p:txBody>
      </p:sp>
      <p:sp>
        <p:nvSpPr>
          <p:cNvPr id="29" name="shape-656">
            <a:extLst xmlns:a="http://schemas.openxmlformats.org/drawingml/2006/main">
              <a:ext uri="{FF2B5EF4-FFF2-40B4-BE49-F238E27FC236}">
                <a16:creationId xmlns:a16="http://schemas.microsoft.com/office/drawing/2014/main" id="{081FF253-5DC9-4A00-9718-91812B55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5663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30" name="text-657">
            <a:extLst xmlns:a="http://schemas.openxmlformats.org/drawingml/2006/main">
              <a:ext uri="{FF2B5EF4-FFF2-40B4-BE49-F238E27FC236}">
                <a16:creationId xmlns:a16="http://schemas.microsoft.com/office/drawing/2014/main" id="{F2765D82-87BA-4AFB-B04A-89B0B33A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38538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1" name="text-658">
            <a:extLst xmlns:a="http://schemas.openxmlformats.org/drawingml/2006/main">
              <a:ext uri="{FF2B5EF4-FFF2-40B4-BE49-F238E27FC236}">
                <a16:creationId xmlns:a16="http://schemas.microsoft.com/office/drawing/2014/main" id="{C8377E77-31A9-47DF-BC2C-2AAAC518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9963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外部效度</a:t>
            </a:r>
          </a:p>
        </p:txBody>
      </p:sp>
      <p:sp>
        <p:nvSpPr>
          <p:cNvPr id="32" name="text-659">
            <a:extLst xmlns:a="http://schemas.openxmlformats.org/drawingml/2006/main">
              <a:ext uri="{FF2B5EF4-FFF2-40B4-BE49-F238E27FC236}">
                <a16:creationId xmlns:a16="http://schemas.microsoft.com/office/drawing/2014/main" id="{A697BA9B-C0F2-4B09-83B8-83B1C3DE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1388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明确结论可以推广到哪里</a:t>
            </a:r>
          </a:p>
        </p:txBody>
      </p:sp>
      <p:sp>
        <p:nvSpPr>
          <p:cNvPr id="33" name="shape-660">
            <a:extLst xmlns:a="http://schemas.openxmlformats.org/drawingml/2006/main">
              <a:ext uri="{FF2B5EF4-FFF2-40B4-BE49-F238E27FC236}">
                <a16:creationId xmlns:a16="http://schemas.microsoft.com/office/drawing/2014/main" id="{142F48FE-B330-4E2E-B819-07788470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57650"/>
            <a:ext cx="70770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34" name="text-661">
            <a:extLst xmlns:a="http://schemas.openxmlformats.org/drawingml/2006/main">
              <a:ext uri="{FF2B5EF4-FFF2-40B4-BE49-F238E27FC236}">
                <a16:creationId xmlns:a16="http://schemas.microsoft.com/office/drawing/2014/main" id="{1AB402CB-26B9-48C6-BBB0-635ADFDE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核心工作指令</a:t>
            </a:r>
          </a:p>
        </p:txBody>
      </p:sp>
      <p:sp>
        <p:nvSpPr>
          <p:cNvPr id="35" name="text-662">
            <a:extLst xmlns:a="http://schemas.openxmlformats.org/drawingml/2006/main">
              <a:ext uri="{FF2B5EF4-FFF2-40B4-BE49-F238E27FC236}">
                <a16:creationId xmlns:a16="http://schemas.microsoft.com/office/drawing/2014/main" id="{308ECFF1-7846-46E4-A5DF-27D842CE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00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1. 先写所需证据</a:t>
            </a:r>
          </a:p>
        </p:txBody>
      </p:sp>
      <p:sp>
        <p:nvSpPr>
          <p:cNvPr id="36" name="text-663">
            <a:extLst xmlns:a="http://schemas.openxmlformats.org/drawingml/2006/main">
              <a:ext uri="{FF2B5EF4-FFF2-40B4-BE49-F238E27FC236}">
                <a16:creationId xmlns:a16="http://schemas.microsoft.com/office/drawing/2014/main" id="{1134B894-62F6-4C2F-9ACD-7FD84742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00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2. 建立问题—证据—方法—分析映射</a:t>
            </a:r>
          </a:p>
        </p:txBody>
      </p:sp>
      <p:sp>
        <p:nvSpPr>
          <p:cNvPr id="37" name="text-664">
            <a:extLst xmlns:a="http://schemas.openxmlformats.org/drawingml/2006/main">
              <a:ext uri="{FF2B5EF4-FFF2-40B4-BE49-F238E27FC236}">
                <a16:creationId xmlns:a16="http://schemas.microsoft.com/office/drawing/2014/main" id="{8F2F0BEE-D948-4D51-8C55-79FCB992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33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3. 定义样本和抽样限制</a:t>
            </a:r>
          </a:p>
        </p:txBody>
      </p:sp>
      <p:sp>
        <p:nvSpPr>
          <p:cNvPr id="38" name="text-665">
            <a:extLst xmlns:a="http://schemas.openxmlformats.org/drawingml/2006/main">
              <a:ext uri="{FF2B5EF4-FFF2-40B4-BE49-F238E27FC236}">
                <a16:creationId xmlns:a16="http://schemas.microsoft.com/office/drawing/2014/main" id="{27BE27A1-AF1A-402B-9066-7C7A4B6A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4. 记录未选择方法的原因</a:t>
            </a:r>
          </a:p>
        </p:txBody>
      </p:sp>
      <p:sp>
        <p:nvSpPr>
          <p:cNvPr id="39" name="shape-666">
            <a:extLst xmlns:a="http://schemas.openxmlformats.org/drawingml/2006/main">
              <a:ext uri="{FF2B5EF4-FFF2-40B4-BE49-F238E27FC236}">
                <a16:creationId xmlns:a16="http://schemas.microsoft.com/office/drawing/2014/main" id="{9259A2B0-3D0F-4EEF-BC9F-1F1A9986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86350"/>
            <a:ext cx="70770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0EEE6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0" name="text-667">
            <a:extLst xmlns:a="http://schemas.openxmlformats.org/drawingml/2006/main">
              <a:ext uri="{FF2B5EF4-FFF2-40B4-BE49-F238E27FC236}">
                <a16:creationId xmlns:a16="http://schemas.microsoft.com/office/drawing/2014/main" id="{892EBCB4-505C-47EF-BE35-9845131F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006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能力边界｜不用少量便利访谈估计比例；不堆叠无用途方法。</a:t>
            </a:r>
          </a:p>
        </p:txBody>
      </p:sp>
      <p:sp>
        <p:nvSpPr>
          <p:cNvPr id="41" name="shape-668">
            <a:extLst xmlns:a="http://schemas.openxmlformats.org/drawingml/2006/main">
              <a:ext uri="{FF2B5EF4-FFF2-40B4-BE49-F238E27FC236}">
                <a16:creationId xmlns:a16="http://schemas.microsoft.com/office/drawing/2014/main" id="{66BB2FD0-6096-4DF7-A4D4-A9CACD92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2" name="text-669">
            <a:extLst xmlns:a="http://schemas.openxmlformats.org/drawingml/2006/main">
              <a:ext uri="{FF2B5EF4-FFF2-40B4-BE49-F238E27FC236}">
                <a16:creationId xmlns:a16="http://schemas.microsoft.com/office/drawing/2014/main" id="{3E42E50E-3056-491F-8D8F-87F199A0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00650"/>
            <a:ext cx="3209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案例表现｜选择结构化问卷，并预设总体描述与年龄、经验分群分析。</a:t>
            </a:r>
          </a:p>
        </p:txBody>
      </p:sp>
      <p:sp>
        <p:nvSpPr>
          <p:cNvPr id="43" name="text-670">
            <a:extLst xmlns:a="http://schemas.openxmlformats.org/drawingml/2006/main">
              <a:ext uri="{FF2B5EF4-FFF2-40B4-BE49-F238E27FC236}">
                <a16:creationId xmlns:a16="http://schemas.microsoft.com/office/drawing/2014/main" id="{B2241371-ADB2-42E3-8B8D-665E77C0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3e07de24a7ce404a" action="ppaction://hlinksldjump"/>
              </a:rPr>
              <a:t>← 返回专家地图</a:t>
            </a:r>
          </a:p>
        </p:txBody>
      </p:sp>
      <p:sp>
        <p:nvSpPr>
          <p:cNvPr id="44" name="text-671">
            <a:extLst xmlns:a="http://schemas.openxmlformats.org/drawingml/2006/main">
              <a:ext uri="{FF2B5EF4-FFF2-40B4-BE49-F238E27FC236}">
                <a16:creationId xmlns:a16="http://schemas.microsoft.com/office/drawing/2014/main" id="{81DE59AA-A8DD-4031-82CC-ABBDD238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055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aa5ae1f142da4a34" action="ppaction://hlinksldjump"/>
              </a:rPr>
              <a:t>回到负责阶段 →</a:t>
            </a:r>
          </a:p>
        </p:txBody>
      </p:sp>
    </p:spTree>
    <p:extLst>
      <p:ext uri="{BB962C8B-B14F-4D97-AF65-F5344CB8AC3E}">
        <p14:creationId xmlns:p14="http://schemas.microsoft.com/office/powerpoint/2010/main" val="7962424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ext-672">
            <a:extLst xmlns:a="http://schemas.openxmlformats.org/drawingml/2006/main">
              <a:ext uri="{FF2B5EF4-FFF2-40B4-BE49-F238E27FC236}">
                <a16:creationId xmlns:a16="http://schemas.microsoft.com/office/drawing/2014/main" id="{674B60A3-BF75-44AE-85BE-761ED71A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专家方法与工作指令 · 03 / 07</a:t>
            </a:r>
          </a:p>
        </p:txBody>
      </p:sp>
      <p:sp>
        <p:nvSpPr>
          <p:cNvPr id="2" name="text-673">
            <a:extLst xmlns:a="http://schemas.openxmlformats.org/drawingml/2006/main">
              <a:ext uri="{FF2B5EF4-FFF2-40B4-BE49-F238E27FC236}">
                <a16:creationId xmlns:a16="http://schemas.microsoft.com/office/drawing/2014/main" id="{1D9190A4-4190-4F3B-95A8-414E2B3D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工具设计专家｜把抽象概念转成可测量证据</a:t>
            </a:r>
          </a:p>
        </p:txBody>
      </p:sp>
      <p:sp>
        <p:nvSpPr>
          <p:cNvPr id="3" name="shape-674">
            <a:extLst xmlns:a="http://schemas.openxmlformats.org/drawingml/2006/main">
              <a:ext uri="{FF2B5EF4-FFF2-40B4-BE49-F238E27FC236}">
                <a16:creationId xmlns:a16="http://schemas.microsoft.com/office/drawing/2014/main" id="{6ADC85DB-9186-41A2-AA3C-3F890166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675">
            <a:extLst xmlns:a="http://schemas.openxmlformats.org/drawingml/2006/main">
              <a:ext uri="{FF2B5EF4-FFF2-40B4-BE49-F238E27FC236}">
                <a16:creationId xmlns:a16="http://schemas.microsoft.com/office/drawing/2014/main" id="{4B976822-EAF5-4A78-848E-092FD3B3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问卷与访谈设计专家 · 专业方法与工作指令</a:t>
            </a:r>
          </a:p>
        </p:txBody>
      </p:sp>
      <p:sp>
        <p:nvSpPr>
          <p:cNvPr id="5" name="text-676">
            <a:extLst xmlns:a="http://schemas.openxmlformats.org/drawingml/2006/main">
              <a:ext uri="{FF2B5EF4-FFF2-40B4-BE49-F238E27FC236}">
                <a16:creationId xmlns:a16="http://schemas.microsoft.com/office/drawing/2014/main" id="{18528B49-A833-470F-9249-CD096F49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  <p:sp>
        <p:nvSpPr>
          <p:cNvPr id="6" name="shape-677">
            <a:extLst xmlns:a="http://schemas.openxmlformats.org/drawingml/2006/main">
              <a:ext uri="{FF2B5EF4-FFF2-40B4-BE49-F238E27FC236}">
                <a16:creationId xmlns:a16="http://schemas.microsoft.com/office/drawing/2014/main" id="{07A68814-8E19-4576-A553-0E407B54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38500" cy="39433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7" name="text-678">
            <a:extLst xmlns:a="http://schemas.openxmlformats.org/drawingml/2006/main">
              <a:ext uri="{FF2B5EF4-FFF2-40B4-BE49-F238E27FC236}">
                <a16:creationId xmlns:a16="http://schemas.microsoft.com/office/drawing/2014/main" id="{E04E8611-AB29-44C8-BEEE-CF5F0422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主要负责 · 阶段 04</a:t>
            </a:r>
          </a:p>
        </p:txBody>
      </p:sp>
      <p:sp>
        <p:nvSpPr>
          <p:cNvPr id="8" name="text-679">
            <a:extLst xmlns:a="http://schemas.openxmlformats.org/drawingml/2006/main">
              <a:ext uri="{FF2B5EF4-FFF2-40B4-BE49-F238E27FC236}">
                <a16:creationId xmlns:a16="http://schemas.microsoft.com/office/drawing/2014/main" id="{96F4ED37-497C-472B-ACD8-874C0CDC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问卷与访谈设计专家</a:t>
            </a:r>
          </a:p>
        </p:txBody>
      </p:sp>
      <p:sp>
        <p:nvSpPr>
          <p:cNvPr id="9" name="text-680">
            <a:extLst xmlns:a="http://schemas.openxmlformats.org/drawingml/2006/main">
              <a:ext uri="{FF2B5EF4-FFF2-40B4-BE49-F238E27FC236}">
                <a16:creationId xmlns:a16="http://schemas.microsoft.com/office/drawing/2014/main" id="{3A01EFB2-BB14-4D57-84D3-18021F36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负责什么</a:t>
            </a:r>
          </a:p>
        </p:txBody>
      </p:sp>
      <p:sp>
        <p:nvSpPr>
          <p:cNvPr id="10" name="text-681">
            <a:extLst xmlns:a="http://schemas.openxmlformats.org/drawingml/2006/main">
              <a:ext uri="{FF2B5EF4-FFF2-40B4-BE49-F238E27FC236}">
                <a16:creationId xmlns:a16="http://schemas.microsoft.com/office/drawing/2014/main" id="{03EEB28A-3BC2-46F2-A503-6BA203D6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设计题目与提纲，同时定义变量、分群和有效性。</a:t>
            </a:r>
          </a:p>
        </p:txBody>
      </p:sp>
      <p:sp>
        <p:nvSpPr>
          <p:cNvPr id="11" name="text-682">
            <a:extLst xmlns:a="http://schemas.openxmlformats.org/drawingml/2006/main">
              <a:ext uri="{FF2B5EF4-FFF2-40B4-BE49-F238E27FC236}">
                <a16:creationId xmlns:a16="http://schemas.microsoft.com/office/drawing/2014/main" id="{891CA181-93D7-4077-A14E-260AB81A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为什么需要</a:t>
            </a:r>
          </a:p>
        </p:txBody>
      </p:sp>
      <p:sp>
        <p:nvSpPr>
          <p:cNvPr id="12" name="text-683">
            <a:extLst xmlns:a="http://schemas.openxmlformats.org/drawingml/2006/main">
              <a:ext uri="{FF2B5EF4-FFF2-40B4-BE49-F238E27FC236}">
                <a16:creationId xmlns:a16="http://schemas.microsoft.com/office/drawing/2014/main" id="{024739A1-8B98-454E-B3A5-F7E3FB40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核心任务是构念操作化与测量质量。</a:t>
            </a:r>
          </a:p>
        </p:txBody>
      </p:sp>
      <p:sp>
        <p:nvSpPr>
          <p:cNvPr id="13" name="shape-684">
            <a:extLst xmlns:a="http://schemas.openxmlformats.org/drawingml/2006/main">
              <a:ext uri="{FF2B5EF4-FFF2-40B4-BE49-F238E27FC236}">
                <a16:creationId xmlns:a16="http://schemas.microsoft.com/office/drawing/2014/main" id="{B5B4F435-AC84-47A8-B084-E88D8F4C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281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FAF9F5"/>
            </a:solidFill>
            <a:prstDash val="solid"/>
          </a:ln>
        </p:spPr>
      </p:sp>
      <p:sp>
        <p:nvSpPr>
          <p:cNvPr id="14" name="text-685">
            <a:extLst xmlns:a="http://schemas.openxmlformats.org/drawingml/2006/main">
              <a:ext uri="{FF2B5EF4-FFF2-40B4-BE49-F238E27FC236}">
                <a16:creationId xmlns:a16="http://schemas.microsoft.com/office/drawing/2014/main" id="{75A44380-1C64-41F6-A16A-4A08EF36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15" name="text-686">
            <a:extLst xmlns:a="http://schemas.openxmlformats.org/drawingml/2006/main">
              <a:ext uri="{FF2B5EF4-FFF2-40B4-BE49-F238E27FC236}">
                <a16:creationId xmlns:a16="http://schemas.microsoft.com/office/drawing/2014/main" id="{375EC477-306E-4396-B6A8-438FA250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rPr>
              <a:t>研究工具：问卷或提纲、变量、分群和质量规则。</a:t>
            </a:r>
          </a:p>
        </p:txBody>
      </p:sp>
      <p:sp>
        <p:nvSpPr>
          <p:cNvPr id="16" name="text-687">
            <a:extLst xmlns:a="http://schemas.openxmlformats.org/drawingml/2006/main">
              <a:ext uri="{FF2B5EF4-FFF2-40B4-BE49-F238E27FC236}">
                <a16:creationId xmlns:a16="http://schemas.microsoft.com/office/drawing/2014/main" id="{3B2F8F82-50A3-446A-A37F-3CF548C4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76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专业能力</a:t>
            </a:r>
          </a:p>
        </p:txBody>
      </p:sp>
      <p:sp>
        <p:nvSpPr>
          <p:cNvPr id="17" name="shape-688">
            <a:extLst xmlns:a="http://schemas.openxmlformats.org/drawingml/2006/main">
              <a:ext uri="{FF2B5EF4-FFF2-40B4-BE49-F238E27FC236}">
                <a16:creationId xmlns:a16="http://schemas.microsoft.com/office/drawing/2014/main" id="{DFC2BFDA-0EC5-4F68-B90C-452ED921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7077075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8" name="text-689">
            <a:extLst xmlns:a="http://schemas.openxmlformats.org/drawingml/2006/main">
              <a:ext uri="{FF2B5EF4-FFF2-40B4-BE49-F238E27FC236}">
                <a16:creationId xmlns:a16="http://schemas.microsoft.com/office/drawing/2014/main" id="{01017E31-DF5E-4596-90FD-3CE7DBD2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669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9" name="text-690">
            <a:extLst xmlns:a="http://schemas.openxmlformats.org/drawingml/2006/main">
              <a:ext uri="{FF2B5EF4-FFF2-40B4-BE49-F238E27FC236}">
                <a16:creationId xmlns:a16="http://schemas.microsoft.com/office/drawing/2014/main" id="{DC78AF65-3C3F-43E3-AB87-8BCD7721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构念操作化</a:t>
            </a:r>
          </a:p>
        </p:txBody>
      </p:sp>
      <p:sp>
        <p:nvSpPr>
          <p:cNvPr id="20" name="text-691">
            <a:extLst xmlns:a="http://schemas.openxmlformats.org/drawingml/2006/main">
              <a:ext uri="{FF2B5EF4-FFF2-40B4-BE49-F238E27FC236}">
                <a16:creationId xmlns:a16="http://schemas.microsoft.com/office/drawing/2014/main" id="{ECA066A6-EC4A-4107-8233-7BDB0858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9775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把理解、信任和风险偏好转成可测项目</a:t>
            </a:r>
          </a:p>
        </p:txBody>
      </p:sp>
      <p:sp>
        <p:nvSpPr>
          <p:cNvPr id="21" name="shape-692">
            <a:extLst xmlns:a="http://schemas.openxmlformats.org/drawingml/2006/main">
              <a:ext uri="{FF2B5EF4-FFF2-40B4-BE49-F238E27FC236}">
                <a16:creationId xmlns:a16="http://schemas.microsoft.com/office/drawing/2014/main" id="{118AEB09-21A9-4E68-A3A1-FDFAC309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14588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2" name="text-693">
            <a:extLst xmlns:a="http://schemas.openxmlformats.org/drawingml/2006/main">
              <a:ext uri="{FF2B5EF4-FFF2-40B4-BE49-F238E27FC236}">
                <a16:creationId xmlns:a16="http://schemas.microsoft.com/office/drawing/2014/main" id="{DB09FCDF-F713-48CC-A88F-FF7B31A3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7463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3" name="text-694">
            <a:extLst xmlns:a="http://schemas.openxmlformats.org/drawingml/2006/main">
              <a:ext uri="{FF2B5EF4-FFF2-40B4-BE49-F238E27FC236}">
                <a16:creationId xmlns:a16="http://schemas.microsoft.com/office/drawing/2014/main" id="{F6BC0A94-51C7-4E81-BC30-CDD2F3D9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8888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构念效度</a:t>
            </a:r>
          </a:p>
        </p:txBody>
      </p:sp>
      <p:sp>
        <p:nvSpPr>
          <p:cNvPr id="24" name="text-695">
            <a:extLst xmlns:a="http://schemas.openxmlformats.org/drawingml/2006/main">
              <a:ext uri="{FF2B5EF4-FFF2-40B4-BE49-F238E27FC236}">
                <a16:creationId xmlns:a16="http://schemas.microsoft.com/office/drawing/2014/main" id="{24B5E8CF-4297-4310-B6C3-3A8AD996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00313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确认题目实际测到目标概念</a:t>
            </a:r>
          </a:p>
        </p:txBody>
      </p:sp>
      <p:sp>
        <p:nvSpPr>
          <p:cNvPr id="25" name="shape-696">
            <a:extLst xmlns:a="http://schemas.openxmlformats.org/drawingml/2006/main">
              <a:ext uri="{FF2B5EF4-FFF2-40B4-BE49-F238E27FC236}">
                <a16:creationId xmlns:a16="http://schemas.microsoft.com/office/drawing/2014/main" id="{37D042BD-0E87-48F5-8B13-8886F07D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05125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697">
            <a:extLst xmlns:a="http://schemas.openxmlformats.org/drawingml/2006/main">
              <a:ext uri="{FF2B5EF4-FFF2-40B4-BE49-F238E27FC236}">
                <a16:creationId xmlns:a16="http://schemas.microsoft.com/office/drawing/2014/main" id="{6B2ACFC1-B5AF-450F-8138-DC4543C6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7" name="text-698">
            <a:extLst xmlns:a="http://schemas.openxmlformats.org/drawingml/2006/main">
              <a:ext uri="{FF2B5EF4-FFF2-40B4-BE49-F238E27FC236}">
                <a16:creationId xmlns:a16="http://schemas.microsoft.com/office/drawing/2014/main" id="{9777453E-D92D-4D0C-B163-CECEE653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认知负荷</a:t>
            </a:r>
          </a:p>
        </p:txBody>
      </p:sp>
      <p:sp>
        <p:nvSpPr>
          <p:cNvPr id="28" name="text-699">
            <a:extLst xmlns:a="http://schemas.openxmlformats.org/drawingml/2006/main">
              <a:ext uri="{FF2B5EF4-FFF2-40B4-BE49-F238E27FC236}">
                <a16:creationId xmlns:a16="http://schemas.microsoft.com/office/drawing/2014/main" id="{E2B1F007-A401-469A-8F5D-DDD66161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控制题干复杂度与完成负担</a:t>
            </a:r>
          </a:p>
        </p:txBody>
      </p:sp>
      <p:sp>
        <p:nvSpPr>
          <p:cNvPr id="29" name="shape-700">
            <a:extLst xmlns:a="http://schemas.openxmlformats.org/drawingml/2006/main">
              <a:ext uri="{FF2B5EF4-FFF2-40B4-BE49-F238E27FC236}">
                <a16:creationId xmlns:a16="http://schemas.microsoft.com/office/drawing/2014/main" id="{5D562BDD-B296-48A5-B1A7-7119F81C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5663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30" name="text-701">
            <a:extLst xmlns:a="http://schemas.openxmlformats.org/drawingml/2006/main">
              <a:ext uri="{FF2B5EF4-FFF2-40B4-BE49-F238E27FC236}">
                <a16:creationId xmlns:a16="http://schemas.microsoft.com/office/drawing/2014/main" id="{A8B20E53-D21B-427B-8450-A302C41B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38538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1" name="text-702">
            <a:extLst xmlns:a="http://schemas.openxmlformats.org/drawingml/2006/main">
              <a:ext uri="{FF2B5EF4-FFF2-40B4-BE49-F238E27FC236}">
                <a16:creationId xmlns:a16="http://schemas.microsoft.com/office/drawing/2014/main" id="{84544CFC-BA01-4143-A9AF-6A5BEEF2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9963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反应偏差</a:t>
            </a:r>
          </a:p>
        </p:txBody>
      </p:sp>
      <p:sp>
        <p:nvSpPr>
          <p:cNvPr id="32" name="text-703">
            <a:extLst xmlns:a="http://schemas.openxmlformats.org/drawingml/2006/main">
              <a:ext uri="{FF2B5EF4-FFF2-40B4-BE49-F238E27FC236}">
                <a16:creationId xmlns:a16="http://schemas.microsoft.com/office/drawing/2014/main" id="{EF204A0F-38D1-43B6-882D-F1B402E2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1388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识别社会期许、诱导和回忆偏差</a:t>
            </a:r>
          </a:p>
        </p:txBody>
      </p:sp>
      <p:sp>
        <p:nvSpPr>
          <p:cNvPr id="33" name="shape-704">
            <a:extLst xmlns:a="http://schemas.openxmlformats.org/drawingml/2006/main">
              <a:ext uri="{FF2B5EF4-FFF2-40B4-BE49-F238E27FC236}">
                <a16:creationId xmlns:a16="http://schemas.microsoft.com/office/drawing/2014/main" id="{45087A18-C393-41EF-96B5-DA165902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57650"/>
            <a:ext cx="70770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34" name="text-705">
            <a:extLst xmlns:a="http://schemas.openxmlformats.org/drawingml/2006/main">
              <a:ext uri="{FF2B5EF4-FFF2-40B4-BE49-F238E27FC236}">
                <a16:creationId xmlns:a16="http://schemas.microsoft.com/office/drawing/2014/main" id="{9E709CDF-5F42-4B0F-988C-D55502E8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核心工作指令</a:t>
            </a:r>
          </a:p>
        </p:txBody>
      </p:sp>
      <p:sp>
        <p:nvSpPr>
          <p:cNvPr id="35" name="text-706">
            <a:extLst xmlns:a="http://schemas.openxmlformats.org/drawingml/2006/main">
              <a:ext uri="{FF2B5EF4-FFF2-40B4-BE49-F238E27FC236}">
                <a16:creationId xmlns:a16="http://schemas.microsoft.com/office/drawing/2014/main" id="{06237D67-4F95-420B-A49C-BE68B2AB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00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1. 每题对应研究问题和分析用途</a:t>
            </a:r>
          </a:p>
        </p:txBody>
      </p:sp>
      <p:sp>
        <p:nvSpPr>
          <p:cNvPr id="36" name="text-707">
            <a:extLst xmlns:a="http://schemas.openxmlformats.org/drawingml/2006/main">
              <a:ext uri="{FF2B5EF4-FFF2-40B4-BE49-F238E27FC236}">
                <a16:creationId xmlns:a16="http://schemas.microsoft.com/office/drawing/2014/main" id="{0A50F0A3-323F-40F5-8FD5-14C3F451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00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2. 一题只测一个核心概念</a:t>
            </a:r>
          </a:p>
        </p:txBody>
      </p:sp>
      <p:sp>
        <p:nvSpPr>
          <p:cNvPr id="37" name="text-708">
            <a:extLst xmlns:a="http://schemas.openxmlformats.org/drawingml/2006/main">
              <a:ext uri="{FF2B5EF4-FFF2-40B4-BE49-F238E27FC236}">
                <a16:creationId xmlns:a16="http://schemas.microsoft.com/office/drawing/2014/main" id="{4551B24E-1873-4D6C-8A28-414AADF7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33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3. 知识、态度与意向分开测量</a:t>
            </a:r>
          </a:p>
        </p:txBody>
      </p:sp>
      <p:sp>
        <p:nvSpPr>
          <p:cNvPr id="38" name="text-709">
            <a:extLst xmlns:a="http://schemas.openxmlformats.org/drawingml/2006/main">
              <a:ext uri="{FF2B5EF4-FFF2-40B4-BE49-F238E27FC236}">
                <a16:creationId xmlns:a16="http://schemas.microsoft.com/office/drawing/2014/main" id="{E59EE13D-E9F5-425E-B5F4-2F8262F1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4. 金融事实与变量规则同步复核</a:t>
            </a:r>
          </a:p>
        </p:txBody>
      </p:sp>
      <p:sp>
        <p:nvSpPr>
          <p:cNvPr id="39" name="shape-710">
            <a:extLst xmlns:a="http://schemas.openxmlformats.org/drawingml/2006/main">
              <a:ext uri="{FF2B5EF4-FFF2-40B4-BE49-F238E27FC236}">
                <a16:creationId xmlns:a16="http://schemas.microsoft.com/office/drawing/2014/main" id="{3A560970-A128-49A9-ADE0-25B3100A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86350"/>
            <a:ext cx="70770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0EEE6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0" name="text-711">
            <a:extLst xmlns:a="http://schemas.openxmlformats.org/drawingml/2006/main">
              <a:ext uri="{FF2B5EF4-FFF2-40B4-BE49-F238E27FC236}">
                <a16:creationId xmlns:a16="http://schemas.microsoft.com/office/drawing/2014/main" id="{F7CCC695-4E3B-4F1D-8922-D236213D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006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能力边界｜不新增方案外目标；不自动发布；不把链接点击当作理解证据。</a:t>
            </a:r>
          </a:p>
        </p:txBody>
      </p:sp>
      <p:sp>
        <p:nvSpPr>
          <p:cNvPr id="41" name="shape-712">
            <a:extLst xmlns:a="http://schemas.openxmlformats.org/drawingml/2006/main">
              <a:ext uri="{FF2B5EF4-FFF2-40B4-BE49-F238E27FC236}">
                <a16:creationId xmlns:a16="http://schemas.microsoft.com/office/drawing/2014/main" id="{C792FC65-C16E-4641-9E2F-524D846E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2" name="text-713">
            <a:extLst xmlns:a="http://schemas.openxmlformats.org/drawingml/2006/main">
              <a:ext uri="{FF2B5EF4-FFF2-40B4-BE49-F238E27FC236}">
                <a16:creationId xmlns:a16="http://schemas.microsoft.com/office/drawing/2014/main" id="{22CE2884-5CE0-4EDE-B561-B6ACCFB1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00650"/>
            <a:ext cx="3209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案例表现｜形成35项问卷，加入年龄分群、打分题、事实复核与数据有效性规则。</a:t>
            </a:r>
          </a:p>
        </p:txBody>
      </p:sp>
      <p:sp>
        <p:nvSpPr>
          <p:cNvPr id="43" name="text-714">
            <a:extLst xmlns:a="http://schemas.openxmlformats.org/drawingml/2006/main">
              <a:ext uri="{FF2B5EF4-FFF2-40B4-BE49-F238E27FC236}">
                <a16:creationId xmlns:a16="http://schemas.microsoft.com/office/drawing/2014/main" id="{07A149A9-212D-4E37-A8BF-2BD0F746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c4c67561ab404a94" action="ppaction://hlinksldjump"/>
              </a:rPr>
              <a:t>← 返回专家地图</a:t>
            </a:r>
          </a:p>
        </p:txBody>
      </p:sp>
      <p:sp>
        <p:nvSpPr>
          <p:cNvPr id="44" name="text-715">
            <a:extLst xmlns:a="http://schemas.openxmlformats.org/drawingml/2006/main">
              <a:ext uri="{FF2B5EF4-FFF2-40B4-BE49-F238E27FC236}">
                <a16:creationId xmlns:a16="http://schemas.microsoft.com/office/drawing/2014/main" id="{2C53DEEF-63D2-41FB-BADB-48016D71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055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94aa1a70e0a14271" action="ppaction://hlinksldjump"/>
              </a:rPr>
              <a:t>回到负责阶段 →</a:t>
            </a:r>
          </a:p>
        </p:txBody>
      </p:sp>
    </p:spTree>
    <p:extLst>
      <p:ext uri="{BB962C8B-B14F-4D97-AF65-F5344CB8AC3E}">
        <p14:creationId xmlns:p14="http://schemas.microsoft.com/office/powerpoint/2010/main" val="20295451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4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ext-716">
            <a:extLst xmlns:a="http://schemas.openxmlformats.org/drawingml/2006/main">
              <a:ext uri="{FF2B5EF4-FFF2-40B4-BE49-F238E27FC236}">
                <a16:creationId xmlns:a16="http://schemas.microsoft.com/office/drawing/2014/main" id="{C17DB604-5047-44B9-843E-06026900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专家方法与工作指令 · 04 / 07</a:t>
            </a:r>
          </a:p>
        </p:txBody>
      </p:sp>
      <p:sp>
        <p:nvSpPr>
          <p:cNvPr id="2" name="text-717">
            <a:extLst xmlns:a="http://schemas.openxmlformats.org/drawingml/2006/main">
              <a:ext uri="{FF2B5EF4-FFF2-40B4-BE49-F238E27FC236}">
                <a16:creationId xmlns:a16="http://schemas.microsoft.com/office/drawing/2014/main" id="{AA724EFE-AD89-4931-8172-EC2872B7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AF9F5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FAF9F5"/>
                </a:solidFill>
                <a:latin typeface="SimSun"/>
                <a:ea typeface="SimSun"/>
                <a:cs typeface="SimSun"/>
              </a:rPr>
              <a:t>质量审核专家｜用独立复核阻断研究风险</a:t>
            </a:r>
          </a:p>
        </p:txBody>
      </p:sp>
      <p:sp>
        <p:nvSpPr>
          <p:cNvPr id="3" name="shape-718">
            <a:extLst xmlns:a="http://schemas.openxmlformats.org/drawingml/2006/main">
              <a:ext uri="{FF2B5EF4-FFF2-40B4-BE49-F238E27FC236}">
                <a16:creationId xmlns:a16="http://schemas.microsoft.com/office/drawing/2014/main" id="{446CA2DA-0555-450D-9227-F18199A6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D3D3A"/>
            </a:solidFill>
            <a:prstDash val="solid"/>
          </a:ln>
        </p:spPr>
      </p:sp>
      <p:sp>
        <p:nvSpPr>
          <p:cNvPr id="4" name="text-719">
            <a:extLst xmlns:a="http://schemas.openxmlformats.org/drawingml/2006/main">
              <a:ext uri="{FF2B5EF4-FFF2-40B4-BE49-F238E27FC236}">
                <a16:creationId xmlns:a16="http://schemas.microsoft.com/office/drawing/2014/main" id="{D996707C-5228-4653-BBEA-94204875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研究质量审核专家 · 专业方法与工作指令</a:t>
            </a:r>
          </a:p>
        </p:txBody>
      </p:sp>
      <p:sp>
        <p:nvSpPr>
          <p:cNvPr id="5" name="text-720">
            <a:extLst xmlns:a="http://schemas.openxmlformats.org/drawingml/2006/main">
              <a:ext uri="{FF2B5EF4-FFF2-40B4-BE49-F238E27FC236}">
                <a16:creationId xmlns:a16="http://schemas.microsoft.com/office/drawing/2014/main" id="{B812FC15-0CDD-436A-95CC-78C5785F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  <p:sp>
        <p:nvSpPr>
          <p:cNvPr id="6" name="shape-721">
            <a:extLst xmlns:a="http://schemas.openxmlformats.org/drawingml/2006/main">
              <a:ext uri="{FF2B5EF4-FFF2-40B4-BE49-F238E27FC236}">
                <a16:creationId xmlns:a16="http://schemas.microsoft.com/office/drawing/2014/main" id="{3219EEFA-3925-4F4B-BFE0-BF99E078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38500" cy="39433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7" name="text-722">
            <a:extLst xmlns:a="http://schemas.openxmlformats.org/drawingml/2006/main">
              <a:ext uri="{FF2B5EF4-FFF2-40B4-BE49-F238E27FC236}">
                <a16:creationId xmlns:a16="http://schemas.microsoft.com/office/drawing/2014/main" id="{FD6637C9-B845-4B32-8B6E-2C7DC54C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贯穿 · 阶段 02—07</a:t>
            </a:r>
          </a:p>
        </p:txBody>
      </p:sp>
      <p:sp>
        <p:nvSpPr>
          <p:cNvPr id="8" name="text-723">
            <a:extLst xmlns:a="http://schemas.openxmlformats.org/drawingml/2006/main">
              <a:ext uri="{FF2B5EF4-FFF2-40B4-BE49-F238E27FC236}">
                <a16:creationId xmlns:a16="http://schemas.microsoft.com/office/drawing/2014/main" id="{291D96EB-BDCF-4B37-8EAB-C67ECA5A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研究质量审核专家</a:t>
            </a:r>
          </a:p>
        </p:txBody>
      </p:sp>
      <p:sp>
        <p:nvSpPr>
          <p:cNvPr id="9" name="text-724">
            <a:extLst xmlns:a="http://schemas.openxmlformats.org/drawingml/2006/main">
              <a:ext uri="{FF2B5EF4-FFF2-40B4-BE49-F238E27FC236}">
                <a16:creationId xmlns:a16="http://schemas.microsoft.com/office/drawing/2014/main" id="{AFB3D37E-3BBF-4E1B-BBF1-170EF9DD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负责什么</a:t>
            </a:r>
          </a:p>
        </p:txBody>
      </p:sp>
      <p:sp>
        <p:nvSpPr>
          <p:cNvPr id="10" name="text-725">
            <a:extLst xmlns:a="http://schemas.openxmlformats.org/drawingml/2006/main">
              <a:ext uri="{FF2B5EF4-FFF2-40B4-BE49-F238E27FC236}">
                <a16:creationId xmlns:a16="http://schemas.microsoft.com/office/drawing/2014/main" id="{B6365E51-237D-4957-AE14-48F1654D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独立审核指定版本，定位问题、严重程度与修复条件。</a:t>
            </a:r>
          </a:p>
        </p:txBody>
      </p:sp>
      <p:sp>
        <p:nvSpPr>
          <p:cNvPr id="11" name="text-726">
            <a:extLst xmlns:a="http://schemas.openxmlformats.org/drawingml/2006/main">
              <a:ext uri="{FF2B5EF4-FFF2-40B4-BE49-F238E27FC236}">
                <a16:creationId xmlns:a16="http://schemas.microsoft.com/office/drawing/2014/main" id="{5D9D1270-B796-4E67-915D-2460FE51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为什么需要</a:t>
            </a:r>
          </a:p>
        </p:txBody>
      </p:sp>
      <p:sp>
        <p:nvSpPr>
          <p:cNvPr id="12" name="text-727">
            <a:extLst xmlns:a="http://schemas.openxmlformats.org/drawingml/2006/main">
              <a:ext uri="{FF2B5EF4-FFF2-40B4-BE49-F238E27FC236}">
                <a16:creationId xmlns:a16="http://schemas.microsoft.com/office/drawing/2014/main" id="{FE5191D1-F489-4A96-973B-6283F87D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生成者容易延续自身假设，需要独立复核。</a:t>
            </a:r>
          </a:p>
        </p:txBody>
      </p:sp>
      <p:sp>
        <p:nvSpPr>
          <p:cNvPr id="13" name="shape-728">
            <a:extLst xmlns:a="http://schemas.openxmlformats.org/drawingml/2006/main">
              <a:ext uri="{FF2B5EF4-FFF2-40B4-BE49-F238E27FC236}">
                <a16:creationId xmlns:a16="http://schemas.microsoft.com/office/drawing/2014/main" id="{636563B9-0410-446F-A6AF-72ED97C0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281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FAF9F5"/>
            </a:solidFill>
            <a:prstDash val="solid"/>
          </a:ln>
        </p:spPr>
      </p:sp>
      <p:sp>
        <p:nvSpPr>
          <p:cNvPr id="14" name="text-729">
            <a:extLst xmlns:a="http://schemas.openxmlformats.org/drawingml/2006/main">
              <a:ext uri="{FF2B5EF4-FFF2-40B4-BE49-F238E27FC236}">
                <a16:creationId xmlns:a16="http://schemas.microsoft.com/office/drawing/2014/main" id="{36490D74-813C-4224-9B14-FE00F712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15" name="text-730">
            <a:extLst xmlns:a="http://schemas.openxmlformats.org/drawingml/2006/main">
              <a:ext uri="{FF2B5EF4-FFF2-40B4-BE49-F238E27FC236}">
                <a16:creationId xmlns:a16="http://schemas.microsoft.com/office/drawing/2014/main" id="{5883651A-2DF6-4255-B030-DFCCE7BD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rPr>
              <a:t>审核结果：问题、证据、严重度、责任方和通过条件。</a:t>
            </a:r>
          </a:p>
        </p:txBody>
      </p:sp>
      <p:sp>
        <p:nvSpPr>
          <p:cNvPr id="16" name="text-731">
            <a:extLst xmlns:a="http://schemas.openxmlformats.org/drawingml/2006/main">
              <a:ext uri="{FF2B5EF4-FFF2-40B4-BE49-F238E27FC236}">
                <a16:creationId xmlns:a16="http://schemas.microsoft.com/office/drawing/2014/main" id="{DCBC707F-B966-41FD-B2B0-15047FDA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76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专业能力</a:t>
            </a:r>
          </a:p>
        </p:txBody>
      </p:sp>
      <p:sp>
        <p:nvSpPr>
          <p:cNvPr id="17" name="shape-732">
            <a:extLst xmlns:a="http://schemas.openxmlformats.org/drawingml/2006/main">
              <a:ext uri="{FF2B5EF4-FFF2-40B4-BE49-F238E27FC236}">
                <a16:creationId xmlns:a16="http://schemas.microsoft.com/office/drawing/2014/main" id="{CD5B7CDF-B4DF-4D86-8EC8-BF300D5D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7077075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8" name="text-733">
            <a:extLst xmlns:a="http://schemas.openxmlformats.org/drawingml/2006/main">
              <a:ext uri="{FF2B5EF4-FFF2-40B4-BE49-F238E27FC236}">
                <a16:creationId xmlns:a16="http://schemas.microsoft.com/office/drawing/2014/main" id="{081E21D7-3C28-4E42-BC50-D8EBEC31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669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9" name="text-734">
            <a:extLst xmlns:a="http://schemas.openxmlformats.org/drawingml/2006/main">
              <a:ext uri="{FF2B5EF4-FFF2-40B4-BE49-F238E27FC236}">
                <a16:creationId xmlns:a16="http://schemas.microsoft.com/office/drawing/2014/main" id="{BDAA0D63-FC68-49FF-82BE-57B21283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对抗性审核</a:t>
            </a:r>
          </a:p>
        </p:txBody>
      </p:sp>
      <p:sp>
        <p:nvSpPr>
          <p:cNvPr id="20" name="text-735">
            <a:extLst xmlns:a="http://schemas.openxmlformats.org/drawingml/2006/main">
              <a:ext uri="{FF2B5EF4-FFF2-40B4-BE49-F238E27FC236}">
                <a16:creationId xmlns:a16="http://schemas.microsoft.com/office/drawing/2014/main" id="{676AB511-1012-4BBD-9084-CF65AAE3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9775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主动寻找会削弱结论的问题</a:t>
            </a:r>
          </a:p>
        </p:txBody>
      </p:sp>
      <p:sp>
        <p:nvSpPr>
          <p:cNvPr id="21" name="shape-736">
            <a:extLst xmlns:a="http://schemas.openxmlformats.org/drawingml/2006/main">
              <a:ext uri="{FF2B5EF4-FFF2-40B4-BE49-F238E27FC236}">
                <a16:creationId xmlns:a16="http://schemas.microsoft.com/office/drawing/2014/main" id="{7BF3FE03-F732-4E0A-8DC1-61CB7A92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14588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2" name="text-737">
            <a:extLst xmlns:a="http://schemas.openxmlformats.org/drawingml/2006/main">
              <a:ext uri="{FF2B5EF4-FFF2-40B4-BE49-F238E27FC236}">
                <a16:creationId xmlns:a16="http://schemas.microsoft.com/office/drawing/2014/main" id="{67BC9812-55B3-4E4E-84C7-0C2C265D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7463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3" name="text-738">
            <a:extLst xmlns:a="http://schemas.openxmlformats.org/drawingml/2006/main">
              <a:ext uri="{FF2B5EF4-FFF2-40B4-BE49-F238E27FC236}">
                <a16:creationId xmlns:a16="http://schemas.microsoft.com/office/drawing/2014/main" id="{64870445-7B4C-4815-A8B8-82A20731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8888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严重度分级</a:t>
            </a:r>
          </a:p>
        </p:txBody>
      </p:sp>
      <p:sp>
        <p:nvSpPr>
          <p:cNvPr id="24" name="text-739">
            <a:extLst xmlns:a="http://schemas.openxmlformats.org/drawingml/2006/main">
              <a:ext uri="{FF2B5EF4-FFF2-40B4-BE49-F238E27FC236}">
                <a16:creationId xmlns:a16="http://schemas.microsoft.com/office/drawing/2014/main" id="{2D6C256D-814B-42E8-8DB5-B2275A3D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00313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区分阻断、重大、轻微与披露问题</a:t>
            </a:r>
          </a:p>
        </p:txBody>
      </p:sp>
      <p:sp>
        <p:nvSpPr>
          <p:cNvPr id="25" name="shape-740">
            <a:extLst xmlns:a="http://schemas.openxmlformats.org/drawingml/2006/main">
              <a:ext uri="{FF2B5EF4-FFF2-40B4-BE49-F238E27FC236}">
                <a16:creationId xmlns:a16="http://schemas.microsoft.com/office/drawing/2014/main" id="{C89A9597-5EA9-43AE-80CD-F5810692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05125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741">
            <a:extLst xmlns:a="http://schemas.openxmlformats.org/drawingml/2006/main">
              <a:ext uri="{FF2B5EF4-FFF2-40B4-BE49-F238E27FC236}">
                <a16:creationId xmlns:a16="http://schemas.microsoft.com/office/drawing/2014/main" id="{9299A3F6-AD28-4523-A503-AE5D9F5F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7" name="text-742">
            <a:extLst xmlns:a="http://schemas.openxmlformats.org/drawingml/2006/main">
              <a:ext uri="{FF2B5EF4-FFF2-40B4-BE49-F238E27FC236}">
                <a16:creationId xmlns:a16="http://schemas.microsoft.com/office/drawing/2014/main" id="{B404024C-A709-4005-B89E-A7186EDC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测量污染</a:t>
            </a:r>
          </a:p>
        </p:txBody>
      </p:sp>
      <p:sp>
        <p:nvSpPr>
          <p:cNvPr id="28" name="text-743">
            <a:extLst xmlns:a="http://schemas.openxmlformats.org/drawingml/2006/main">
              <a:ext uri="{FF2B5EF4-FFF2-40B4-BE49-F238E27FC236}">
                <a16:creationId xmlns:a16="http://schemas.microsoft.com/office/drawing/2014/main" id="{A2DD34A9-14BF-48F7-B169-47853FBC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识别题序、材料和措辞对回答的影响</a:t>
            </a:r>
          </a:p>
        </p:txBody>
      </p:sp>
      <p:sp>
        <p:nvSpPr>
          <p:cNvPr id="29" name="shape-744">
            <a:extLst xmlns:a="http://schemas.openxmlformats.org/drawingml/2006/main">
              <a:ext uri="{FF2B5EF4-FFF2-40B4-BE49-F238E27FC236}">
                <a16:creationId xmlns:a16="http://schemas.microsoft.com/office/drawing/2014/main" id="{D8AA29BF-D5FD-419A-81E7-9DF37F7E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5663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30" name="text-745">
            <a:extLst xmlns:a="http://schemas.openxmlformats.org/drawingml/2006/main">
              <a:ext uri="{FF2B5EF4-FFF2-40B4-BE49-F238E27FC236}">
                <a16:creationId xmlns:a16="http://schemas.microsoft.com/office/drawing/2014/main" id="{2A1CF1E4-ABA8-459F-8B11-8EE6FA4E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38538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1" name="text-746">
            <a:extLst xmlns:a="http://schemas.openxmlformats.org/drawingml/2006/main">
              <a:ext uri="{FF2B5EF4-FFF2-40B4-BE49-F238E27FC236}">
                <a16:creationId xmlns:a16="http://schemas.microsoft.com/office/drawing/2014/main" id="{F73F9419-BA66-485C-8EC0-E00D8943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9963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首次阅读测试</a:t>
            </a:r>
          </a:p>
        </p:txBody>
      </p:sp>
      <p:sp>
        <p:nvSpPr>
          <p:cNvPr id="32" name="text-747">
            <a:extLst xmlns:a="http://schemas.openxmlformats.org/drawingml/2006/main">
              <a:ext uri="{FF2B5EF4-FFF2-40B4-BE49-F238E27FC236}">
                <a16:creationId xmlns:a16="http://schemas.microsoft.com/office/drawing/2014/main" id="{F9D33508-169C-4A5A-9B21-86A1CE21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1388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检验陌生读者能否独立理解报告</a:t>
            </a:r>
          </a:p>
        </p:txBody>
      </p:sp>
      <p:sp>
        <p:nvSpPr>
          <p:cNvPr id="33" name="shape-748">
            <a:extLst xmlns:a="http://schemas.openxmlformats.org/drawingml/2006/main">
              <a:ext uri="{FF2B5EF4-FFF2-40B4-BE49-F238E27FC236}">
                <a16:creationId xmlns:a16="http://schemas.microsoft.com/office/drawing/2014/main" id="{2BA67901-E4CC-4D1D-B774-CD21AE2F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57650"/>
            <a:ext cx="70770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34" name="text-749">
            <a:extLst xmlns:a="http://schemas.openxmlformats.org/drawingml/2006/main">
              <a:ext uri="{FF2B5EF4-FFF2-40B4-BE49-F238E27FC236}">
                <a16:creationId xmlns:a16="http://schemas.microsoft.com/office/drawing/2014/main" id="{D4555F4C-EC05-4C23-B995-7B38059C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核心工作指令</a:t>
            </a:r>
          </a:p>
        </p:txBody>
      </p:sp>
      <p:sp>
        <p:nvSpPr>
          <p:cNvPr id="35" name="text-750">
            <a:extLst xmlns:a="http://schemas.openxmlformats.org/drawingml/2006/main">
              <a:ext uri="{FF2B5EF4-FFF2-40B4-BE49-F238E27FC236}">
                <a16:creationId xmlns:a16="http://schemas.microsoft.com/office/drawing/2014/main" id="{DE54FAA5-60DD-4779-A08D-523F5D9D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00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1. 冻结待审核版本</a:t>
            </a:r>
          </a:p>
        </p:txBody>
      </p:sp>
      <p:sp>
        <p:nvSpPr>
          <p:cNvPr id="36" name="text-751">
            <a:extLst xmlns:a="http://schemas.openxmlformats.org/drawingml/2006/main">
              <a:ext uri="{FF2B5EF4-FFF2-40B4-BE49-F238E27FC236}">
                <a16:creationId xmlns:a16="http://schemas.microsoft.com/office/drawing/2014/main" id="{3E4C8E80-B863-4FD9-89D8-92A7DDB3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00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2. 检查语义、事实、隐私与证据边界</a:t>
            </a:r>
          </a:p>
        </p:txBody>
      </p:sp>
      <p:sp>
        <p:nvSpPr>
          <p:cNvPr id="37" name="text-752">
            <a:extLst xmlns:a="http://schemas.openxmlformats.org/drawingml/2006/main">
              <a:ext uri="{FF2B5EF4-FFF2-40B4-BE49-F238E27FC236}">
                <a16:creationId xmlns:a16="http://schemas.microsoft.com/office/drawing/2014/main" id="{708655FA-D02B-4153-A7C5-F625D23A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33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3. 问题必须可定位并有修复条件</a:t>
            </a:r>
          </a:p>
        </p:txBody>
      </p:sp>
      <p:sp>
        <p:nvSpPr>
          <p:cNvPr id="38" name="text-753">
            <a:extLst xmlns:a="http://schemas.openxmlformats.org/drawingml/2006/main">
              <a:ext uri="{FF2B5EF4-FFF2-40B4-BE49-F238E27FC236}">
                <a16:creationId xmlns:a16="http://schemas.microsoft.com/office/drawing/2014/main" id="{EB508111-B4FA-4442-BF9F-71B55162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4. 审核通过不等于人工批准</a:t>
            </a:r>
          </a:p>
        </p:txBody>
      </p:sp>
      <p:sp>
        <p:nvSpPr>
          <p:cNvPr id="39" name="shape-754">
            <a:extLst xmlns:a="http://schemas.openxmlformats.org/drawingml/2006/main">
              <a:ext uri="{FF2B5EF4-FFF2-40B4-BE49-F238E27FC236}">
                <a16:creationId xmlns:a16="http://schemas.microsoft.com/office/drawing/2014/main" id="{FAB8D2F8-D98D-46DF-BF26-9A4519AE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86350"/>
            <a:ext cx="70770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40" name="text-755">
            <a:extLst xmlns:a="http://schemas.openxmlformats.org/drawingml/2006/main">
              <a:ext uri="{FF2B5EF4-FFF2-40B4-BE49-F238E27FC236}">
                <a16:creationId xmlns:a16="http://schemas.microsoft.com/office/drawing/2014/main" id="{957DA810-B488-4605-BC15-C2BC85AD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006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能力边界｜不能批准自己审核的内容；不能只看格式而忽略方法风险。</a:t>
            </a:r>
          </a:p>
        </p:txBody>
      </p:sp>
      <p:sp>
        <p:nvSpPr>
          <p:cNvPr id="41" name="shape-756">
            <a:extLst xmlns:a="http://schemas.openxmlformats.org/drawingml/2006/main">
              <a:ext uri="{FF2B5EF4-FFF2-40B4-BE49-F238E27FC236}">
                <a16:creationId xmlns:a16="http://schemas.microsoft.com/office/drawing/2014/main" id="{58936AE0-66B2-4DFC-A7D6-0E7D1237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42" name="text-757">
            <a:extLst xmlns:a="http://schemas.openxmlformats.org/drawingml/2006/main">
              <a:ext uri="{FF2B5EF4-FFF2-40B4-BE49-F238E27FC236}">
                <a16:creationId xmlns:a16="http://schemas.microsoft.com/office/drawing/2014/main" id="{3BBA1BFE-4BD3-406B-8761-742D71F4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00650"/>
            <a:ext cx="3209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案例表现｜识别A/C份额等金融事实问题，并推动补充有效性与首次阅读说明。</a:t>
            </a:r>
          </a:p>
        </p:txBody>
      </p:sp>
      <p:sp>
        <p:nvSpPr>
          <p:cNvPr id="43" name="text-758">
            <a:extLst xmlns:a="http://schemas.openxmlformats.org/drawingml/2006/main">
              <a:ext uri="{FF2B5EF4-FFF2-40B4-BE49-F238E27FC236}">
                <a16:creationId xmlns:a16="http://schemas.microsoft.com/office/drawing/2014/main" id="{262484E7-6242-4FE4-B2DC-9C4C2F72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3DACC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501718db2f63465a" action="ppaction://hlinksldjump"/>
              </a:rPr>
              <a:t>← 返回专家地图</a:t>
            </a:r>
          </a:p>
        </p:txBody>
      </p:sp>
      <p:sp>
        <p:nvSpPr>
          <p:cNvPr id="44" name="text-759">
            <a:extLst xmlns:a="http://schemas.openxmlformats.org/drawingml/2006/main">
              <a:ext uri="{FF2B5EF4-FFF2-40B4-BE49-F238E27FC236}">
                <a16:creationId xmlns:a16="http://schemas.microsoft.com/office/drawing/2014/main" id="{FC5D6967-8EF4-4359-9C8C-D1C309A8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055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3DACC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b95aa6aff04b4474" action="ppaction://hlinksldjump"/>
              </a:rPr>
              <a:t>回到负责阶段 →</a:t>
            </a:r>
          </a:p>
        </p:txBody>
      </p:sp>
    </p:spTree>
    <p:extLst>
      <p:ext uri="{BB962C8B-B14F-4D97-AF65-F5344CB8AC3E}">
        <p14:creationId xmlns:p14="http://schemas.microsoft.com/office/powerpoint/2010/main" val="5821209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ext-760">
            <a:extLst xmlns:a="http://schemas.openxmlformats.org/drawingml/2006/main">
              <a:ext uri="{FF2B5EF4-FFF2-40B4-BE49-F238E27FC236}">
                <a16:creationId xmlns:a16="http://schemas.microsoft.com/office/drawing/2014/main" id="{390F4750-B253-4A34-86B2-44282680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专家方法与工作指令 · 05 / 07</a:t>
            </a:r>
          </a:p>
        </p:txBody>
      </p:sp>
      <p:sp>
        <p:nvSpPr>
          <p:cNvPr id="2" name="text-761">
            <a:extLst xmlns:a="http://schemas.openxmlformats.org/drawingml/2006/main">
              <a:ext uri="{FF2B5EF4-FFF2-40B4-BE49-F238E27FC236}">
                <a16:creationId xmlns:a16="http://schemas.microsoft.com/office/drawing/2014/main" id="{D14E1064-7A44-41C6-B42D-82DB62CF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洞察专家｜把数据转成有边界的行动建议</a:t>
            </a:r>
          </a:p>
        </p:txBody>
      </p:sp>
      <p:sp>
        <p:nvSpPr>
          <p:cNvPr id="3" name="shape-762">
            <a:extLst xmlns:a="http://schemas.openxmlformats.org/drawingml/2006/main">
              <a:ext uri="{FF2B5EF4-FFF2-40B4-BE49-F238E27FC236}">
                <a16:creationId xmlns:a16="http://schemas.microsoft.com/office/drawing/2014/main" id="{179CDA06-D45D-4603-B825-C75B25F7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763">
            <a:extLst xmlns:a="http://schemas.openxmlformats.org/drawingml/2006/main">
              <a:ext uri="{FF2B5EF4-FFF2-40B4-BE49-F238E27FC236}">
                <a16:creationId xmlns:a16="http://schemas.microsoft.com/office/drawing/2014/main" id="{8048F8FF-522C-4298-87D1-996CBC66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证据与洞察专家 · 专业方法与工作指令</a:t>
            </a:r>
          </a:p>
        </p:txBody>
      </p:sp>
      <p:sp>
        <p:nvSpPr>
          <p:cNvPr id="5" name="text-764">
            <a:extLst xmlns:a="http://schemas.openxmlformats.org/drawingml/2006/main">
              <a:ext uri="{FF2B5EF4-FFF2-40B4-BE49-F238E27FC236}">
                <a16:creationId xmlns:a16="http://schemas.microsoft.com/office/drawing/2014/main" id="{557615F1-9E21-4BEC-B738-474A2397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sp>
        <p:nvSpPr>
          <p:cNvPr id="6" name="shape-765">
            <a:extLst xmlns:a="http://schemas.openxmlformats.org/drawingml/2006/main">
              <a:ext uri="{FF2B5EF4-FFF2-40B4-BE49-F238E27FC236}">
                <a16:creationId xmlns:a16="http://schemas.microsoft.com/office/drawing/2014/main" id="{B1C96CBA-71C0-40AB-91E6-88375915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38500" cy="39433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7" name="text-766">
            <a:extLst xmlns:a="http://schemas.openxmlformats.org/drawingml/2006/main">
              <a:ext uri="{FF2B5EF4-FFF2-40B4-BE49-F238E27FC236}">
                <a16:creationId xmlns:a16="http://schemas.microsoft.com/office/drawing/2014/main" id="{31AAB90E-15D9-44B5-B737-32672D63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主要负责 · 阶段 06</a:t>
            </a:r>
          </a:p>
        </p:txBody>
      </p:sp>
      <p:sp>
        <p:nvSpPr>
          <p:cNvPr id="8" name="text-767">
            <a:extLst xmlns:a="http://schemas.openxmlformats.org/drawingml/2006/main">
              <a:ext uri="{FF2B5EF4-FFF2-40B4-BE49-F238E27FC236}">
                <a16:creationId xmlns:a16="http://schemas.microsoft.com/office/drawing/2014/main" id="{22466B3A-CC90-40C3-8D46-1C21CE6A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证据与洞察专家</a:t>
            </a:r>
          </a:p>
        </p:txBody>
      </p:sp>
      <p:sp>
        <p:nvSpPr>
          <p:cNvPr id="9" name="text-768">
            <a:extLst xmlns:a="http://schemas.openxmlformats.org/drawingml/2006/main">
              <a:ext uri="{FF2B5EF4-FFF2-40B4-BE49-F238E27FC236}">
                <a16:creationId xmlns:a16="http://schemas.microsoft.com/office/drawing/2014/main" id="{64AD4F97-5FB8-4DF2-8AFB-A0E69010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负责什么</a:t>
            </a:r>
          </a:p>
        </p:txBody>
      </p:sp>
      <p:sp>
        <p:nvSpPr>
          <p:cNvPr id="10" name="text-769">
            <a:extLst xmlns:a="http://schemas.openxmlformats.org/drawingml/2006/main">
              <a:ext uri="{FF2B5EF4-FFF2-40B4-BE49-F238E27FC236}">
                <a16:creationId xmlns:a16="http://schemas.microsoft.com/office/drawing/2014/main" id="{95D9AEC1-BD87-4A76-9DD0-C682FD8B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先形成证据与事实发现，再讨论机制、矛盾和建议。</a:t>
            </a:r>
          </a:p>
        </p:txBody>
      </p:sp>
      <p:sp>
        <p:nvSpPr>
          <p:cNvPr id="11" name="text-770">
            <a:extLst xmlns:a="http://schemas.openxmlformats.org/drawingml/2006/main">
              <a:ext uri="{FF2B5EF4-FFF2-40B4-BE49-F238E27FC236}">
                <a16:creationId xmlns:a16="http://schemas.microsoft.com/office/drawing/2014/main" id="{11BBF16E-F36C-4D5F-9CF8-8C86ABD2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为什么需要</a:t>
            </a:r>
          </a:p>
        </p:txBody>
      </p:sp>
      <p:sp>
        <p:nvSpPr>
          <p:cNvPr id="12" name="text-771">
            <a:extLst xmlns:a="http://schemas.openxmlformats.org/drawingml/2006/main">
              <a:ext uri="{FF2B5EF4-FFF2-40B4-BE49-F238E27FC236}">
                <a16:creationId xmlns:a16="http://schemas.microsoft.com/office/drawing/2014/main" id="{1AB06FBE-DE6F-4B27-9F7B-77EF3371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分析必须控制分母、负例、外推和因果措辞。</a:t>
            </a:r>
          </a:p>
        </p:txBody>
      </p:sp>
      <p:sp>
        <p:nvSpPr>
          <p:cNvPr id="13" name="shape-772">
            <a:extLst xmlns:a="http://schemas.openxmlformats.org/drawingml/2006/main">
              <a:ext uri="{FF2B5EF4-FFF2-40B4-BE49-F238E27FC236}">
                <a16:creationId xmlns:a16="http://schemas.microsoft.com/office/drawing/2014/main" id="{83C90436-0604-4AD9-A4C3-AD5E3A51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281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FAF9F5"/>
            </a:solidFill>
            <a:prstDash val="solid"/>
          </a:ln>
        </p:spPr>
      </p:sp>
      <p:sp>
        <p:nvSpPr>
          <p:cNvPr id="14" name="text-773">
            <a:extLst xmlns:a="http://schemas.openxmlformats.org/drawingml/2006/main">
              <a:ext uri="{FF2B5EF4-FFF2-40B4-BE49-F238E27FC236}">
                <a16:creationId xmlns:a16="http://schemas.microsoft.com/office/drawing/2014/main" id="{445B6938-A15B-45B1-BD3C-DE2ECE7B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15" name="text-774">
            <a:extLst xmlns:a="http://schemas.openxmlformats.org/drawingml/2006/main">
              <a:ext uri="{FF2B5EF4-FFF2-40B4-BE49-F238E27FC236}">
                <a16:creationId xmlns:a16="http://schemas.microsoft.com/office/drawing/2014/main" id="{0DFE3D1E-964D-4427-A6BB-92026CA0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rPr>
              <a:t>洞察成果：证据、发现、洞察、建议、置信与限制。</a:t>
            </a:r>
          </a:p>
        </p:txBody>
      </p:sp>
      <p:sp>
        <p:nvSpPr>
          <p:cNvPr id="16" name="text-775">
            <a:extLst xmlns:a="http://schemas.openxmlformats.org/drawingml/2006/main">
              <a:ext uri="{FF2B5EF4-FFF2-40B4-BE49-F238E27FC236}">
                <a16:creationId xmlns:a16="http://schemas.microsoft.com/office/drawing/2014/main" id="{0BF97A47-5010-4B34-9419-2D1A600C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76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专业能力</a:t>
            </a:r>
          </a:p>
        </p:txBody>
      </p:sp>
      <p:sp>
        <p:nvSpPr>
          <p:cNvPr id="17" name="shape-776">
            <a:extLst xmlns:a="http://schemas.openxmlformats.org/drawingml/2006/main">
              <a:ext uri="{FF2B5EF4-FFF2-40B4-BE49-F238E27FC236}">
                <a16:creationId xmlns:a16="http://schemas.microsoft.com/office/drawing/2014/main" id="{D3ED3CC9-2F01-4531-A7B7-2E3EDB3E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7077075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8" name="text-777">
            <a:extLst xmlns:a="http://schemas.openxmlformats.org/drawingml/2006/main">
              <a:ext uri="{FF2B5EF4-FFF2-40B4-BE49-F238E27FC236}">
                <a16:creationId xmlns:a16="http://schemas.microsoft.com/office/drawing/2014/main" id="{F4451A05-63E5-4714-A060-E47386A2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669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9" name="text-778">
            <a:extLst xmlns:a="http://schemas.openxmlformats.org/drawingml/2006/main">
              <a:ext uri="{FF2B5EF4-FFF2-40B4-BE49-F238E27FC236}">
                <a16:creationId xmlns:a16="http://schemas.microsoft.com/office/drawing/2014/main" id="{1E2A28DB-011D-4A34-97B9-DAEC674A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证据链</a:t>
            </a:r>
          </a:p>
        </p:txBody>
      </p:sp>
      <p:sp>
        <p:nvSpPr>
          <p:cNvPr id="20" name="text-779">
            <a:extLst xmlns:a="http://schemas.openxmlformats.org/drawingml/2006/main">
              <a:ext uri="{FF2B5EF4-FFF2-40B4-BE49-F238E27FC236}">
                <a16:creationId xmlns:a16="http://schemas.microsoft.com/office/drawing/2014/main" id="{D6619899-AEFF-45E3-9AD6-892054CD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9775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用户回答、发现、洞察和建议逐级可追溯</a:t>
            </a:r>
          </a:p>
        </p:txBody>
      </p:sp>
      <p:sp>
        <p:nvSpPr>
          <p:cNvPr id="21" name="shape-780">
            <a:extLst xmlns:a="http://schemas.openxmlformats.org/drawingml/2006/main">
              <a:ext uri="{FF2B5EF4-FFF2-40B4-BE49-F238E27FC236}">
                <a16:creationId xmlns:a16="http://schemas.microsoft.com/office/drawing/2014/main" id="{36560D1F-C7D9-4EAB-9E0E-5A8E814D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14588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2" name="text-781">
            <a:extLst xmlns:a="http://schemas.openxmlformats.org/drawingml/2006/main">
              <a:ext uri="{FF2B5EF4-FFF2-40B4-BE49-F238E27FC236}">
                <a16:creationId xmlns:a16="http://schemas.microsoft.com/office/drawing/2014/main" id="{C9AAC4CE-51A2-43AA-8018-EBFCB289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7463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3" name="text-782">
            <a:extLst xmlns:a="http://schemas.openxmlformats.org/drawingml/2006/main">
              <a:ext uri="{FF2B5EF4-FFF2-40B4-BE49-F238E27FC236}">
                <a16:creationId xmlns:a16="http://schemas.microsoft.com/office/drawing/2014/main" id="{9A1B4E35-D699-4F0A-B0CF-82DA2008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8888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负例分析</a:t>
            </a:r>
          </a:p>
        </p:txBody>
      </p:sp>
      <p:sp>
        <p:nvSpPr>
          <p:cNvPr id="24" name="text-783">
            <a:extLst xmlns:a="http://schemas.openxmlformats.org/drawingml/2006/main">
              <a:ext uri="{FF2B5EF4-FFF2-40B4-BE49-F238E27FC236}">
                <a16:creationId xmlns:a16="http://schemas.microsoft.com/office/drawing/2014/main" id="{257ECD9C-17DE-4FAC-B366-7C2B016A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00313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保留不符合主趋势的案例与矛盾证据</a:t>
            </a:r>
          </a:p>
        </p:txBody>
      </p:sp>
      <p:sp>
        <p:nvSpPr>
          <p:cNvPr id="25" name="shape-784">
            <a:extLst xmlns:a="http://schemas.openxmlformats.org/drawingml/2006/main">
              <a:ext uri="{FF2B5EF4-FFF2-40B4-BE49-F238E27FC236}">
                <a16:creationId xmlns:a16="http://schemas.microsoft.com/office/drawing/2014/main" id="{504F5AAE-D4C6-40AE-BB7E-45DA00CB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05125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785">
            <a:extLst xmlns:a="http://schemas.openxmlformats.org/drawingml/2006/main">
              <a:ext uri="{FF2B5EF4-FFF2-40B4-BE49-F238E27FC236}">
                <a16:creationId xmlns:a16="http://schemas.microsoft.com/office/drawing/2014/main" id="{F4CBB387-23CC-42E1-845A-0EC988D4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7" name="text-786">
            <a:extLst xmlns:a="http://schemas.openxmlformats.org/drawingml/2006/main">
              <a:ext uri="{FF2B5EF4-FFF2-40B4-BE49-F238E27FC236}">
                <a16:creationId xmlns:a16="http://schemas.microsoft.com/office/drawing/2014/main" id="{C90DCEE2-CC5F-4214-97E7-43BA92B0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三角互证</a:t>
            </a:r>
          </a:p>
        </p:txBody>
      </p:sp>
      <p:sp>
        <p:nvSpPr>
          <p:cNvPr id="28" name="text-787">
            <a:extLst xmlns:a="http://schemas.openxmlformats.org/drawingml/2006/main">
              <a:ext uri="{FF2B5EF4-FFF2-40B4-BE49-F238E27FC236}">
                <a16:creationId xmlns:a16="http://schemas.microsoft.com/office/drawing/2014/main" id="{E34403CE-DDFE-47D7-91E1-18C7C4AA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比较不同数据、方法或人群能否相互支持</a:t>
            </a:r>
          </a:p>
        </p:txBody>
      </p:sp>
      <p:sp>
        <p:nvSpPr>
          <p:cNvPr id="29" name="shape-788">
            <a:extLst xmlns:a="http://schemas.openxmlformats.org/drawingml/2006/main">
              <a:ext uri="{FF2B5EF4-FFF2-40B4-BE49-F238E27FC236}">
                <a16:creationId xmlns:a16="http://schemas.microsoft.com/office/drawing/2014/main" id="{E58D5597-14C8-4469-9C0C-733E7059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5663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30" name="text-789">
            <a:extLst xmlns:a="http://schemas.openxmlformats.org/drawingml/2006/main">
              <a:ext uri="{FF2B5EF4-FFF2-40B4-BE49-F238E27FC236}">
                <a16:creationId xmlns:a16="http://schemas.microsoft.com/office/drawing/2014/main" id="{6C514EEF-770D-4C3D-AB60-4BCDFE5E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38538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1" name="text-790">
            <a:extLst xmlns:a="http://schemas.openxmlformats.org/drawingml/2006/main">
              <a:ext uri="{FF2B5EF4-FFF2-40B4-BE49-F238E27FC236}">
                <a16:creationId xmlns:a16="http://schemas.microsoft.com/office/drawing/2014/main" id="{20773C76-8025-491E-BC0B-54BDB544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9963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不确定性表达</a:t>
            </a:r>
          </a:p>
        </p:txBody>
      </p:sp>
      <p:sp>
        <p:nvSpPr>
          <p:cNvPr id="32" name="text-791">
            <a:extLst xmlns:a="http://schemas.openxmlformats.org/drawingml/2006/main">
              <a:ext uri="{FF2B5EF4-FFF2-40B4-BE49-F238E27FC236}">
                <a16:creationId xmlns:a16="http://schemas.microsoft.com/office/drawing/2014/main" id="{5D11C871-96C4-43AD-8485-9F15F801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1388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说明抽样、基数和外推对结论的限制</a:t>
            </a:r>
          </a:p>
        </p:txBody>
      </p:sp>
      <p:sp>
        <p:nvSpPr>
          <p:cNvPr id="33" name="shape-792">
            <a:extLst xmlns:a="http://schemas.openxmlformats.org/drawingml/2006/main">
              <a:ext uri="{FF2B5EF4-FFF2-40B4-BE49-F238E27FC236}">
                <a16:creationId xmlns:a16="http://schemas.microsoft.com/office/drawing/2014/main" id="{E56A8F6D-C874-40F7-92B1-3DCC5644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57650"/>
            <a:ext cx="70770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34" name="text-793">
            <a:extLst xmlns:a="http://schemas.openxmlformats.org/drawingml/2006/main">
              <a:ext uri="{FF2B5EF4-FFF2-40B4-BE49-F238E27FC236}">
                <a16:creationId xmlns:a16="http://schemas.microsoft.com/office/drawing/2014/main" id="{2B7F9CAB-791B-46AF-B5DC-2E63B276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核心工作指令</a:t>
            </a:r>
          </a:p>
        </p:txBody>
      </p:sp>
      <p:sp>
        <p:nvSpPr>
          <p:cNvPr id="35" name="text-794">
            <a:extLst xmlns:a="http://schemas.openxmlformats.org/drawingml/2006/main">
              <a:ext uri="{FF2B5EF4-FFF2-40B4-BE49-F238E27FC236}">
                <a16:creationId xmlns:a16="http://schemas.microsoft.com/office/drawing/2014/main" id="{7D3FE381-0BC3-49BF-9387-6AA990B5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00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1. 核对数据质量与问题映射</a:t>
            </a:r>
          </a:p>
        </p:txBody>
      </p:sp>
      <p:sp>
        <p:nvSpPr>
          <p:cNvPr id="36" name="text-795">
            <a:extLst xmlns:a="http://schemas.openxmlformats.org/drawingml/2006/main">
              <a:ext uri="{FF2B5EF4-FFF2-40B4-BE49-F238E27FC236}">
                <a16:creationId xmlns:a16="http://schemas.microsoft.com/office/drawing/2014/main" id="{03EFCB58-6C66-4233-9E10-C45E8DE3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00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2. 定量保留分母和筛选</a:t>
            </a:r>
          </a:p>
        </p:txBody>
      </p:sp>
      <p:sp>
        <p:nvSpPr>
          <p:cNvPr id="37" name="text-796">
            <a:extLst xmlns:a="http://schemas.openxmlformats.org/drawingml/2006/main">
              <a:ext uri="{FF2B5EF4-FFF2-40B4-BE49-F238E27FC236}">
                <a16:creationId xmlns:a16="http://schemas.microsoft.com/office/drawing/2014/main" id="{5ED3A4EB-2519-4E13-8052-33CBC153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33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3. 洞察讨论替代解释</a:t>
            </a:r>
          </a:p>
        </p:txBody>
      </p:sp>
      <p:sp>
        <p:nvSpPr>
          <p:cNvPr id="38" name="text-797">
            <a:extLst xmlns:a="http://schemas.openxmlformats.org/drawingml/2006/main">
              <a:ext uri="{FF2B5EF4-FFF2-40B4-BE49-F238E27FC236}">
                <a16:creationId xmlns:a16="http://schemas.microsoft.com/office/drawing/2014/main" id="{9749B1B4-1133-4B88-BD54-2DE8ACBA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4. 建议说明风险和验证方式</a:t>
            </a:r>
          </a:p>
        </p:txBody>
      </p:sp>
      <p:sp>
        <p:nvSpPr>
          <p:cNvPr id="39" name="shape-798">
            <a:extLst xmlns:a="http://schemas.openxmlformats.org/drawingml/2006/main">
              <a:ext uri="{FF2B5EF4-FFF2-40B4-BE49-F238E27FC236}">
                <a16:creationId xmlns:a16="http://schemas.microsoft.com/office/drawing/2014/main" id="{723102E6-4547-4300-9413-4BEF2A50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86350"/>
            <a:ext cx="70770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0EEE6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0" name="text-799">
            <a:extLst xmlns:a="http://schemas.openxmlformats.org/drawingml/2006/main">
              <a:ext uri="{FF2B5EF4-FFF2-40B4-BE49-F238E27FC236}">
                <a16:creationId xmlns:a16="http://schemas.microsoft.com/office/drawing/2014/main" id="{84D9DFF6-51E8-4B18-BD17-5C7A467C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006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能力边界｜不把相关写成因果；不删除反例；不把分群写成正式客户标签。</a:t>
            </a:r>
          </a:p>
        </p:txBody>
      </p:sp>
      <p:sp>
        <p:nvSpPr>
          <p:cNvPr id="41" name="shape-800">
            <a:extLst xmlns:a="http://schemas.openxmlformats.org/drawingml/2006/main">
              <a:ext uri="{FF2B5EF4-FFF2-40B4-BE49-F238E27FC236}">
                <a16:creationId xmlns:a16="http://schemas.microsoft.com/office/drawing/2014/main" id="{A9EBA839-3498-4672-A3BF-17E38FF7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2" name="text-801">
            <a:extLst xmlns:a="http://schemas.openxmlformats.org/drawingml/2006/main">
              <a:ext uri="{FF2B5EF4-FFF2-40B4-BE49-F238E27FC236}">
                <a16:creationId xmlns:a16="http://schemas.microsoft.com/office/drawing/2014/main" id="{FD9A0901-85A4-4456-BC89-FD3AA3B3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00650"/>
            <a:ext cx="3209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案例表现｜将20%、3.5%和59.5%等数据转成产品与投教洞察。</a:t>
            </a:r>
          </a:p>
        </p:txBody>
      </p:sp>
      <p:sp>
        <p:nvSpPr>
          <p:cNvPr id="43" name="text-802">
            <a:extLst xmlns:a="http://schemas.openxmlformats.org/drawingml/2006/main">
              <a:ext uri="{FF2B5EF4-FFF2-40B4-BE49-F238E27FC236}">
                <a16:creationId xmlns:a16="http://schemas.microsoft.com/office/drawing/2014/main" id="{58A301D7-6CC0-4844-8975-D1D0BC4C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f7a67b57d9d14df0" action="ppaction://hlinksldjump"/>
              </a:rPr>
              <a:t>← 返回专家地图</a:t>
            </a:r>
          </a:p>
        </p:txBody>
      </p:sp>
      <p:sp>
        <p:nvSpPr>
          <p:cNvPr id="44" name="text-803">
            <a:extLst xmlns:a="http://schemas.openxmlformats.org/drawingml/2006/main">
              <a:ext uri="{FF2B5EF4-FFF2-40B4-BE49-F238E27FC236}">
                <a16:creationId xmlns:a16="http://schemas.microsoft.com/office/drawing/2014/main" id="{9A72E0FA-65CA-4C6E-B866-DF499869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055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6ba8abe6e6b74e2a" action="ppaction://hlinksldjump"/>
              </a:rPr>
              <a:t>回到负责阶段 →</a:t>
            </a:r>
          </a:p>
        </p:txBody>
      </p:sp>
    </p:spTree>
    <p:extLst>
      <p:ext uri="{BB962C8B-B14F-4D97-AF65-F5344CB8AC3E}">
        <p14:creationId xmlns:p14="http://schemas.microsoft.com/office/powerpoint/2010/main" val="119949752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ext-804">
            <a:extLst xmlns:a="http://schemas.openxmlformats.org/drawingml/2006/main">
              <a:ext uri="{FF2B5EF4-FFF2-40B4-BE49-F238E27FC236}">
                <a16:creationId xmlns:a16="http://schemas.microsoft.com/office/drawing/2014/main" id="{3458D641-E475-42CB-9A37-71881183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专家方法与工作指令 · 06 / 07</a:t>
            </a:r>
          </a:p>
        </p:txBody>
      </p:sp>
      <p:sp>
        <p:nvSpPr>
          <p:cNvPr id="2" name="text-805">
            <a:extLst xmlns:a="http://schemas.openxmlformats.org/drawingml/2006/main">
              <a:ext uri="{FF2B5EF4-FFF2-40B4-BE49-F238E27FC236}">
                <a16:creationId xmlns:a16="http://schemas.microsoft.com/office/drawing/2014/main" id="{358FF96E-AB5F-4B72-826F-9012C33D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报告专家｜在不改变证据的前提下提高可理解性</a:t>
            </a:r>
          </a:p>
        </p:txBody>
      </p:sp>
      <p:sp>
        <p:nvSpPr>
          <p:cNvPr id="3" name="shape-806">
            <a:extLst xmlns:a="http://schemas.openxmlformats.org/drawingml/2006/main">
              <a:ext uri="{FF2B5EF4-FFF2-40B4-BE49-F238E27FC236}">
                <a16:creationId xmlns:a16="http://schemas.microsoft.com/office/drawing/2014/main" id="{2A9437F5-6ADE-488E-8CCA-6B1270AB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" name="text-807">
            <a:extLst xmlns:a="http://schemas.openxmlformats.org/drawingml/2006/main">
              <a:ext uri="{FF2B5EF4-FFF2-40B4-BE49-F238E27FC236}">
                <a16:creationId xmlns:a16="http://schemas.microsoft.com/office/drawing/2014/main" id="{23BD326C-6987-4861-87EE-65FE0FFE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研究报告表达专家 · 专业方法与工作指令</a:t>
            </a:r>
          </a:p>
        </p:txBody>
      </p:sp>
      <p:sp>
        <p:nvSpPr>
          <p:cNvPr id="5" name="text-808">
            <a:extLst xmlns:a="http://schemas.openxmlformats.org/drawingml/2006/main">
              <a:ext uri="{FF2B5EF4-FFF2-40B4-BE49-F238E27FC236}">
                <a16:creationId xmlns:a16="http://schemas.microsoft.com/office/drawing/2014/main" id="{D6071F6E-FDDB-4202-892A-8D9F4F9C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  <p:sp>
        <p:nvSpPr>
          <p:cNvPr id="6" name="shape-809">
            <a:extLst xmlns:a="http://schemas.openxmlformats.org/drawingml/2006/main">
              <a:ext uri="{FF2B5EF4-FFF2-40B4-BE49-F238E27FC236}">
                <a16:creationId xmlns:a16="http://schemas.microsoft.com/office/drawing/2014/main" id="{BBCFE5E0-4D31-4DE5-BDFC-ACF81895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38500" cy="39433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7" name="text-810">
            <a:extLst xmlns:a="http://schemas.openxmlformats.org/drawingml/2006/main">
              <a:ext uri="{FF2B5EF4-FFF2-40B4-BE49-F238E27FC236}">
                <a16:creationId xmlns:a16="http://schemas.microsoft.com/office/drawing/2014/main" id="{9158482D-28BD-4DE8-BCF9-E7E66E2D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主要负责 · 阶段 07</a:t>
            </a:r>
          </a:p>
        </p:txBody>
      </p:sp>
      <p:sp>
        <p:nvSpPr>
          <p:cNvPr id="8" name="text-811">
            <a:extLst xmlns:a="http://schemas.openxmlformats.org/drawingml/2006/main">
              <a:ext uri="{FF2B5EF4-FFF2-40B4-BE49-F238E27FC236}">
                <a16:creationId xmlns:a16="http://schemas.microsoft.com/office/drawing/2014/main" id="{FB17E208-72D4-4920-ABEF-70C132EB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研究报告表达专家</a:t>
            </a:r>
          </a:p>
        </p:txBody>
      </p:sp>
      <p:sp>
        <p:nvSpPr>
          <p:cNvPr id="9" name="text-812">
            <a:extLst xmlns:a="http://schemas.openxmlformats.org/drawingml/2006/main">
              <a:ext uri="{FF2B5EF4-FFF2-40B4-BE49-F238E27FC236}">
                <a16:creationId xmlns:a16="http://schemas.microsoft.com/office/drawing/2014/main" id="{20EE5866-C61F-4466-ABCA-794CD797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负责什么</a:t>
            </a:r>
          </a:p>
        </p:txBody>
      </p:sp>
      <p:sp>
        <p:nvSpPr>
          <p:cNvPr id="10" name="text-813">
            <a:extLst xmlns:a="http://schemas.openxmlformats.org/drawingml/2006/main">
              <a:ext uri="{FF2B5EF4-FFF2-40B4-BE49-F238E27FC236}">
                <a16:creationId xmlns:a16="http://schemas.microsoft.com/office/drawing/2014/main" id="{4265A731-AB8B-471C-935E-B20AB8DE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为目标读者重组洞察，不重新分析或创造新结论。</a:t>
            </a:r>
          </a:p>
        </p:txBody>
      </p:sp>
      <p:sp>
        <p:nvSpPr>
          <p:cNvPr id="11" name="text-814">
            <a:extLst xmlns:a="http://schemas.openxmlformats.org/drawingml/2006/main">
              <a:ext uri="{FF2B5EF4-FFF2-40B4-BE49-F238E27FC236}">
                <a16:creationId xmlns:a16="http://schemas.microsoft.com/office/drawing/2014/main" id="{06CE9011-B7DE-45F0-928B-66A10FA0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为什么需要</a:t>
            </a:r>
          </a:p>
        </p:txBody>
      </p:sp>
      <p:sp>
        <p:nvSpPr>
          <p:cNvPr id="12" name="text-815">
            <a:extLst xmlns:a="http://schemas.openxmlformats.org/drawingml/2006/main">
              <a:ext uri="{FF2B5EF4-FFF2-40B4-BE49-F238E27FC236}">
                <a16:creationId xmlns:a16="http://schemas.microsoft.com/office/drawing/2014/main" id="{6714F6D9-E5FA-4D9A-814F-95A281ED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管理层报告需要处理信息层级、术语、图表与披露。</a:t>
            </a:r>
          </a:p>
        </p:txBody>
      </p:sp>
      <p:sp>
        <p:nvSpPr>
          <p:cNvPr id="13" name="shape-816">
            <a:extLst xmlns:a="http://schemas.openxmlformats.org/drawingml/2006/main">
              <a:ext uri="{FF2B5EF4-FFF2-40B4-BE49-F238E27FC236}">
                <a16:creationId xmlns:a16="http://schemas.microsoft.com/office/drawing/2014/main" id="{F6D3DE3A-35DB-4284-ADD3-6B80D613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281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FAF9F5"/>
            </a:solidFill>
            <a:prstDash val="solid"/>
          </a:ln>
        </p:spPr>
      </p:sp>
      <p:sp>
        <p:nvSpPr>
          <p:cNvPr id="14" name="text-817">
            <a:extLst xmlns:a="http://schemas.openxmlformats.org/drawingml/2006/main">
              <a:ext uri="{FF2B5EF4-FFF2-40B4-BE49-F238E27FC236}">
                <a16:creationId xmlns:a16="http://schemas.microsoft.com/office/drawing/2014/main" id="{26817274-C3A6-4524-9D28-139E7012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15" name="text-818">
            <a:extLst xmlns:a="http://schemas.openxmlformats.org/drawingml/2006/main">
              <a:ext uri="{FF2B5EF4-FFF2-40B4-BE49-F238E27FC236}">
                <a16:creationId xmlns:a16="http://schemas.microsoft.com/office/drawing/2014/main" id="{5E98A29E-F2D2-426F-A694-D5E63186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rPr>
              <a:t>正式报告：总览、目的、样本、分析、建议与限制。</a:t>
            </a:r>
          </a:p>
        </p:txBody>
      </p:sp>
      <p:sp>
        <p:nvSpPr>
          <p:cNvPr id="16" name="text-819">
            <a:extLst xmlns:a="http://schemas.openxmlformats.org/drawingml/2006/main">
              <a:ext uri="{FF2B5EF4-FFF2-40B4-BE49-F238E27FC236}">
                <a16:creationId xmlns:a16="http://schemas.microsoft.com/office/drawing/2014/main" id="{A651DC34-5D12-4C04-BCEF-2881BCA9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76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专业能力</a:t>
            </a:r>
          </a:p>
        </p:txBody>
      </p:sp>
      <p:sp>
        <p:nvSpPr>
          <p:cNvPr id="17" name="shape-820">
            <a:extLst xmlns:a="http://schemas.openxmlformats.org/drawingml/2006/main">
              <a:ext uri="{FF2B5EF4-FFF2-40B4-BE49-F238E27FC236}">
                <a16:creationId xmlns:a16="http://schemas.microsoft.com/office/drawing/2014/main" id="{E0154322-4CAC-4FFA-A24E-7BA9728D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7077075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8" name="text-821">
            <a:extLst xmlns:a="http://schemas.openxmlformats.org/drawingml/2006/main">
              <a:ext uri="{FF2B5EF4-FFF2-40B4-BE49-F238E27FC236}">
                <a16:creationId xmlns:a16="http://schemas.microsoft.com/office/drawing/2014/main" id="{A76BB6A8-5963-4C20-9BEF-9C229EA1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669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9" name="text-822">
            <a:extLst xmlns:a="http://schemas.openxmlformats.org/drawingml/2006/main">
              <a:ext uri="{FF2B5EF4-FFF2-40B4-BE49-F238E27FC236}">
                <a16:creationId xmlns:a16="http://schemas.microsoft.com/office/drawing/2014/main" id="{A8F53DA5-898B-48E4-A525-915F939F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受众中心叙事</a:t>
            </a:r>
          </a:p>
        </p:txBody>
      </p:sp>
      <p:sp>
        <p:nvSpPr>
          <p:cNvPr id="20" name="text-823">
            <a:extLst xmlns:a="http://schemas.openxmlformats.org/drawingml/2006/main">
              <a:ext uri="{FF2B5EF4-FFF2-40B4-BE49-F238E27FC236}">
                <a16:creationId xmlns:a16="http://schemas.microsoft.com/office/drawing/2014/main" id="{347F4736-B98C-4EAD-8404-148131FC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9775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按读者的决策需求安排信息深度</a:t>
            </a:r>
          </a:p>
        </p:txBody>
      </p:sp>
      <p:sp>
        <p:nvSpPr>
          <p:cNvPr id="21" name="shape-824">
            <a:extLst xmlns:a="http://schemas.openxmlformats.org/drawingml/2006/main">
              <a:ext uri="{FF2B5EF4-FFF2-40B4-BE49-F238E27FC236}">
                <a16:creationId xmlns:a16="http://schemas.microsoft.com/office/drawing/2014/main" id="{E5A4786C-CD39-4E35-A2CD-488F46D3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14588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2" name="text-825">
            <a:extLst xmlns:a="http://schemas.openxmlformats.org/drawingml/2006/main">
              <a:ext uri="{FF2B5EF4-FFF2-40B4-BE49-F238E27FC236}">
                <a16:creationId xmlns:a16="http://schemas.microsoft.com/office/drawing/2014/main" id="{49686882-7A95-48BC-91D9-3391A9F7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7463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3" name="text-826">
            <a:extLst xmlns:a="http://schemas.openxmlformats.org/drawingml/2006/main">
              <a:ext uri="{FF2B5EF4-FFF2-40B4-BE49-F238E27FC236}">
                <a16:creationId xmlns:a16="http://schemas.microsoft.com/office/drawing/2014/main" id="{22824DCD-DD5C-47B5-B322-0E0E88A5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8888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论证闭环</a:t>
            </a:r>
          </a:p>
        </p:txBody>
      </p:sp>
      <p:sp>
        <p:nvSpPr>
          <p:cNvPr id="24" name="text-827">
            <a:extLst xmlns:a="http://schemas.openxmlformats.org/drawingml/2006/main">
              <a:ext uri="{FF2B5EF4-FFF2-40B4-BE49-F238E27FC236}">
                <a16:creationId xmlns:a16="http://schemas.microsoft.com/office/drawing/2014/main" id="{F24A3350-01DE-4BA5-A57B-419E8E54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00313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每项观点都说明主张、证据、含义与边界</a:t>
            </a:r>
          </a:p>
        </p:txBody>
      </p:sp>
      <p:sp>
        <p:nvSpPr>
          <p:cNvPr id="25" name="shape-828">
            <a:extLst xmlns:a="http://schemas.openxmlformats.org/drawingml/2006/main">
              <a:ext uri="{FF2B5EF4-FFF2-40B4-BE49-F238E27FC236}">
                <a16:creationId xmlns:a16="http://schemas.microsoft.com/office/drawing/2014/main" id="{AFBEF45F-5DF2-4688-BC94-22A6D2C3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05125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829">
            <a:extLst xmlns:a="http://schemas.openxmlformats.org/drawingml/2006/main">
              <a:ext uri="{FF2B5EF4-FFF2-40B4-BE49-F238E27FC236}">
                <a16:creationId xmlns:a16="http://schemas.microsoft.com/office/drawing/2014/main" id="{DD255280-FFCD-4573-A422-37F004DF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7" name="text-830">
            <a:extLst xmlns:a="http://schemas.openxmlformats.org/drawingml/2006/main">
              <a:ext uri="{FF2B5EF4-FFF2-40B4-BE49-F238E27FC236}">
                <a16:creationId xmlns:a16="http://schemas.microsoft.com/office/drawing/2014/main" id="{945C68B3-5043-417E-920C-4EA6B9A0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信息层级</a:t>
            </a:r>
          </a:p>
        </p:txBody>
      </p:sp>
      <p:sp>
        <p:nvSpPr>
          <p:cNvPr id="28" name="text-831">
            <a:extLst xmlns:a="http://schemas.openxmlformats.org/drawingml/2006/main">
              <a:ext uri="{FF2B5EF4-FFF2-40B4-BE49-F238E27FC236}">
                <a16:creationId xmlns:a16="http://schemas.microsoft.com/office/drawing/2014/main" id="{27435CE6-AFD7-4787-9108-846D444B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总览、正文、数据和附录承担不同任务</a:t>
            </a:r>
          </a:p>
        </p:txBody>
      </p:sp>
      <p:sp>
        <p:nvSpPr>
          <p:cNvPr id="29" name="shape-832">
            <a:extLst xmlns:a="http://schemas.openxmlformats.org/drawingml/2006/main">
              <a:ext uri="{FF2B5EF4-FFF2-40B4-BE49-F238E27FC236}">
                <a16:creationId xmlns:a16="http://schemas.microsoft.com/office/drawing/2014/main" id="{B33B1FA1-B6EF-4611-B964-BCAA3B7C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5663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30" name="text-833">
            <a:extLst xmlns:a="http://schemas.openxmlformats.org/drawingml/2006/main">
              <a:ext uri="{FF2B5EF4-FFF2-40B4-BE49-F238E27FC236}">
                <a16:creationId xmlns:a16="http://schemas.microsoft.com/office/drawing/2014/main" id="{793214F6-2F07-4155-B462-6DBCFAE6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38538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1" name="text-834">
            <a:extLst xmlns:a="http://schemas.openxmlformats.org/drawingml/2006/main">
              <a:ext uri="{FF2B5EF4-FFF2-40B4-BE49-F238E27FC236}">
                <a16:creationId xmlns:a16="http://schemas.microsoft.com/office/drawing/2014/main" id="{B3EC63D4-BFC4-4321-9D43-72B4444E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9963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图表诚信</a:t>
            </a:r>
          </a:p>
        </p:txBody>
      </p:sp>
      <p:sp>
        <p:nvSpPr>
          <p:cNvPr id="32" name="text-835">
            <a:extLst xmlns:a="http://schemas.openxmlformats.org/drawingml/2006/main">
              <a:ext uri="{FF2B5EF4-FFF2-40B4-BE49-F238E27FC236}">
                <a16:creationId xmlns:a16="http://schemas.microsoft.com/office/drawing/2014/main" id="{8510470E-F23C-4A2F-B0B1-834EAD99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1388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避免错误基数、误导坐标和构念混合</a:t>
            </a:r>
          </a:p>
        </p:txBody>
      </p:sp>
      <p:sp>
        <p:nvSpPr>
          <p:cNvPr id="33" name="shape-836">
            <a:extLst xmlns:a="http://schemas.openxmlformats.org/drawingml/2006/main">
              <a:ext uri="{FF2B5EF4-FFF2-40B4-BE49-F238E27FC236}">
                <a16:creationId xmlns:a16="http://schemas.microsoft.com/office/drawing/2014/main" id="{628A4151-A091-4838-BB20-A6A22B26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57650"/>
            <a:ext cx="70770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34" name="text-837">
            <a:extLst xmlns:a="http://schemas.openxmlformats.org/drawingml/2006/main">
              <a:ext uri="{FF2B5EF4-FFF2-40B4-BE49-F238E27FC236}">
                <a16:creationId xmlns:a16="http://schemas.microsoft.com/office/drawing/2014/main" id="{043F9887-CCAB-4F47-977D-40EAD2DE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核心工作指令</a:t>
            </a:r>
          </a:p>
        </p:txBody>
      </p:sp>
      <p:sp>
        <p:nvSpPr>
          <p:cNvPr id="35" name="text-838">
            <a:extLst xmlns:a="http://schemas.openxmlformats.org/drawingml/2006/main">
              <a:ext uri="{FF2B5EF4-FFF2-40B4-BE49-F238E27FC236}">
                <a16:creationId xmlns:a16="http://schemas.microsoft.com/office/drawing/2014/main" id="{4DE47145-A7A8-4233-94CA-D318440C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00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1. 只重组已审核洞察</a:t>
            </a:r>
          </a:p>
        </p:txBody>
      </p:sp>
      <p:sp>
        <p:nvSpPr>
          <p:cNvPr id="36" name="text-839">
            <a:extLst xmlns:a="http://schemas.openxmlformats.org/drawingml/2006/main">
              <a:ext uri="{FF2B5EF4-FFF2-40B4-BE49-F238E27FC236}">
                <a16:creationId xmlns:a16="http://schemas.microsoft.com/office/drawing/2014/main" id="{96222181-FF27-4CF9-94B5-E05201DA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00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2. 总览先行并交代目的与样本</a:t>
            </a:r>
          </a:p>
        </p:txBody>
      </p:sp>
      <p:sp>
        <p:nvSpPr>
          <p:cNvPr id="37" name="text-840">
            <a:extLst xmlns:a="http://schemas.openxmlformats.org/drawingml/2006/main">
              <a:ext uri="{FF2B5EF4-FFF2-40B4-BE49-F238E27FC236}">
                <a16:creationId xmlns:a16="http://schemas.microsoft.com/office/drawing/2014/main" id="{25DD9CC2-4B4E-47C7-B8B7-FF69DE74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33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3. 术语首次出现必须解释</a:t>
            </a:r>
          </a:p>
        </p:txBody>
      </p:sp>
      <p:sp>
        <p:nvSpPr>
          <p:cNvPr id="38" name="text-841">
            <a:extLst xmlns:a="http://schemas.openxmlformats.org/drawingml/2006/main">
              <a:ext uri="{FF2B5EF4-FFF2-40B4-BE49-F238E27FC236}">
                <a16:creationId xmlns:a16="http://schemas.microsoft.com/office/drawing/2014/main" id="{04193FC7-9AAC-4D9F-BEFB-6D823E11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4. 一张图只表达一个主要判断</a:t>
            </a:r>
          </a:p>
        </p:txBody>
      </p:sp>
      <p:sp>
        <p:nvSpPr>
          <p:cNvPr id="39" name="shape-842">
            <a:extLst xmlns:a="http://schemas.openxmlformats.org/drawingml/2006/main">
              <a:ext uri="{FF2B5EF4-FFF2-40B4-BE49-F238E27FC236}">
                <a16:creationId xmlns:a16="http://schemas.microsoft.com/office/drawing/2014/main" id="{5C56D22E-13F2-484D-A0FE-6E5102D0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86350"/>
            <a:ext cx="70770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0EEE6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0" name="text-843">
            <a:extLst xmlns:a="http://schemas.openxmlformats.org/drawingml/2006/main">
              <a:ext uri="{FF2B5EF4-FFF2-40B4-BE49-F238E27FC236}">
                <a16:creationId xmlns:a16="http://schemas.microsoft.com/office/drawing/2014/main" id="{8C2A6892-8BBC-4D1D-97AB-789B2806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006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能力边界｜不删除限制；不把建议写成业务决定；不改变证据强度。</a:t>
            </a:r>
          </a:p>
        </p:txBody>
      </p:sp>
      <p:sp>
        <p:nvSpPr>
          <p:cNvPr id="41" name="shape-844">
            <a:extLst xmlns:a="http://schemas.openxmlformats.org/drawingml/2006/main">
              <a:ext uri="{FF2B5EF4-FFF2-40B4-BE49-F238E27FC236}">
                <a16:creationId xmlns:a16="http://schemas.microsoft.com/office/drawing/2014/main" id="{B15E0715-E142-48D7-AAEB-1F8FAACF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42" name="text-845">
            <a:extLst xmlns:a="http://schemas.openxmlformats.org/drawingml/2006/main">
              <a:ext uri="{FF2B5EF4-FFF2-40B4-BE49-F238E27FC236}">
                <a16:creationId xmlns:a16="http://schemas.microsoft.com/office/drawing/2014/main" id="{2B9ACAD1-7594-4471-91DC-3C016FAE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00650"/>
            <a:ext cx="3209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案例表现｜将分析重构为19页管理层报告，补足样本画像、分群与术语解释。</a:t>
            </a:r>
          </a:p>
        </p:txBody>
      </p:sp>
      <p:sp>
        <p:nvSpPr>
          <p:cNvPr id="43" name="text-846">
            <a:extLst xmlns:a="http://schemas.openxmlformats.org/drawingml/2006/main">
              <a:ext uri="{FF2B5EF4-FFF2-40B4-BE49-F238E27FC236}">
                <a16:creationId xmlns:a16="http://schemas.microsoft.com/office/drawing/2014/main" id="{A2C859F0-A26C-4BF7-80D2-3A01C53E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9eab345137564259" action="ppaction://hlinksldjump"/>
              </a:rPr>
              <a:t>← 返回专家地图</a:t>
            </a:r>
          </a:p>
        </p:txBody>
      </p:sp>
      <p:sp>
        <p:nvSpPr>
          <p:cNvPr id="44" name="text-847">
            <a:extLst xmlns:a="http://schemas.openxmlformats.org/drawingml/2006/main">
              <a:ext uri="{FF2B5EF4-FFF2-40B4-BE49-F238E27FC236}">
                <a16:creationId xmlns:a16="http://schemas.microsoft.com/office/drawing/2014/main" id="{9405BAEC-456E-4537-AD66-98D4CDD3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055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B85C3E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c9b1e153bea4435d" action="ppaction://hlinksldjump"/>
              </a:rPr>
              <a:t>回到负责阶段 →</a:t>
            </a:r>
          </a:p>
        </p:txBody>
      </p:sp>
    </p:spTree>
    <p:extLst>
      <p:ext uri="{BB962C8B-B14F-4D97-AF65-F5344CB8AC3E}">
        <p14:creationId xmlns:p14="http://schemas.microsoft.com/office/powerpoint/2010/main" val="21191409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4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ext-848">
            <a:extLst xmlns:a="http://schemas.openxmlformats.org/drawingml/2006/main">
              <a:ext uri="{FF2B5EF4-FFF2-40B4-BE49-F238E27FC236}">
                <a16:creationId xmlns:a16="http://schemas.microsoft.com/office/drawing/2014/main" id="{19857874-181F-4288-BC26-4DDEF85F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专家方法与工作指令 · 07 / 07</a:t>
            </a:r>
          </a:p>
        </p:txBody>
      </p:sp>
      <p:sp>
        <p:nvSpPr>
          <p:cNvPr id="2" name="text-849">
            <a:extLst xmlns:a="http://schemas.openxmlformats.org/drawingml/2006/main">
              <a:ext uri="{FF2B5EF4-FFF2-40B4-BE49-F238E27FC236}">
                <a16:creationId xmlns:a16="http://schemas.microsoft.com/office/drawing/2014/main" id="{9C49855D-AF7B-4D90-9F17-1589AB8F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AF9F5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FAF9F5"/>
                </a:solidFill>
                <a:latin typeface="SimSun"/>
                <a:ea typeface="SimSun"/>
                <a:cs typeface="SimSun"/>
              </a:rPr>
              <a:t>研究总控｜保证流程不跳步、不串版本、不越权</a:t>
            </a:r>
          </a:p>
        </p:txBody>
      </p:sp>
      <p:sp>
        <p:nvSpPr>
          <p:cNvPr id="3" name="shape-850">
            <a:extLst xmlns:a="http://schemas.openxmlformats.org/drawingml/2006/main">
              <a:ext uri="{FF2B5EF4-FFF2-40B4-BE49-F238E27FC236}">
                <a16:creationId xmlns:a16="http://schemas.microsoft.com/office/drawing/2014/main" id="{B2629E7C-FF5C-4599-A717-898CB270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D3D3A"/>
            </a:solidFill>
            <a:prstDash val="solid"/>
          </a:ln>
        </p:spPr>
      </p:sp>
      <p:sp>
        <p:nvSpPr>
          <p:cNvPr id="4" name="text-851">
            <a:extLst xmlns:a="http://schemas.openxmlformats.org/drawingml/2006/main">
              <a:ext uri="{FF2B5EF4-FFF2-40B4-BE49-F238E27FC236}">
                <a16:creationId xmlns:a16="http://schemas.microsoft.com/office/drawing/2014/main" id="{EE8A704A-B465-4AEE-91DB-76D7152F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研究总控 · 专业方法与工作指令</a:t>
            </a:r>
          </a:p>
        </p:txBody>
      </p:sp>
      <p:sp>
        <p:nvSpPr>
          <p:cNvPr id="5" name="text-852">
            <a:extLst xmlns:a="http://schemas.openxmlformats.org/drawingml/2006/main">
              <a:ext uri="{FF2B5EF4-FFF2-40B4-BE49-F238E27FC236}">
                <a16:creationId xmlns:a16="http://schemas.microsoft.com/office/drawing/2014/main" id="{2C42AFC1-F8E6-4B71-A290-630AB7CD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  <p:sp>
        <p:nvSpPr>
          <p:cNvPr id="6" name="shape-853">
            <a:extLst xmlns:a="http://schemas.openxmlformats.org/drawingml/2006/main">
              <a:ext uri="{FF2B5EF4-FFF2-40B4-BE49-F238E27FC236}">
                <a16:creationId xmlns:a16="http://schemas.microsoft.com/office/drawing/2014/main" id="{12B20112-2FAA-4EAB-AD52-B88DF2F8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38500" cy="39433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3DACC"/>
          </a:solidFill>
          <a:ln xmlns:a="http://schemas.openxmlformats.org/drawingml/2006/main" w="14288">
            <a:solidFill>
              <a:srgbClr val="E3DACC"/>
            </a:solidFill>
            <a:prstDash val="solid"/>
          </a:ln>
        </p:spPr>
      </p:sp>
      <p:sp>
        <p:nvSpPr>
          <p:cNvPr id="7" name="text-854">
            <a:extLst xmlns:a="http://schemas.openxmlformats.org/drawingml/2006/main">
              <a:ext uri="{FF2B5EF4-FFF2-40B4-BE49-F238E27FC236}">
                <a16:creationId xmlns:a16="http://schemas.microsoft.com/office/drawing/2014/main" id="{A587E8F0-7DC2-439A-BB2C-66E7BDA9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贯穿 · 阶段 01—08</a:t>
            </a:r>
          </a:p>
        </p:txBody>
      </p:sp>
      <p:sp>
        <p:nvSpPr>
          <p:cNvPr id="8" name="text-855">
            <a:extLst xmlns:a="http://schemas.openxmlformats.org/drawingml/2006/main">
              <a:ext uri="{FF2B5EF4-FFF2-40B4-BE49-F238E27FC236}">
                <a16:creationId xmlns:a16="http://schemas.microsoft.com/office/drawing/2014/main" id="{D69A2427-8958-4D96-AEBC-0CAB202D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研究总控</a:t>
            </a:r>
          </a:p>
        </p:txBody>
      </p:sp>
      <p:sp>
        <p:nvSpPr>
          <p:cNvPr id="9" name="text-856">
            <a:extLst xmlns:a="http://schemas.openxmlformats.org/drawingml/2006/main">
              <a:ext uri="{FF2B5EF4-FFF2-40B4-BE49-F238E27FC236}">
                <a16:creationId xmlns:a16="http://schemas.microsoft.com/office/drawing/2014/main" id="{0FEA7C38-635D-4C1E-9E7C-914EAB78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负责什么</a:t>
            </a:r>
          </a:p>
        </p:txBody>
      </p:sp>
      <p:sp>
        <p:nvSpPr>
          <p:cNvPr id="10" name="text-857">
            <a:extLst xmlns:a="http://schemas.openxmlformats.org/drawingml/2006/main">
              <a:ext uri="{FF2B5EF4-FFF2-40B4-BE49-F238E27FC236}">
                <a16:creationId xmlns:a16="http://schemas.microsoft.com/office/drawing/2014/main" id="{1F4412AD-DFC7-43E7-A2DE-5E7D769A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读取当前阶段与有效结果，将任务交给合适专家。</a:t>
            </a:r>
          </a:p>
        </p:txBody>
      </p:sp>
      <p:sp>
        <p:nvSpPr>
          <p:cNvPr id="11" name="text-858">
            <a:extLst xmlns:a="http://schemas.openxmlformats.org/drawingml/2006/main">
              <a:ext uri="{FF2B5EF4-FFF2-40B4-BE49-F238E27FC236}">
                <a16:creationId xmlns:a16="http://schemas.microsoft.com/office/drawing/2014/main" id="{8D284066-9149-4146-BA09-BE6385FA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867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87867F"/>
                </a:solidFill>
                <a:latin typeface="Consolas"/>
                <a:ea typeface="Consolas"/>
                <a:cs typeface="Consolas"/>
              </a:rPr>
              <a:t>为什么需要</a:t>
            </a:r>
          </a:p>
        </p:txBody>
      </p:sp>
      <p:sp>
        <p:nvSpPr>
          <p:cNvPr id="12" name="text-859">
            <a:extLst xmlns:a="http://schemas.openxmlformats.org/drawingml/2006/main">
              <a:ext uri="{FF2B5EF4-FFF2-40B4-BE49-F238E27FC236}">
                <a16:creationId xmlns:a16="http://schemas.microsoft.com/office/drawing/2014/main" id="{387A3DEB-A7A9-4626-A6C2-24CD1809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多专家风险来自顺序混乱、旧版本复用和权限过大。</a:t>
            </a:r>
          </a:p>
        </p:txBody>
      </p:sp>
      <p:sp>
        <p:nvSpPr>
          <p:cNvPr id="13" name="shape-860">
            <a:extLst xmlns:a="http://schemas.openxmlformats.org/drawingml/2006/main">
              <a:ext uri="{FF2B5EF4-FFF2-40B4-BE49-F238E27FC236}">
                <a16:creationId xmlns:a16="http://schemas.microsoft.com/office/drawing/2014/main" id="{0048A054-2945-4C35-B001-69FAD9FD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281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FAF9F5"/>
            </a:solidFill>
            <a:prstDash val="solid"/>
          </a:ln>
        </p:spPr>
      </p:sp>
      <p:sp>
        <p:nvSpPr>
          <p:cNvPr id="14" name="text-861">
            <a:extLst xmlns:a="http://schemas.openxmlformats.org/drawingml/2006/main">
              <a:ext uri="{FF2B5EF4-FFF2-40B4-BE49-F238E27FC236}">
                <a16:creationId xmlns:a16="http://schemas.microsoft.com/office/drawing/2014/main" id="{271A3634-5D47-48B5-9878-0320B5E8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正式交付</a:t>
            </a:r>
          </a:p>
        </p:txBody>
      </p:sp>
      <p:sp>
        <p:nvSpPr>
          <p:cNvPr id="15" name="text-862">
            <a:extLst xmlns:a="http://schemas.openxmlformats.org/drawingml/2006/main">
              <a:ext uri="{FF2B5EF4-FFF2-40B4-BE49-F238E27FC236}">
                <a16:creationId xmlns:a16="http://schemas.microsoft.com/office/drawing/2014/main" id="{4CB64BA4-6DB9-4CC0-A4ED-E4E4A7E1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1413"/>
                </a:solidFill>
                <a:latin typeface="Microsoft YaHei"/>
                <a:ea typeface="Microsoft YaHei"/>
                <a:cs typeface="Microsoft YaHei"/>
              </a:rPr>
              <a:t>运行记录：任务、交接、阶段、有效版本与审核状态。</a:t>
            </a:r>
          </a:p>
        </p:txBody>
      </p:sp>
      <p:sp>
        <p:nvSpPr>
          <p:cNvPr id="16" name="text-863">
            <a:extLst xmlns:a="http://schemas.openxmlformats.org/drawingml/2006/main">
              <a:ext uri="{FF2B5EF4-FFF2-40B4-BE49-F238E27FC236}">
                <a16:creationId xmlns:a16="http://schemas.microsoft.com/office/drawing/2014/main" id="{C11532F8-5358-4B18-A52C-03643EA4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76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专业能力</a:t>
            </a:r>
          </a:p>
        </p:txBody>
      </p:sp>
      <p:sp>
        <p:nvSpPr>
          <p:cNvPr id="17" name="shape-864">
            <a:extLst xmlns:a="http://schemas.openxmlformats.org/drawingml/2006/main">
              <a:ext uri="{FF2B5EF4-FFF2-40B4-BE49-F238E27FC236}">
                <a16:creationId xmlns:a16="http://schemas.microsoft.com/office/drawing/2014/main" id="{EB35C2FA-87C5-4584-BC15-46DA936A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7077075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18" name="text-865">
            <a:extLst xmlns:a="http://schemas.openxmlformats.org/drawingml/2006/main">
              <a:ext uri="{FF2B5EF4-FFF2-40B4-BE49-F238E27FC236}">
                <a16:creationId xmlns:a16="http://schemas.microsoft.com/office/drawing/2014/main" id="{9E2560EA-F524-4BF6-A265-54543A54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669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9" name="text-866">
            <a:extLst xmlns:a="http://schemas.openxmlformats.org/drawingml/2006/main">
              <a:ext uri="{FF2B5EF4-FFF2-40B4-BE49-F238E27FC236}">
                <a16:creationId xmlns:a16="http://schemas.microsoft.com/office/drawing/2014/main" id="{2804B29A-B35D-4639-BCBC-C222AA6F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有限状态编排</a:t>
            </a:r>
          </a:p>
        </p:txBody>
      </p:sp>
      <p:sp>
        <p:nvSpPr>
          <p:cNvPr id="20" name="text-867">
            <a:extLst xmlns:a="http://schemas.openxmlformats.org/drawingml/2006/main">
              <a:ext uri="{FF2B5EF4-FFF2-40B4-BE49-F238E27FC236}">
                <a16:creationId xmlns:a16="http://schemas.microsoft.com/office/drawing/2014/main" id="{1135DEFA-906D-4E29-B51E-48C2763A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9775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满足前置条件后才能进入下一阶段</a:t>
            </a:r>
          </a:p>
        </p:txBody>
      </p:sp>
      <p:sp>
        <p:nvSpPr>
          <p:cNvPr id="21" name="shape-868">
            <a:extLst xmlns:a="http://schemas.openxmlformats.org/drawingml/2006/main">
              <a:ext uri="{FF2B5EF4-FFF2-40B4-BE49-F238E27FC236}">
                <a16:creationId xmlns:a16="http://schemas.microsoft.com/office/drawing/2014/main" id="{C4DCA667-9557-478A-A3AD-9E9EB262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14588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2" name="text-869">
            <a:extLst xmlns:a="http://schemas.openxmlformats.org/drawingml/2006/main">
              <a:ext uri="{FF2B5EF4-FFF2-40B4-BE49-F238E27FC236}">
                <a16:creationId xmlns:a16="http://schemas.microsoft.com/office/drawing/2014/main" id="{5FA9A82A-943C-4EA2-8474-B90C5D15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7463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3" name="text-870">
            <a:extLst xmlns:a="http://schemas.openxmlformats.org/drawingml/2006/main">
              <a:ext uri="{FF2B5EF4-FFF2-40B4-BE49-F238E27FC236}">
                <a16:creationId xmlns:a16="http://schemas.microsoft.com/office/drawing/2014/main" id="{E5A95700-BA53-44D4-BA91-8B3E0D07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8888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版本锁定</a:t>
            </a:r>
          </a:p>
        </p:txBody>
      </p:sp>
      <p:sp>
        <p:nvSpPr>
          <p:cNvPr id="24" name="text-871">
            <a:extLst xmlns:a="http://schemas.openxmlformats.org/drawingml/2006/main">
              <a:ext uri="{FF2B5EF4-FFF2-40B4-BE49-F238E27FC236}">
                <a16:creationId xmlns:a16="http://schemas.microsoft.com/office/drawing/2014/main" id="{D0D39B0E-D684-44AF-A02A-C2F29FD7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00313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每次任务绑定明确版本，避免新旧混用</a:t>
            </a:r>
          </a:p>
        </p:txBody>
      </p:sp>
      <p:sp>
        <p:nvSpPr>
          <p:cNvPr id="25" name="shape-872">
            <a:extLst xmlns:a="http://schemas.openxmlformats.org/drawingml/2006/main">
              <a:ext uri="{FF2B5EF4-FFF2-40B4-BE49-F238E27FC236}">
                <a16:creationId xmlns:a16="http://schemas.microsoft.com/office/drawing/2014/main" id="{606B73E7-76CC-4D71-9D63-17904D36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05125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26" name="text-873">
            <a:extLst xmlns:a="http://schemas.openxmlformats.org/drawingml/2006/main">
              <a:ext uri="{FF2B5EF4-FFF2-40B4-BE49-F238E27FC236}">
                <a16:creationId xmlns:a16="http://schemas.microsoft.com/office/drawing/2014/main" id="{AB8268AB-2F5A-4546-A160-B83623C9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7" name="text-874">
            <a:extLst xmlns:a="http://schemas.openxmlformats.org/drawingml/2006/main">
              <a:ext uri="{FF2B5EF4-FFF2-40B4-BE49-F238E27FC236}">
                <a16:creationId xmlns:a16="http://schemas.microsoft.com/office/drawing/2014/main" id="{5DD0F0E9-D998-4502-B13B-6E14E32D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最小权限</a:t>
            </a:r>
          </a:p>
        </p:txBody>
      </p:sp>
      <p:sp>
        <p:nvSpPr>
          <p:cNvPr id="28" name="text-875">
            <a:extLst xmlns:a="http://schemas.openxmlformats.org/drawingml/2006/main">
              <a:ext uri="{FF2B5EF4-FFF2-40B4-BE49-F238E27FC236}">
                <a16:creationId xmlns:a16="http://schemas.microsoft.com/office/drawing/2014/main" id="{70A0E1BE-F42A-442B-9F36-4831480C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只提供完成当前任务所需的信息与动作</a:t>
            </a:r>
          </a:p>
        </p:txBody>
      </p:sp>
      <p:sp>
        <p:nvSpPr>
          <p:cNvPr id="29" name="shape-876">
            <a:extLst xmlns:a="http://schemas.openxmlformats.org/drawingml/2006/main">
              <a:ext uri="{FF2B5EF4-FFF2-40B4-BE49-F238E27FC236}">
                <a16:creationId xmlns:a16="http://schemas.microsoft.com/office/drawing/2014/main" id="{CE60E182-0140-4AE1-BE07-2816C938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5663"/>
            <a:ext cx="677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CFC5"/>
            </a:solidFill>
            <a:prstDash val="solid"/>
          </a:ln>
        </p:spPr>
      </p:sp>
      <p:sp>
        <p:nvSpPr>
          <p:cNvPr id="30" name="text-877">
            <a:extLst xmlns:a="http://schemas.openxmlformats.org/drawingml/2006/main">
              <a:ext uri="{FF2B5EF4-FFF2-40B4-BE49-F238E27FC236}">
                <a16:creationId xmlns:a16="http://schemas.microsoft.com/office/drawing/2014/main" id="{C058FE07-EDFD-4ABB-B885-A6C5B129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38538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5C3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1" name="text-878">
            <a:extLst xmlns:a="http://schemas.openxmlformats.org/drawingml/2006/main">
              <a:ext uri="{FF2B5EF4-FFF2-40B4-BE49-F238E27FC236}">
                <a16:creationId xmlns:a16="http://schemas.microsoft.com/office/drawing/2014/main" id="{2E9E31AC-BA72-4863-BEB7-1AEC1F2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9963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3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41413"/>
                </a:solidFill>
                <a:latin typeface="SimSun"/>
                <a:ea typeface="SimSun"/>
                <a:cs typeface="SimSun"/>
              </a:rPr>
              <a:t>失效传播</a:t>
            </a:r>
          </a:p>
        </p:txBody>
      </p:sp>
      <p:sp>
        <p:nvSpPr>
          <p:cNvPr id="32" name="text-879">
            <a:extLst xmlns:a="http://schemas.openxmlformats.org/drawingml/2006/main">
              <a:ext uri="{FF2B5EF4-FFF2-40B4-BE49-F238E27FC236}">
                <a16:creationId xmlns:a16="http://schemas.microsoft.com/office/drawing/2014/main" id="{993A2BC9-618F-41CF-A3D8-2592DF71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1388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上游修改后，下游旧结果自动失效</a:t>
            </a:r>
          </a:p>
        </p:txBody>
      </p:sp>
      <p:sp>
        <p:nvSpPr>
          <p:cNvPr id="33" name="shape-880">
            <a:extLst xmlns:a="http://schemas.openxmlformats.org/drawingml/2006/main">
              <a:ext uri="{FF2B5EF4-FFF2-40B4-BE49-F238E27FC236}">
                <a16:creationId xmlns:a16="http://schemas.microsoft.com/office/drawing/2014/main" id="{2D991949-BB27-4008-A87C-186C8A78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57650"/>
            <a:ext cx="70770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1413"/>
          </a:solidFill>
          <a:ln xmlns:a="http://schemas.openxmlformats.org/drawingml/2006/main" w="14288">
            <a:solidFill>
              <a:srgbClr val="141413"/>
            </a:solidFill>
            <a:prstDash val="solid"/>
          </a:ln>
        </p:spPr>
      </p:sp>
      <p:sp>
        <p:nvSpPr>
          <p:cNvPr id="34" name="text-881">
            <a:extLst xmlns:a="http://schemas.openxmlformats.org/drawingml/2006/main">
              <a:ext uri="{FF2B5EF4-FFF2-40B4-BE49-F238E27FC236}">
                <a16:creationId xmlns:a16="http://schemas.microsoft.com/office/drawing/2014/main" id="{60FF9CE9-65A7-4127-BC98-9A70E5FE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3DACC"/>
                </a:solidFill>
                <a:latin typeface="Consolas"/>
                <a:ea typeface="Consolas"/>
                <a:cs typeface="Consolas"/>
              </a:rPr>
              <a:t>核心工作指令</a:t>
            </a:r>
          </a:p>
        </p:txBody>
      </p:sp>
      <p:sp>
        <p:nvSpPr>
          <p:cNvPr id="35" name="text-882">
            <a:extLst xmlns:a="http://schemas.openxmlformats.org/drawingml/2006/main">
              <a:ext uri="{FF2B5EF4-FFF2-40B4-BE49-F238E27FC236}">
                <a16:creationId xmlns:a16="http://schemas.microsoft.com/office/drawing/2014/main" id="{E209DD36-C4FA-41E3-9A1E-A81FD844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00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1. 读取当前阶段和有效版本</a:t>
            </a:r>
          </a:p>
        </p:txBody>
      </p:sp>
      <p:sp>
        <p:nvSpPr>
          <p:cNvPr id="36" name="text-883">
            <a:extLst xmlns:a="http://schemas.openxmlformats.org/drawingml/2006/main">
              <a:ext uri="{FF2B5EF4-FFF2-40B4-BE49-F238E27FC236}">
                <a16:creationId xmlns:a16="http://schemas.microsoft.com/office/drawing/2014/main" id="{954877CC-7E52-46CA-8544-941BF27C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00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2. 下发最小必要输入与权限</a:t>
            </a:r>
          </a:p>
        </p:txBody>
      </p:sp>
      <p:sp>
        <p:nvSpPr>
          <p:cNvPr id="37" name="text-884">
            <a:extLst xmlns:a="http://schemas.openxmlformats.org/drawingml/2006/main">
              <a:ext uri="{FF2B5EF4-FFF2-40B4-BE49-F238E27FC236}">
                <a16:creationId xmlns:a16="http://schemas.microsoft.com/office/drawing/2014/main" id="{072EF93B-6F6C-4577-BD97-EE8C3A34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33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3. 校验交付和下一责任人</a:t>
            </a:r>
          </a:p>
        </p:txBody>
      </p:sp>
      <p:sp>
        <p:nvSpPr>
          <p:cNvPr id="38" name="text-885">
            <a:extLst xmlns:a="http://schemas.openxmlformats.org/drawingml/2006/main">
              <a:ext uri="{FF2B5EF4-FFF2-40B4-BE49-F238E27FC236}">
                <a16:creationId xmlns:a16="http://schemas.microsoft.com/office/drawing/2014/main" id="{21E30F2D-20F7-4C5A-8521-EBF1225A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4. 拒绝跳审、旧批准与越权修改</a:t>
            </a:r>
          </a:p>
        </p:txBody>
      </p:sp>
      <p:sp>
        <p:nvSpPr>
          <p:cNvPr id="39" name="shape-886">
            <a:extLst xmlns:a="http://schemas.openxmlformats.org/drawingml/2006/main">
              <a:ext uri="{FF2B5EF4-FFF2-40B4-BE49-F238E27FC236}">
                <a16:creationId xmlns:a16="http://schemas.microsoft.com/office/drawing/2014/main" id="{1BBA385E-EC28-4544-B2BB-70633E6A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86350"/>
            <a:ext cx="70770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D3D3A"/>
          </a:solidFill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40" name="text-887">
            <a:extLst xmlns:a="http://schemas.openxmlformats.org/drawingml/2006/main">
              <a:ext uri="{FF2B5EF4-FFF2-40B4-BE49-F238E27FC236}">
                <a16:creationId xmlns:a16="http://schemas.microsoft.com/office/drawing/2014/main" id="{ADEE7DA7-F807-4611-8A63-954546AB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006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能力边界｜不拥有研究语义；不替专家选结论；不模拟人工批准。</a:t>
            </a:r>
          </a:p>
        </p:txBody>
      </p:sp>
      <p:sp>
        <p:nvSpPr>
          <p:cNvPr id="41" name="shape-888">
            <a:extLst xmlns:a="http://schemas.openxmlformats.org/drawingml/2006/main">
              <a:ext uri="{FF2B5EF4-FFF2-40B4-BE49-F238E27FC236}">
                <a16:creationId xmlns:a16="http://schemas.microsoft.com/office/drawing/2014/main" id="{7D2BD07C-69D7-4C66-A45D-380B9949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7867F"/>
            </a:solidFill>
            <a:prstDash val="solid"/>
          </a:ln>
        </p:spPr>
      </p:sp>
      <p:sp>
        <p:nvSpPr>
          <p:cNvPr id="42" name="text-889">
            <a:extLst xmlns:a="http://schemas.openxmlformats.org/drawingml/2006/main">
              <a:ext uri="{FF2B5EF4-FFF2-40B4-BE49-F238E27FC236}">
                <a16:creationId xmlns:a16="http://schemas.microsoft.com/office/drawing/2014/main" id="{5D26081D-8F7B-44AB-9129-8D8BF33C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00650"/>
            <a:ext cx="3209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0EEE6"/>
                </a:solidFill>
                <a:latin typeface="Microsoft YaHei"/>
                <a:ea typeface="Microsoft YaHei"/>
                <a:cs typeface="Microsoft YaHei"/>
              </a:rPr>
              <a:t>案例表现｜连接任务、问卷、在线发行、200份数据、分析和最终报告。</a:t>
            </a:r>
          </a:p>
        </p:txBody>
      </p:sp>
      <p:sp>
        <p:nvSpPr>
          <p:cNvPr id="43" name="text-890">
            <a:extLst xmlns:a="http://schemas.openxmlformats.org/drawingml/2006/main">
              <a:ext uri="{FF2B5EF4-FFF2-40B4-BE49-F238E27FC236}">
                <a16:creationId xmlns:a16="http://schemas.microsoft.com/office/drawing/2014/main" id="{13F1A992-2952-4D7E-90DB-F4DBB7F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3DACC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bd4310b3b95b4759" action="ppaction://hlinksldjump"/>
              </a:rPr>
              <a:t>← 返回专家地图</a:t>
            </a:r>
          </a:p>
        </p:txBody>
      </p:sp>
      <p:sp>
        <p:nvSpPr>
          <p:cNvPr id="44" name="text-891">
            <a:extLst xmlns:a="http://schemas.openxmlformats.org/drawingml/2006/main">
              <a:ext uri="{FF2B5EF4-FFF2-40B4-BE49-F238E27FC236}">
                <a16:creationId xmlns:a16="http://schemas.microsoft.com/office/drawing/2014/main" id="{309FFAA6-E780-469F-B971-6545603A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055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3DAC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3DACC"/>
                </a:solidFill>
                <a:latin typeface="Consolas"/>
                <a:ea typeface="Consolas"/>
                <a:cs typeface="Consolas"/>
                <a:hlinkClick xmlns:r="http://schemas.openxmlformats.org/officeDocument/2006/relationships" r:id="R515a83bb8c8f4691" action="ppaction://hlinksldjump"/>
              </a:rPr>
              <a:t>回到完整工作流 →</a:t>
            </a:r>
          </a:p>
        </p:txBody>
      </p:sp>
    </p:spTree>
    <p:extLst>
      <p:ext uri="{BB962C8B-B14F-4D97-AF65-F5344CB8AC3E}">
        <p14:creationId xmlns:p14="http://schemas.microsoft.com/office/powerpoint/2010/main" val="2043901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2026-07-29T02:26:22.8680000Z</dcterms:created>
  <dcterms:modified xsi:type="dcterms:W3CDTF">2026-07-29T02:26:22.8680000Z</dcterms:modified>
</coreProperties>
</file>