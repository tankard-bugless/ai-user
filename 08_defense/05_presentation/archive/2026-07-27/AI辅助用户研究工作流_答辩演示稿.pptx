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2394f28e2491c" /><Relationship Type="http://schemas.openxmlformats.org/officeDocument/2006/relationships/extended-properties" Target="/docProps/app.xml" Id="Rc92a814de2104514" /><Relationship Type="http://schemas.openxmlformats.org/officeDocument/2006/relationships/officeDocument" Target="/ppt/presentation.xml" Id="Rd32812a449d84f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5fe89514424559"/>
  </p:sldMasterIdLst>
  <p:notesMasterIdLst>
    <p:notesMasterId xmlns:r="http://schemas.openxmlformats.org/officeDocument/2006/relationships" r:id="Rbbac6e4d3648422b"/>
  </p:notesMasterIdLst>
  <p:sldIdLst>
    <p:sldId xmlns:r="http://schemas.openxmlformats.org/officeDocument/2006/relationships" id="256" r:id="R907cf86724684422"/>
    <p:sldId xmlns:r="http://schemas.openxmlformats.org/officeDocument/2006/relationships" id="257" r:id="Rf89454708cb54116"/>
    <p:sldId xmlns:r="http://schemas.openxmlformats.org/officeDocument/2006/relationships" id="258" r:id="R01834a76b77744e5"/>
    <p:sldId xmlns:r="http://schemas.openxmlformats.org/officeDocument/2006/relationships" id="259" r:id="R163d377e026d42f6"/>
    <p:sldId xmlns:r="http://schemas.openxmlformats.org/officeDocument/2006/relationships" id="260" r:id="Rd569ddc661a745da"/>
    <p:sldId xmlns:r="http://schemas.openxmlformats.org/officeDocument/2006/relationships" id="261" r:id="R587086d84c464c8c"/>
    <p:sldId xmlns:r="http://schemas.openxmlformats.org/officeDocument/2006/relationships" id="262" r:id="R05a6ccd4fa814884"/>
    <p:sldId xmlns:r="http://schemas.openxmlformats.org/officeDocument/2006/relationships" id="263" r:id="R8cf16cf844744c07"/>
    <p:sldId xmlns:r="http://schemas.openxmlformats.org/officeDocument/2006/relationships" id="264" r:id="R6104dc2b2c364ccb"/>
    <p:sldId xmlns:r="http://schemas.openxmlformats.org/officeDocument/2006/relationships" id="265" r:id="R6b1b85ee6bd04679"/>
    <p:sldId xmlns:r="http://schemas.openxmlformats.org/officeDocument/2006/relationships" id="266" r:id="R2b26c5444b9e4718"/>
    <p:sldId xmlns:r="http://schemas.openxmlformats.org/officeDocument/2006/relationships" id="267" r:id="R3e2cda495a3444ba"/>
    <p:sldId xmlns:r="http://schemas.openxmlformats.org/officeDocument/2006/relationships" id="268" r:id="R10a3e078db79431a"/>
    <p:sldId xmlns:r="http://schemas.openxmlformats.org/officeDocument/2006/relationships" id="269" r:id="R82d298fbdea441ef"/>
    <p:sldId xmlns:r="http://schemas.openxmlformats.org/officeDocument/2006/relationships" id="270" r:id="R45285dd5cc6f4d71"/>
    <p:sldId xmlns:r="http://schemas.openxmlformats.org/officeDocument/2006/relationships" id="271" r:id="R812a8bab9dbd4027"/>
    <p:sldId xmlns:r="http://schemas.openxmlformats.org/officeDocument/2006/relationships" id="272" r:id="R81c8b6cb8129477e"/>
    <p:sldId xmlns:r="http://schemas.openxmlformats.org/officeDocument/2006/relationships" id="273" r:id="Rb897ab28929c4064"/>
    <p:sldId xmlns:r="http://schemas.openxmlformats.org/officeDocument/2006/relationships" id="274" r:id="Rafe1f145a6e543e5"/>
    <p:sldId xmlns:r="http://schemas.openxmlformats.org/officeDocument/2006/relationships" id="275" r:id="R0a1e4accb3ae47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d54826aac64e12" /><Relationship Type="http://schemas.openxmlformats.org/officeDocument/2006/relationships/slideMaster" Target="/ppt/slideMasters/slideMaster1.xml" Id="R7f5fe89514424559" /><Relationship Type="http://schemas.openxmlformats.org/officeDocument/2006/relationships/notesMaster" Target="/ppt/notesMasters/notesMaster1.xml" Id="Rbbac6e4d3648422b" /><Relationship Type="http://schemas.openxmlformats.org/officeDocument/2006/relationships/presProps" Target="/ppt/presProps.xml" Id="Ra5b6dfc174d94a4a" /><Relationship Type="http://schemas.openxmlformats.org/officeDocument/2006/relationships/tableStyles" Target="/ppt/tableStyles.xml" Id="R38a1b925c8eb4276" /><Relationship Type="http://schemas.openxmlformats.org/officeDocument/2006/relationships/slide" Target="/ppt/slides/slide1.xml" Id="R907cf86724684422" /><Relationship Type="http://schemas.openxmlformats.org/officeDocument/2006/relationships/slide" Target="/ppt/slides/slide2.xml" Id="Rf89454708cb54116" /><Relationship Type="http://schemas.openxmlformats.org/officeDocument/2006/relationships/slide" Target="/ppt/slides/slide3.xml" Id="R01834a76b77744e5" /><Relationship Type="http://schemas.openxmlformats.org/officeDocument/2006/relationships/slide" Target="/ppt/slides/slide4.xml" Id="R163d377e026d42f6" /><Relationship Type="http://schemas.openxmlformats.org/officeDocument/2006/relationships/slide" Target="/ppt/slides/slide5.xml" Id="Rd569ddc661a745da" /><Relationship Type="http://schemas.openxmlformats.org/officeDocument/2006/relationships/slide" Target="/ppt/slides/slide6.xml" Id="R587086d84c464c8c" /><Relationship Type="http://schemas.openxmlformats.org/officeDocument/2006/relationships/slide" Target="/ppt/slides/slide7.xml" Id="R05a6ccd4fa814884" /><Relationship Type="http://schemas.openxmlformats.org/officeDocument/2006/relationships/slide" Target="/ppt/slides/slide8.xml" Id="R8cf16cf844744c07" /><Relationship Type="http://schemas.openxmlformats.org/officeDocument/2006/relationships/slide" Target="/ppt/slides/slide9.xml" Id="R6104dc2b2c364ccb" /><Relationship Type="http://schemas.openxmlformats.org/officeDocument/2006/relationships/slide" Target="/ppt/slides/slide10.xml" Id="R6b1b85ee6bd04679" /><Relationship Type="http://schemas.openxmlformats.org/officeDocument/2006/relationships/slide" Target="/ppt/slides/slide11.xml" Id="R2b26c5444b9e4718" /><Relationship Type="http://schemas.openxmlformats.org/officeDocument/2006/relationships/slide" Target="/ppt/slides/slide12.xml" Id="R3e2cda495a3444ba" /><Relationship Type="http://schemas.openxmlformats.org/officeDocument/2006/relationships/slide" Target="/ppt/slides/slide13.xml" Id="R10a3e078db79431a" /><Relationship Type="http://schemas.openxmlformats.org/officeDocument/2006/relationships/slide" Target="/ppt/slides/slide14.xml" Id="R82d298fbdea441ef" /><Relationship Type="http://schemas.openxmlformats.org/officeDocument/2006/relationships/slide" Target="/ppt/slides/slide15.xml" Id="R45285dd5cc6f4d71" /><Relationship Type="http://schemas.openxmlformats.org/officeDocument/2006/relationships/slide" Target="/ppt/slides/slide16.xml" Id="R812a8bab9dbd4027" /><Relationship Type="http://schemas.openxmlformats.org/officeDocument/2006/relationships/slide" Target="/ppt/slides/slide17.xml" Id="R81c8b6cb8129477e" /><Relationship Type="http://schemas.openxmlformats.org/officeDocument/2006/relationships/slide" Target="/ppt/slides/slide18.xml" Id="Rb897ab28929c4064" /><Relationship Type="http://schemas.openxmlformats.org/officeDocument/2006/relationships/slide" Target="/ppt/slides/slide19.xml" Id="Rafe1f145a6e543e5" /><Relationship Type="http://schemas.openxmlformats.org/officeDocument/2006/relationships/slide" Target="/ppt/slides/slide20.xml" Id="R0a1e4accb3ae47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fde3484c4d43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24a9c2f2644afe" /><Relationship Type="http://schemas.openxmlformats.org/officeDocument/2006/relationships/notesMaster" Target="/ppt/notesMasters/notesMaster1.xml" Id="Rb2f9094eed7a49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62038dd5f44ea9" /><Relationship Type="http://schemas.openxmlformats.org/officeDocument/2006/relationships/notesMaster" Target="/ppt/notesMasters/notesMaster1.xml" Id="R49b46d47134b4d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5b46b60a884e50" /><Relationship Type="http://schemas.openxmlformats.org/officeDocument/2006/relationships/notesMaster" Target="/ppt/notesMasters/notesMaster1.xml" Id="Ra61095c4f63842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fee66bc3624688" /><Relationship Type="http://schemas.openxmlformats.org/officeDocument/2006/relationships/notesMaster" Target="/ppt/notesMasters/notesMaster1.xml" Id="Rc7ec6fed76a149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9c8ebedd0946d5" /><Relationship Type="http://schemas.openxmlformats.org/officeDocument/2006/relationships/notesMaster" Target="/ppt/notesMasters/notesMaster1.xml" Id="Rf2291fcceac747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8f1e1f29454856" /><Relationship Type="http://schemas.openxmlformats.org/officeDocument/2006/relationships/notesMaster" Target="/ppt/notesMasters/notesMaster1.xml" Id="Re4ae5b17f84f4a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3c2032e1284dc0" /><Relationship Type="http://schemas.openxmlformats.org/officeDocument/2006/relationships/notesMaster" Target="/ppt/notesMasters/notesMaster1.xml" Id="R4f277763cae14a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c74705e192444f" /><Relationship Type="http://schemas.openxmlformats.org/officeDocument/2006/relationships/notesMaster" Target="/ppt/notesMasters/notesMaster1.xml" Id="R05128dad2b2849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7c28b2fa844542" /><Relationship Type="http://schemas.openxmlformats.org/officeDocument/2006/relationships/notesMaster" Target="/ppt/notesMasters/notesMaster1.xml" Id="Re6889587b9524f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9228da31e249e0" /><Relationship Type="http://schemas.openxmlformats.org/officeDocument/2006/relationships/notesMaster" Target="/ppt/notesMasters/notesMaster1.xml" Id="R562213cd89254f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8b6a9d82814efb" /><Relationship Type="http://schemas.openxmlformats.org/officeDocument/2006/relationships/notesMaster" Target="/ppt/notesMasters/notesMaster1.xml" Id="R76e96acdd94343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ab04853ac74daf" /><Relationship Type="http://schemas.openxmlformats.org/officeDocument/2006/relationships/notesMaster" Target="/ppt/notesMasters/notesMaster1.xml" Id="Rb8fc9a69d54047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9bcee5f9ca4d88" /><Relationship Type="http://schemas.openxmlformats.org/officeDocument/2006/relationships/notesMaster" Target="/ppt/notesMasters/notesMaster1.xml" Id="R976e418232bd43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865b8a10d74a16" /><Relationship Type="http://schemas.openxmlformats.org/officeDocument/2006/relationships/notesMaster" Target="/ppt/notesMasters/notesMaster1.xml" Id="R13c781eafa7341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5ac5bff1a14bd4" /><Relationship Type="http://schemas.openxmlformats.org/officeDocument/2006/relationships/notesMaster" Target="/ppt/notesMasters/notesMaster1.xml" Id="R5bd03e30a22644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9e35440c8d4984" /><Relationship Type="http://schemas.openxmlformats.org/officeDocument/2006/relationships/notesMaster" Target="/ppt/notesMasters/notesMaster1.xml" Id="R6e2de34bca964e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d1f1983ad0485c" /><Relationship Type="http://schemas.openxmlformats.org/officeDocument/2006/relationships/notesMaster" Target="/ppt/notesMasters/notesMaster1.xml" Id="R4a6d0b2014a442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cf5ca1546a417e" /><Relationship Type="http://schemas.openxmlformats.org/officeDocument/2006/relationships/notesMaster" Target="/ppt/notesMasters/notesMaster1.xml" Id="R2af24d815ea2467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49ac82806f4b33" /><Relationship Type="http://schemas.openxmlformats.org/officeDocument/2006/relationships/notesMaster" Target="/ppt/notesMasters/notesMaster1.xml" Id="Rfea397bdc0404c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9b4c8fe8c34fe6" /><Relationship Type="http://schemas.openxmlformats.org/officeDocument/2006/relationships/notesMaster" Target="/ppt/notesMasters/notesMaster1.xml" Id="R1d018ed5234a41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Project-authored content;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D:\codexprojecttest\user-research-workflow\08_defense\01_scope\full-architecture-demo-baseline.md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  <a:p xmlns:a="http://schemas.openxmlformats.org/drawingml/2006/main">
            <a:r>
              <a:t>- D:\codexprojecttest\user-research-workflow\08_defense\04_case\otf-case-retrospective.md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D:\codexprojecttest\user-research-workflow\08_defense\01_scope\full-architecture-demo-baseline.md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  <a:p xmlns:a="http://schemas.openxmlformats.org/drawingml/2006/main">
            <a:r>
              <a:t>- D:\codexprojecttest\user-research-workflow\08_defense\01_scope\full-architecture-demo-baseline.md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  <a:p xmlns:a="http://schemas.openxmlformats.org/drawingml/2006/main">
            <a:r>
              <a:t>- D:\codexprojecttest\user-research-workflow\08_defense\03_experts\expert-agent-prompt-handbook.md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D:\codexprojecttest\user-research-workflow\08_defense\03_experts\expert-agent-prompt-handbook.md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  <a:p xmlns:a="http://schemas.openxmlformats.org/drawingml/2006/main">
            <a:r>
              <a:t>- D:\codexprojecttest\user-research-workflow\08_defense\03_experts\expert-agent-prompt-handbook.md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  <a:p xmlns:a="http://schemas.openxmlformats.org/drawingml/2006/main">
            <a:r>
              <a:t>- D:\codexprojecttest\user-research-workflow\08_defense\03_experts\expert-agent-prompt-handbook.md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  <a:p xmlns:a="http://schemas.openxmlformats.org/drawingml/2006/main">
            <a:r>
              <a:t>- D:\codexprojecttest\user-research-workflow\08_defense\04_case\otf-case-retrospective.md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  <a:p xmlns:a="http://schemas.openxmlformats.org/drawingml/2006/main">
            <a:r>
              <a:t>- D:\codexprojecttest\user-research-workflow\08_defense\01_scope\full-architecture-demo-baseline.md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D:\codexprojecttest\user-research-workflow\08_defense\04_case\otf-case-retrospective.md</a:t>
            </a:r>
          </a:p>
          <a:p xmlns:a="http://schemas.openxmlformats.org/drawingml/2006/main">
            <a:r>
              <a:t>- D:\codexprojecttest\user-research-workflow\output\doc\养老目标基金购买者认知与持有行为洞察报告_展示版.pdf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D:\codexprojecttest\user-research-workflow\08_defense\04_case\otf-case-retrospective.md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D:\codexprojecttest\user-research-workflow\08_defense\04_case\otf-case-retrospective.md</a:t>
            </a:r>
          </a:p>
          <a:p xmlns:a="http://schemas.openxmlformats.org/drawingml/2006/main">
            <a:r>
              <a:t>- D:\codexprojecttest\user-research-workflow\output\doc\养老目标基金调研报告_v0.2_assets\fig1_knowledge_v0.2.png</a:t>
            </a:r>
          </a:p>
          <a:p xmlns:a="http://schemas.openxmlformats.org/drawingml/2006/main">
            <a:r>
              <a:t>- D:\codexprojecttest\user-research-workflow\output\doc\养老目标基金购买者认知与持有行为洞察报告_展示版.pdf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D:\codexprojecttest\user-research-workflow\08_defense\04_case\otf-case-retrospective.md</a:t>
            </a:r>
          </a:p>
          <a:p xmlns:a="http://schemas.openxmlformats.org/drawingml/2006/main">
            <a:r>
              <a:t>- D:\codexprojecttest\user-research-workflow\output\doc\养老目标基金调研报告_v0.2_assets\fig2_glide_v0.2.png</a:t>
            </a:r>
          </a:p>
          <a:p xmlns:a="http://schemas.openxmlformats.org/drawingml/2006/main">
            <a:r>
              <a:t>- D:\codexprojecttest\user-research-workflow\output\doc\养老目标基金购买者认知与持有行为洞察报告_展示版.pdf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D:\codexprojecttest\user-research-workflow\08_defense\04_case\otf-case-retrospective.md</a:t>
            </a:r>
          </a:p>
          <a:p xmlns:a="http://schemas.openxmlformats.org/drawingml/2006/main">
            <a:r>
              <a:t>- D:\codexprojecttest\user-research-workflow\output\doc\养老目标基金购买者认知与持有行为洞察报告_展示版.pdf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D:\codexprojecttest\user-research-workflow\08_defense\01_scope\full-architecture-demo-baseline.md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  <a:p xmlns:a="http://schemas.openxmlformats.org/drawingml/2006/main">
            <a:r>
              <a:t>- D:\codexprojecttest\user-research-workflow\07_evaluations\run_all_checks.py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D:\codexprojecttest\user-research-workflow\08_defense\01_scope\full-architecture-demo-baseline.md</a:t>
            </a:r>
          </a:p>
          <a:p xmlns:a="http://schemas.openxmlformats.org/drawingml/2006/main">
            <a:r>
              <a:t>- D:\codexprojecttest\user-research-workflow\08_defense\02_workflow\full-workflow-design.md</a:t>
            </a:r>
          </a:p>
          <a:p xmlns:a="http://schemas.openxmlformats.org/drawingml/2006/main">
            <a:r>
              <a:t>- D:\codexprojecttest\user-research-workflow\08_defense\04_case\otf-case-retrospective.md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92f2c072d45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27510e53b942c4" /><Relationship Type="http://schemas.openxmlformats.org/officeDocument/2006/relationships/slideLayout" Target="/ppt/slideLayouts/slideLayout1.xml" Id="Raf43dfc032424a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43dfc032424a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492d85a2c4a9b" /><Relationship Type="http://schemas.openxmlformats.org/officeDocument/2006/relationships/notesSlide" Target="/ppt/notesSlides/notesSlide1.xml" Id="R40d0149891914f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db01868b940c4" /><Relationship Type="http://schemas.openxmlformats.org/officeDocument/2006/relationships/notesSlide" Target="/ppt/notesSlides/notesSlide2.xml" Id="R0a71e951a0b24d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725c32f9647b3" /><Relationship Type="http://schemas.openxmlformats.org/officeDocument/2006/relationships/notesSlide" Target="/ppt/notesSlides/notesSlide3.xml" Id="Rfeab6cde38a841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8944df3d04ef4" /><Relationship Type="http://schemas.openxmlformats.org/officeDocument/2006/relationships/notesSlide" Target="/ppt/notesSlides/notesSlide4.xml" Id="R1e19e1c75ef144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053bf5f9f4429" /><Relationship Type="http://schemas.openxmlformats.org/officeDocument/2006/relationships/notesSlide" Target="/ppt/notesSlides/notesSlide5.xml" Id="Rbc0450ecb25f4a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9bca4aadc490d" /><Relationship Type="http://schemas.openxmlformats.org/officeDocument/2006/relationships/notesSlide" Target="/ppt/notesSlides/notesSlide6.xml" Id="Rf3d578652bae46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65cdba3b94df8" /><Relationship Type="http://schemas.openxmlformats.org/officeDocument/2006/relationships/notesSlide" Target="/ppt/notesSlides/notesSlide7.xml" Id="R6bd6be6a40fd48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4c5731e34496a" /><Relationship Type="http://schemas.openxmlformats.org/officeDocument/2006/relationships/notesSlide" Target="/ppt/notesSlides/notesSlide8.xml" Id="R42ca86eedfc94f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801ff9993413b" /><Relationship Type="http://schemas.openxmlformats.org/officeDocument/2006/relationships/notesSlide" Target="/ppt/notesSlides/notesSlide9.xml" Id="R92cbfe85d7b946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89f79b9784ec8" /><Relationship Type="http://schemas.openxmlformats.org/officeDocument/2006/relationships/notesSlide" Target="/ppt/notesSlides/notesSlide10.xml" Id="R74b3ed9ad6ce49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80ca0ca784af2" /><Relationship Type="http://schemas.openxmlformats.org/officeDocument/2006/relationships/notesSlide" Target="/ppt/notesSlides/notesSlide11.xml" Id="R76025e0dea6646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80e69ac624316" /><Relationship Type="http://schemas.openxmlformats.org/officeDocument/2006/relationships/notesSlide" Target="/ppt/notesSlides/notesSlide12.xml" Id="Rc8fa64b5e53343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f6d3a43f84c6e" /><Relationship Type="http://schemas.openxmlformats.org/officeDocument/2006/relationships/notesSlide" Target="/ppt/notesSlides/notesSlide13.xml" Id="R4a6c0907c0b84e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7c3987acf4641" /><Relationship Type="http://schemas.openxmlformats.org/officeDocument/2006/relationships/notesSlide" Target="/ppt/notesSlides/notesSlide14.xml" Id="R9b05c3e6c12d4f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f8ca1b138441f" /><Relationship Type="http://schemas.openxmlformats.org/officeDocument/2006/relationships/notesSlide" Target="/ppt/notesSlides/notesSlide15.xml" Id="Rdd4eff17794542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bdc59d8d1439e" /><Relationship Type="http://schemas.openxmlformats.org/officeDocument/2006/relationships/image" Target="/ppt/media/image.png" Id="R20f5a867b56341f7" /><Relationship Type="http://schemas.openxmlformats.org/officeDocument/2006/relationships/notesSlide" Target="/ppt/notesSlides/notesSlide16.xml" Id="Raeb94c745b0c40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da023a58c49d7" /><Relationship Type="http://schemas.openxmlformats.org/officeDocument/2006/relationships/image" Target="/ppt/media/image2.png" Id="R6d3d5c01be634bbf" /><Relationship Type="http://schemas.openxmlformats.org/officeDocument/2006/relationships/notesSlide" Target="/ppt/notesSlides/notesSlide17.xml" Id="R250a8d9f26424a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3a6a214b14bf3" /><Relationship Type="http://schemas.openxmlformats.org/officeDocument/2006/relationships/notesSlide" Target="/ppt/notesSlides/notesSlide18.xml" Id="R3f24bfa4f1da4b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9b8d1e0764e1d" /><Relationship Type="http://schemas.openxmlformats.org/officeDocument/2006/relationships/notesSlide" Target="/ppt/notesSlides/notesSlide19.xml" Id="R86ffe773e16a49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a77618ccc4977" /><Relationship Type="http://schemas.openxmlformats.org/officeDocument/2006/relationships/notesSlide" Target="/ppt/notesSlides/notesSlide20.xml" Id="R0c9c8580d31c40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FA3AD-3246-47D9-AF9C-40C13E38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61592-91CF-4852-9B8A-A4498F12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0"/>
            <a:ext cx="4152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29D68-B0BD-44B3-84CA-F4AB0BCC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7692-C3C0-40CA-87B4-F1660EBD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0096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311CAF6-68E3-4807-ADD7-EB7CA710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39065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AI辅助用户研究工作流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C8ECCA8-4E52-4033-8974-B93716BD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400300"/>
            <a:ext cx="647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8EEF2"/>
                </a:solidFill>
              </a:defRPr>
            </a:pPr>
            <a:r>
              <a:rPr sz="2100" b="0">
                <a:solidFill>
                  <a:srgbClr val="E8EEF2"/>
                </a:solidFill>
              </a:rPr>
              <a:t>让研究需求、问卷/访谈、数据、洞察与报告</a:t>
            </a:r>
          </a:p>
          <a:p xmlns:a="http://schemas.openxmlformats.org/drawingml/2006/main">
            <a:pPr algn="l">
              <a:defRPr sz="2100" b="0">
                <a:solidFill>
                  <a:srgbClr val="E8EEF2"/>
                </a:solidFill>
              </a:defRPr>
            </a:pPr>
            <a:r>
              <a:rPr sz="2100" b="0">
                <a:solidFill>
                  <a:srgbClr val="E8EEF2"/>
                </a:solidFill>
              </a:rPr>
              <a:t>在一套可追溯、可迁移的系统中协作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DE767-6719-4446-AF49-1D1E9471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3053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8B47"/>
                </a:solidFill>
              </a:defRPr>
            </a:pPr>
            <a:r>
              <a:rPr sz="1425" b="1">
                <a:solidFill>
                  <a:srgbClr val="B78B47"/>
                </a:solidFill>
              </a:rPr>
              <a:t>满血版架构设计 × 养老目标基金最小 Demo 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84B00-4E5A-4D4E-B0C1-029C13B3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5962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BD5"/>
                </a:solidFill>
              </a:defRPr>
            </a:pPr>
            <a:r>
              <a:rPr sz="1125" b="0">
                <a:solidFill>
                  <a:srgbClr val="BFCBD5"/>
                </a:solidFill>
              </a:rPr>
              <a:t>用户研究工作流答辩材料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EBC68-502B-4620-841E-713906E2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2038350"/>
            <a:ext cx="2762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研究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不是一次对话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而是一条证据链</a:t>
            </a:r>
          </a:p>
        </p:txBody>
      </p:sp>
    </p:spTree>
    <p:extLst>
      <p:ext uri="{BB962C8B-B14F-4D97-AF65-F5344CB8AC3E}">
        <p14:creationId xmlns:p14="http://schemas.microsoft.com/office/powerpoint/2010/main" val="528802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2">
            <a:extLst xmlns:a="http://schemas.openxmlformats.org/drawingml/2006/main">
              <a:ext uri="{FF2B5EF4-FFF2-40B4-BE49-F238E27FC236}">
                <a16:creationId xmlns:a16="http://schemas.microsoft.com/office/drawing/2014/main" id="{4319A6D7-398D-4B85-9E2A-D26DE9DC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结论总览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CEA4A63-FFAE-4823-813A-968BB214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这不是“自动写问卷”，而是一套可迁移的研究生产系统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F7B0D-CCF8-44C7-A5B6-D816D860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8F75B41-9789-4F03-8803-12D39E76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A833F-591E-46C1-BFE6-E58CE080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8B47"/>
                </a:solidFill>
              </a:defRPr>
            </a:pPr>
            <a:r>
              <a:rPr sz="1275" b="1">
                <a:solidFill>
                  <a:srgbClr val="B78B47"/>
                </a:solidFill>
              </a:rPr>
              <a:t>核心方法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E9CBD-6CB4-451C-A571-320DF229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924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A44"/>
                </a:solidFill>
              </a:defRPr>
            </a:pPr>
            <a:r>
              <a:rPr sz="2175" b="1">
                <a:solidFill>
                  <a:srgbClr val="132A44"/>
                </a:solidFill>
              </a:rPr>
              <a:t>用标准化产物串联专家，用人工 Gate 保留责任，</a:t>
            </a:r>
          </a:p>
          <a:p xmlns:a="http://schemas.openxmlformats.org/drawingml/2006/main">
            <a:pPr algn="l">
              <a:defRPr sz="2175" b="1">
                <a:solidFill>
                  <a:srgbClr val="132A44"/>
                </a:solidFill>
              </a:defRPr>
            </a:pPr>
            <a:r>
              <a:rPr sz="2175" b="1">
                <a:solidFill>
                  <a:srgbClr val="132A44"/>
                </a:solidFill>
              </a:rPr>
              <a:t>用真实研究验证从问题到报告的主链。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92123-08A8-4A9A-8830-DC46C9B1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0480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8D169-5A40-46B6-B90A-FD223BFF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2385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799E8-78CA-42AE-ACAD-AA42774E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3162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A44"/>
                </a:solidFill>
              </a:defRPr>
            </a:pPr>
            <a:r>
              <a:rPr sz="1350" b="1">
                <a:solidFill>
                  <a:srgbClr val="132A44"/>
                </a:solidFill>
              </a:rPr>
              <a:t>已经有证据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84167-30AE-4D1D-A8F8-AD35A647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341947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64B"/>
                </a:solidFill>
              </a:defRPr>
            </a:pPr>
            <a:r>
              <a:rPr sz="1200" b="0">
                <a:solidFill>
                  <a:srgbClr val="25364B"/>
                </a:solidFill>
              </a:rPr>
              <a:t>研究问题、35项问卷与数据契约、200份CSV、有效性处理、InsightPackage、展示报告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0210C-4A72-40C3-8704-29740690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9624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A72F3-8664-4264-884C-7D390EC4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1529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6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A98C0-EFC4-44B1-8B3F-F85F9B28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4076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A44"/>
                </a:solidFill>
              </a:defRPr>
            </a:pPr>
            <a:r>
              <a:rPr sz="1350" b="1">
                <a:solidFill>
                  <a:srgbClr val="132A44"/>
                </a:solidFill>
              </a:rPr>
              <a:t>已在限定场景跑通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D6B27-0D90-4051-AA77-1C258D79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433387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64B"/>
                </a:solidFill>
              </a:defRPr>
            </a:pPr>
            <a:r>
              <a:rPr sz="1200" b="0">
                <a:solidFill>
                  <a:srgbClr val="25364B"/>
                </a:solidFill>
              </a:rPr>
              <a:t>腾讯问卷发行、FOF事实复核、本地总控、独立Agent冒烟与定向回归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698A8-490E-45F4-BF3C-EBAFAB9D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8768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C94F9-850D-43C9-BE4C-F0A0A281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0673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812D7-398B-4FDE-8753-BE47E392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4991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A44"/>
                </a:solidFill>
              </a:defRPr>
            </a:pPr>
            <a:r>
              <a:rPr sz="1350" b="1">
                <a:solidFill>
                  <a:srgbClr val="132A44"/>
                </a:solidFill>
              </a:rPr>
              <a:t>目标态已定义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75E98-F5F5-448A-B7AE-2CA0DBD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524827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64B"/>
                </a:solidFill>
              </a:defRPr>
            </a:pPr>
            <a:r>
              <a:rPr sz="1200" b="0">
                <a:solidFill>
                  <a:srgbClr val="25364B"/>
                </a:solidFill>
              </a:rPr>
              <a:t>访谈/组合研究、全部39条独立Agent评测、生产身份权限、完整Gate 1—4新项目记录</a:t>
            </a:r>
          </a:p>
        </p:txBody>
      </p:sp>
    </p:spTree>
    <p:extLst>
      <p:ext uri="{BB962C8B-B14F-4D97-AF65-F5344CB8AC3E}">
        <p14:creationId xmlns:p14="http://schemas.microsoft.com/office/powerpoint/2010/main" val="1382745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3">
            <a:extLst xmlns:a="http://schemas.openxmlformats.org/drawingml/2006/main">
              <a:ext uri="{FF2B5EF4-FFF2-40B4-BE49-F238E27FC236}">
                <a16:creationId xmlns:a16="http://schemas.microsoft.com/office/drawing/2014/main" id="{F7410F98-E295-4A98-BE31-775E4250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目录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0B2524F-E92F-4D3D-80ED-87F83E87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四个问题构成这次答辩的阅读地图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436BB-45A3-4F92-9A1B-95D0ED30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1D7AB117-F4F4-4E35-9893-CBFC4171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26A32-45FD-4093-A0E7-D99845CD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657350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78B47"/>
                </a:solidFill>
              </a:defRPr>
            </a:pPr>
            <a:r>
              <a:rPr sz="3000" b="1">
                <a:solidFill>
                  <a:srgbClr val="B78B4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A443E-ED4E-452B-B282-578A77B8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1676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A44"/>
                </a:solidFill>
              </a:defRPr>
            </a:pPr>
            <a:r>
              <a:rPr sz="1800" b="1">
                <a:solidFill>
                  <a:srgbClr val="132A44"/>
                </a:solidFill>
              </a:rPr>
              <a:t>为什么要重构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77873-0EEE-4C4F-8379-D418AFFF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17049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7F"/>
                </a:solidFill>
              </a:defRPr>
            </a:pPr>
            <a:r>
              <a:rPr sz="1350" b="0">
                <a:solidFill>
                  <a:srgbClr val="64717F"/>
                </a:solidFill>
              </a:rPr>
              <a:t>传统研究流程的断点，以及本项目的设计原则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DC4C7-A975-4B9E-AE06-D3F1BEA3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23241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ED37D-FC44-4483-B3FD-FD3D6F91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724150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78B47"/>
                </a:solidFill>
              </a:defRPr>
            </a:pPr>
            <a:r>
              <a:rPr sz="3000" b="1">
                <a:solidFill>
                  <a:srgbClr val="B78B47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D5130-5813-470F-9E73-0B4A831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2743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A44"/>
                </a:solidFill>
              </a:defRPr>
            </a:pPr>
            <a:r>
              <a:rPr sz="1800" b="1">
                <a:solidFill>
                  <a:srgbClr val="132A44"/>
                </a:solidFill>
              </a:rPr>
              <a:t>系统如何运行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9FFCD-384D-4543-A9E3-F1985560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7717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7F"/>
                </a:solidFill>
              </a:defRPr>
            </a:pPr>
            <a:r>
              <a:rPr sz="1350" b="0">
                <a:solidFill>
                  <a:srgbClr val="64717F"/>
                </a:solidFill>
              </a:rPr>
              <a:t>四层架构、七位专家、Artifact 与 Gate 如何协作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2143C-0C37-44B3-A00D-18C702BF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33909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D460E-B3C7-4C37-BF87-CFF6E2BE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790950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56708"/>
                </a:solidFill>
              </a:defRPr>
            </a:pPr>
            <a:r>
              <a:rPr sz="3000" b="1">
                <a:solidFill>
                  <a:srgbClr val="D5670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8EB59-FF72-4CA6-AB53-790160BA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3810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A44"/>
                </a:solidFill>
              </a:defRPr>
            </a:pPr>
            <a:r>
              <a:rPr sz="1800" b="1">
                <a:solidFill>
                  <a:srgbClr val="132A44"/>
                </a:solidFill>
              </a:rPr>
              <a:t>Demo 证明了什么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86D1B-E2E1-471C-B12A-0A2D8228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8385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7F"/>
                </a:solidFill>
              </a:defRPr>
            </a:pPr>
            <a:r>
              <a:rPr sz="1350" b="0">
                <a:solidFill>
                  <a:srgbClr val="64717F"/>
                </a:solidFill>
              </a:rPr>
              <a:t>养老目标基金购买者研究如何从选题走到洞察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59091-3D6C-48D1-9DCA-96F90814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44577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00E5B-B1BA-4553-95D3-F823E44F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857750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78B47"/>
                </a:solidFill>
              </a:defRPr>
            </a:pPr>
            <a:r>
              <a:rPr sz="3000" b="1">
                <a:solidFill>
                  <a:srgbClr val="B78B47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0C45A-C2E6-4632-943E-A216883E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4876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A44"/>
                </a:solidFill>
              </a:defRPr>
            </a:pPr>
            <a:r>
              <a:rPr sz="1800" b="1">
                <a:solidFill>
                  <a:srgbClr val="132A44"/>
                </a:solidFill>
              </a:rPr>
              <a:t>边界与下一步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377CB-A8EB-4DBC-A5BB-008B0BCF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49053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7F"/>
                </a:solidFill>
              </a:defRPr>
            </a:pPr>
            <a:r>
              <a:rPr sz="1350" b="0">
                <a:solidFill>
                  <a:srgbClr val="64717F"/>
                </a:solidFill>
              </a:rPr>
              <a:t>已验证、Demo、目标态分别到哪里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49189-37CE-46C5-B361-F794AEE8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55245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2340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4">
            <a:extLst xmlns:a="http://schemas.openxmlformats.org/drawingml/2006/main">
              <a:ext uri="{FF2B5EF4-FFF2-40B4-BE49-F238E27FC236}">
                <a16:creationId xmlns:a16="http://schemas.microsoft.com/office/drawing/2014/main" id="{D2FD32C4-57E6-480C-B1A4-D6F84EDE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问题定义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BA6A162-FB1E-4C27-A9B3-C1D7E34A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真正的难点不是生成内容，而是防止研究链路断裂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3B312-C8ED-428C-BA4A-2B6A8E5D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0C83AAEA-6808-4A6F-8CAC-D413042F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5548C-2482-439C-8AE0-1E4FE5EE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638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8B47"/>
                </a:solidFill>
              </a:defRPr>
            </a:pPr>
            <a:r>
              <a:rPr sz="1350" b="1">
                <a:solidFill>
                  <a:srgbClr val="B78B4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9F076-ACA2-4F3B-B8EB-8A8AB3C8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1619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A44"/>
                </a:solidFill>
              </a:defRPr>
            </a:pPr>
            <a:r>
              <a:rPr sz="1575" b="1">
                <a:solidFill>
                  <a:srgbClr val="132A44"/>
                </a:solidFill>
              </a:rPr>
              <a:t>需求含糊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9BF80-3EB2-4290-9280-418B891D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1628775"/>
            <a:ext cx="803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业务问题直接变成题目，研究目标和假设未被定义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C190E-E25A-41F8-84D8-AC27B21F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171700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326DD-5DF1-48E8-884F-539E4CF8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41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8B47"/>
                </a:solidFill>
              </a:defRPr>
            </a:pPr>
            <a:r>
              <a:rPr sz="1350" b="1">
                <a:solidFill>
                  <a:srgbClr val="B78B47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93DAB-4926-4A5A-A337-DE2FC7AB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400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A44"/>
                </a:solidFill>
              </a:defRPr>
            </a:pPr>
            <a:r>
              <a:rPr sz="1575" b="1">
                <a:solidFill>
                  <a:srgbClr val="132A44"/>
                </a:solidFill>
              </a:rPr>
              <a:t>方法割裂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0CA5C-AF42-453D-869F-D62BE1F4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409825"/>
            <a:ext cx="803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问卷、访谈与分析各自推进，前后口径不一致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34F6C-673F-4B2F-AB14-0A41EE10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952750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151AD-E2B7-4692-B61D-9FEC465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200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8B47"/>
                </a:solidFill>
              </a:defRPr>
            </a:pPr>
            <a:r>
              <a:rPr sz="1350" b="1">
                <a:solidFill>
                  <a:srgbClr val="B78B47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F79D0-6E5C-4E1B-8435-B3D53EB3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3181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A44"/>
                </a:solidFill>
              </a:defRPr>
            </a:pPr>
            <a:r>
              <a:rPr sz="1575" b="1">
                <a:solidFill>
                  <a:srgbClr val="132A44"/>
                </a:solidFill>
              </a:rPr>
              <a:t>数据后置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1D36C-84D4-4BD5-A83E-29A15D6A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3190875"/>
            <a:ext cx="803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题目写完才考虑编码、分群与有效性，回传后被动补救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99EE0-21A0-4841-868B-B8B295F3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3733800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C9729-52FC-4BA7-B81C-7763226F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981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8B47"/>
                </a:solidFill>
              </a:defRPr>
            </a:pPr>
            <a:r>
              <a:rPr sz="1350" b="1">
                <a:solidFill>
                  <a:srgbClr val="B78B47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13A89-D606-4C3F-94DB-CD954E7F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3962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A44"/>
                </a:solidFill>
              </a:defRPr>
            </a:pPr>
            <a:r>
              <a:rPr sz="1575" b="1">
                <a:solidFill>
                  <a:srgbClr val="132A44"/>
                </a:solidFill>
              </a:rPr>
              <a:t>证据跳跃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4892C-06AE-4956-9C84-AE97F4A4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3971925"/>
            <a:ext cx="803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结果比例直接变成建议，缺少发现—证据—洞察链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2244A-68AB-482C-9DEA-60569511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514850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FE735-BB58-4156-9721-E7EA5A7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762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8B47"/>
                </a:solidFill>
              </a:defRPr>
            </a:pPr>
            <a:r>
              <a:rPr sz="1350" b="1">
                <a:solidFill>
                  <a:srgbClr val="B78B47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5DAC69-7A4B-4719-904A-97DB97F8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743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A44"/>
                </a:solidFill>
              </a:defRPr>
            </a:pPr>
            <a:r>
              <a:rPr sz="1575" b="1">
                <a:solidFill>
                  <a:srgbClr val="132A44"/>
                </a:solidFill>
              </a:rPr>
              <a:t>版本失控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BD54D-AE1C-454B-BF62-73090356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4752975"/>
            <a:ext cx="803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多轮修改无法判断哪一版被执行、批准或应当失效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EDBEA-E561-47B7-AAF3-8B8DABBB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5295900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FFC79-6CD2-4FCD-841C-D9AC4090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7340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0DA031-04EC-4D57-9C41-1B16D29B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5857875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设计问题：AI 如何进入研究，同时不牺牲专业判断、证据边界和人工责任？</a:t>
            </a:r>
          </a:p>
        </p:txBody>
      </p:sp>
    </p:spTree>
    <p:extLst>
      <p:ext uri="{BB962C8B-B14F-4D97-AF65-F5344CB8AC3E}">
        <p14:creationId xmlns:p14="http://schemas.microsoft.com/office/powerpoint/2010/main" val="1881932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5">
            <a:extLst xmlns:a="http://schemas.openxmlformats.org/drawingml/2006/main">
              <a:ext uri="{FF2B5EF4-FFF2-40B4-BE49-F238E27FC236}">
                <a16:creationId xmlns:a16="http://schemas.microsoft.com/office/drawing/2014/main" id="{45DF0B19-918D-44D0-86B1-0E27EB41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范围纪律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AF77A13-5DCB-4DA4-980D-8B36E80A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“满血版”负责完整设计，“最小 Demo”负责真实证明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94880-4747-49D1-B340-FFD32008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F9C376F-C60A-4370-931E-461EEE95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1FD0A-EAD1-4504-BB9A-5F53CAD8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43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同一张蓝图，两种交付尺度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0092D-9242-4F57-840A-9FE31F6C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095500"/>
            <a:ext cx="4953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3F12A-9284-4550-8A32-479511B4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381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满血版目标架构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639DD-ED78-491A-A273-00660ED8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F0089-90D0-4C03-88B6-69FAFAEC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9718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覆盖问卷、访谈、定性、定量与组合研究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6F1F2-D1AB-4624-B3D2-33A643E1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4C624-29EF-4C7E-9FFA-C954595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52425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六位专家 + 一位总控，产物驱动协作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0DCAE-B895-49E9-949B-D8AF2A94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9807A-F3B5-4027-8EA6-22FF11F8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0767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四个 Gate、版本失效、权限与审计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AF9B0-1224-44E0-9630-C2AE3ED3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9F4D6-D900-4095-9F5A-A90BDE63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62915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工具可替换，核心研究契约不变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28B8A-D437-411D-A0D2-0A0C751C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095500"/>
            <a:ext cx="5429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9050">
            <a:solidFill>
              <a:srgbClr val="E8E2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28002-7648-403D-A60D-511B9D12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381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A44"/>
                </a:solidFill>
              </a:defRPr>
            </a:pPr>
            <a:r>
              <a:rPr sz="2025" b="1">
                <a:solidFill>
                  <a:srgbClr val="132A44"/>
                </a:solidFill>
              </a:rPr>
              <a:t>最小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EDF1E-4172-48BB-BE18-1639DD40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61BE5-8800-4D67-9759-AB437F42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9718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64B"/>
                </a:solidFill>
              </a:defRPr>
            </a:pPr>
            <a:r>
              <a:rPr sz="1350" b="0">
                <a:solidFill>
                  <a:srgbClr val="25364B"/>
                </a:solidFill>
              </a:rPr>
              <a:t>聚焦一条问卷主链，避免把 Demo 做成平台工程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C062A-F2E2-43A6-BEAD-376069FE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838D6-0A69-4E94-A569-F844965D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5242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64B"/>
                </a:solidFill>
              </a:defRPr>
            </a:pPr>
            <a:r>
              <a:rPr sz="1350" b="0">
                <a:solidFill>
                  <a:srgbClr val="25364B"/>
                </a:solidFill>
              </a:rPr>
              <a:t>真实贯通：选题—问卷—发行—CSV—洞察—报告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7328A-972F-4BC1-9F4C-37C24207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9A218-80A6-45A6-8833-5914CECA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0767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64B"/>
                </a:solidFill>
              </a:defRPr>
            </a:pPr>
            <a:r>
              <a:rPr sz="1350" b="0">
                <a:solidFill>
                  <a:srgbClr val="25364B"/>
                </a:solidFill>
              </a:rPr>
              <a:t>缺失的 Gate 不补造，目标能力不冒充已上线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87751-D2E9-494F-8B93-0CC7D3EE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3F9CC-B68B-402F-A207-03F28C9D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6291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64B"/>
                </a:solidFill>
              </a:defRPr>
            </a:pPr>
            <a:r>
              <a:rPr sz="1350" b="0">
                <a:solidFill>
                  <a:srgbClr val="25364B"/>
                </a:solidFill>
              </a:rPr>
              <a:t>用真实问题反哺满血版规则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A8E420-82DB-4DCF-9EB9-0AC4AD4E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245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668B"/>
                </a:solidFill>
              </a:defRPr>
            </a:pPr>
            <a:r>
              <a:rPr sz="1425" b="1">
                <a:solidFill>
                  <a:srgbClr val="2E668B"/>
                </a:solidFill>
              </a:rPr>
              <a:t>这条范围纪律是可迁移性的前提：架构不依赖一次性案例，案例也不替架构“证明过头”。</a:t>
            </a:r>
          </a:p>
        </p:txBody>
      </p:sp>
    </p:spTree>
    <p:extLst>
      <p:ext uri="{BB962C8B-B14F-4D97-AF65-F5344CB8AC3E}">
        <p14:creationId xmlns:p14="http://schemas.microsoft.com/office/powerpoint/2010/main" val="137261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kicker-6">
            <a:extLst xmlns:a="http://schemas.openxmlformats.org/drawingml/2006/main">
              <a:ext uri="{FF2B5EF4-FFF2-40B4-BE49-F238E27FC236}">
                <a16:creationId xmlns:a16="http://schemas.microsoft.com/office/drawing/2014/main" id="{64AB7787-31CD-4092-80B2-A6884E4C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端到端流程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BCA486F-1C30-45EA-BAB7-5CFD6351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完整流程用八个阶段把研究问题推进为可复用资产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94A2D-9167-4958-9E80-AE80D78C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4092CE98-20B2-43A7-8FB0-FC8ADC4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B6246-11E2-4248-8802-5E8F2B2F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7640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8E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1B85E-D0FD-487C-90CE-3DAA58D6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838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8B47"/>
                </a:solidFill>
              </a:defRPr>
            </a:pPr>
            <a:r>
              <a:rPr sz="1200" b="1">
                <a:solidFill>
                  <a:srgbClr val="B78B4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A8233-9418-4B95-84F9-D3CCF976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1907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接收需求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92A5D-F85A-44D0-8D12-5817EE05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098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新产品 / 认知 / 行为 / 体验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EDB0F-18E3-4A1F-8BF5-293F1FB1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150" y="222885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4946C-4ED0-487B-B16A-51BAEFCB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167640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8E2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B4623-B253-4739-A36F-2D03432A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1838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8B47"/>
                </a:solidFill>
              </a:defRPr>
            </a:pPr>
            <a:r>
              <a:rPr sz="1200" b="1">
                <a:solidFill>
                  <a:srgbClr val="B78B47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05C35-63E3-4050-9D20-09B5197D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21907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理解问题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14135-5911-4190-9D1C-FCBA810E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26098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目标、人群、假设、决策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50FD5-7BE5-425E-88B3-8F52B2DD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222885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FC84F-330C-4FC8-836F-BBD62153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167640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8E2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BBB2C-C075-4891-BB84-E38C1C82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1838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8B47"/>
                </a:solidFill>
              </a:defRPr>
            </a:pPr>
            <a:r>
              <a:rPr sz="1200" b="1">
                <a:solidFill>
                  <a:srgbClr val="B78B47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18020-A6D3-4692-A56A-4C06A2BB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21907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设计方案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9A080-67CF-4EC6-AA9D-122D4590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26098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方法、样本、分群、分析计划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8205B-EAA7-44E0-9593-5E1CC657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222885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21CA0-70F9-4320-87AB-855A9FCD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167640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8E2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28B7F-4138-4CF9-A250-70DBB845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1838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8B47"/>
                </a:solidFill>
              </a:defRPr>
            </a:pPr>
            <a:r>
              <a:rPr sz="1200" b="1">
                <a:solidFill>
                  <a:srgbClr val="B78B47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6D865-C116-481F-A2D2-8333C6E7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21907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设计工具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E95DDC-D117-49D6-9DCD-78FE72A9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26098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问卷 / 访谈 / 测试材料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66E87-7780-4C7E-9600-A24C47DE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82905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0"/>
          </a:solidFill>
          <a:ln xmlns:a="http://schemas.openxmlformats.org/drawingml/2006/main" w="9525">
            <a:solidFill>
              <a:srgbClr val="DDE9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1FE3A0-6AB4-4B62-AFD4-71CBCE13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9909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8B47"/>
                </a:solidFill>
              </a:defRPr>
            </a:pPr>
            <a:r>
              <a:rPr sz="1200" b="1">
                <a:solidFill>
                  <a:srgbClr val="B78B47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FE84DA-A864-4F34-89C8-F66CB169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43434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执行调研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C6AA04-48DF-411B-8473-1721F228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47625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发行、记录、数据回传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B5D285-EDFB-4646-956B-8968A01F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4381500"/>
            <a:ext cx="22860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664A4-E32D-4D0E-A205-1C0DED01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82905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0"/>
          </a:solidFill>
          <a:ln xmlns:a="http://schemas.openxmlformats.org/drawingml/2006/main" w="9525">
            <a:solidFill>
              <a:srgbClr val="DDE9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5E90B1-DA6B-4206-8059-4A295F1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39909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8B47"/>
                </a:solidFill>
              </a:defRPr>
            </a:pPr>
            <a:r>
              <a:rPr sz="1200" b="1">
                <a:solidFill>
                  <a:srgbClr val="B78B47"/>
                </a:solidFill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41FEEE-D0EF-4143-A63F-2EE4869C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43434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分析洞察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C6618-0923-4554-8CF3-70361463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47625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质量、证据、反例、建议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AC68D1-0C2D-4D75-9CBF-87B0A961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4381500"/>
            <a:ext cx="22860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620DE5-024C-4C7B-98C2-CB1E7E0C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382905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0"/>
          </a:solidFill>
          <a:ln xmlns:a="http://schemas.openxmlformats.org/drawingml/2006/main" w="9525">
            <a:solidFill>
              <a:srgbClr val="DDE9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7E4944-59C1-4AA7-9378-A875CF9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39909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8B47"/>
                </a:solidFill>
              </a:defRPr>
            </a:pPr>
            <a:r>
              <a:rPr sz="1200" b="1">
                <a:solidFill>
                  <a:srgbClr val="B78B47"/>
                </a:solidFill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E22B45-A346-484A-88D5-9B83EFA4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43434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生成报告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C1D13D-B5EF-4F9F-970F-BB9D701C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47625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总览、分析、图表、边界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FDB02A-26EF-4F36-8B5B-78556B4A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381500"/>
            <a:ext cx="22860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3B608A-B451-40FE-9B17-DE11AD6C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82905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0"/>
          </a:solidFill>
          <a:ln xmlns:a="http://schemas.openxmlformats.org/drawingml/2006/main" w="9525">
            <a:solidFill>
              <a:srgbClr val="DDE9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A6DFD7-C651-402B-9878-6244CFEF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9909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8B47"/>
                </a:solidFill>
              </a:defRPr>
            </a:pPr>
            <a:r>
              <a:rPr sz="1200" b="1">
                <a:solidFill>
                  <a:srgbClr val="B78B47"/>
                </a:solidFill>
              </a:rPr>
              <a:t>08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6206FC-5F4A-4640-AA62-DFE17D2F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3434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沉淀资产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D7E86E-E780-474B-A8D2-46567FB1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7625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任务、工具、洞察、画像、版本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2B647B-69F6-46A7-863E-DB715E9F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0" y="3238500"/>
            <a:ext cx="1714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0119E4-36A9-4C28-B6F9-6123C86F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962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68B"/>
                </a:solidFill>
              </a:defRPr>
            </a:pPr>
            <a:r>
              <a:rPr sz="1350" b="1">
                <a:solidFill>
                  <a:srgbClr val="2E668B"/>
                </a:solidFill>
              </a:rPr>
              <a:t>每一阶段都交付正式产物；下一位专家读取产物，而不是猜测上一轮聊天。</a:t>
            </a:r>
          </a:p>
        </p:txBody>
      </p:sp>
    </p:spTree>
    <p:extLst>
      <p:ext uri="{BB962C8B-B14F-4D97-AF65-F5344CB8AC3E}">
        <p14:creationId xmlns:p14="http://schemas.microsoft.com/office/powerpoint/2010/main" val="943385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7">
            <a:extLst xmlns:a="http://schemas.openxmlformats.org/drawingml/2006/main">
              <a:ext uri="{FF2B5EF4-FFF2-40B4-BE49-F238E27FC236}">
                <a16:creationId xmlns:a16="http://schemas.microsoft.com/office/drawing/2014/main" id="{44248E19-3CBE-479C-8CC9-9AA68944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总体架构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2DD9B1C-54E9-4F51-A74E-4E74BBED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四层架构把研究规则、产物、运行与外部工具解耦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CC60B-359F-4EE9-AC6B-1693A4D3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25DC870E-FF96-4E66-8563-D5ECB00E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262AB-3049-4B4A-A81E-0FAA5693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8115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CD57C-CF6B-45AD-991E-D735D412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7526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01 规范层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CDB97-73CD-49A6-BCE9-D11032D3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762125"/>
            <a:ext cx="802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术语、证据、版本、数据有效性、金融事实、Gate、权限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27FE8-E1E4-4818-9FCC-13A0ACDE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62890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26F2F-39A8-4672-9FD4-34534D65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8003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02 产物层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0D0E0-29DA-4231-83A2-F7D71197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809875"/>
            <a:ext cx="802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ResearchBrief · ResearchPlan · InstrumentSpec · FieldworkPackage · InsightPackage · ResearchReport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AEB50-F61C-4E30-8053-B8477128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7665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65464-0B47-487F-A40B-07D0D157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8481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03 运行层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70738-8F4E-4AF6-A60F-105E632C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857625"/>
            <a:ext cx="802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任务拆解、Agent 路由、状态机、退回、等待、失效传播、人工升级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5FE0E-B076-4473-8C2E-6FD8EFD7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72440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A89F2-A5DB-49AB-A405-3985E77F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8958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04 能力与工具层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514B8-1BB6-488D-B3D2-F33634AD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905375"/>
            <a:ext cx="802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A44"/>
                </a:solidFill>
              </a:defRPr>
            </a:pPr>
            <a:r>
              <a:rPr sz="1275" b="0">
                <a:solidFill>
                  <a:srgbClr val="132A44"/>
                </a:solidFill>
              </a:rPr>
              <a:t>专家提示词、腾讯问卷、CSV/Excel、Word/PDF/PPT、IMA 开放接口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DCC6A-F87F-4F59-AFF6-4533109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9436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668B"/>
                </a:solidFill>
              </a:defRPr>
            </a:pPr>
            <a:r>
              <a:rPr sz="1425" b="1">
                <a:solidFill>
                  <a:srgbClr val="2E668B"/>
                </a:solidFill>
              </a:rPr>
              <a:t>迁移时可以替换工具层；只要 Artifact 契约和 Gate 语义不变，主流程仍然成立。</a:t>
            </a:r>
          </a:p>
        </p:txBody>
      </p:sp>
    </p:spTree>
    <p:extLst>
      <p:ext uri="{BB962C8B-B14F-4D97-AF65-F5344CB8AC3E}">
        <p14:creationId xmlns:p14="http://schemas.microsoft.com/office/powerpoint/2010/main" val="738918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8">
            <a:extLst xmlns:a="http://schemas.openxmlformats.org/drawingml/2006/main">
              <a:ext uri="{FF2B5EF4-FFF2-40B4-BE49-F238E27FC236}">
                <a16:creationId xmlns:a16="http://schemas.microsoft.com/office/drawing/2014/main" id="{81C77127-C180-458F-BDE6-79C4307B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专家能力体系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E73AF14D-5476-4707-9088-BDA05E6E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七个角色按产物分工，而不是按“谁更聪明”分工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1A142-23E7-4B5F-952A-EB37B3B6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5078602F-7CD6-4293-90CB-8B16A876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D2D6F-22C5-4E0C-BE21-17170DB9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430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A349A-9B20-430A-8979-647362DB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69545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CTRL-01 研究总控：读状态、派任务、管版本、守 Gate、处理异常；不替专家写内容，也不替人审批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CA482-14A7-4B66-BBBC-485AF76E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5146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B47"/>
                </a:solidFill>
              </a:defRPr>
            </a:pPr>
            <a:r>
              <a:rPr sz="1125" b="1">
                <a:solidFill>
                  <a:srgbClr val="B78B47"/>
                </a:solidFill>
              </a:rPr>
              <a:t>CAP-01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E43AB-9E9F-4F4A-8BC7-D1A28B04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838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研究问题理解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BE567-CE5E-4D1B-B30B-E6E157A3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57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把业务问题转为可研究命题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1C70E-9EE5-4533-9612-5260463A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7909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365E7-201C-4D51-B21E-AF3903AC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5146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B47"/>
                </a:solidFill>
              </a:defRPr>
            </a:pPr>
            <a:r>
              <a:rPr sz="1125" b="1">
                <a:solidFill>
                  <a:srgbClr val="B78B47"/>
                </a:solidFill>
              </a:rPr>
              <a:t>CAP-02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8E1B6-7B7D-4A2C-BDE1-5D9DC291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838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研究方案设计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B5D87-38FC-420E-A2FA-FB97527C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257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选择方法并定义样本与分析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8935F-A80A-411F-AAD9-45A61A56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7909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88835-81DF-4D42-A5B4-82A14D3A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5146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B47"/>
                </a:solidFill>
              </a:defRPr>
            </a:pPr>
            <a:r>
              <a:rPr sz="1125" b="1">
                <a:solidFill>
                  <a:srgbClr val="B78B47"/>
                </a:solidFill>
              </a:rPr>
              <a:t>CAP-03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3DE8D-6E3D-4EDF-8B9E-A093CAD5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838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研究工具设计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B9EC1-FCDC-4737-B7A5-CA91B895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3257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问卷、访谈与数据契约同版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4A7C8-CB74-4B87-A442-97D35158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37909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08632-C0E7-49F5-A597-0060A60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14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B47"/>
                </a:solidFill>
              </a:defRPr>
            </a:pPr>
            <a:r>
              <a:rPr sz="1125" b="1">
                <a:solidFill>
                  <a:srgbClr val="B78B47"/>
                </a:solidFill>
              </a:rPr>
              <a:t>CAP-04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752CE-D28F-44D7-A835-A478FBBA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438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研究质量审核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75788-F32A-4CC1-887A-640BB46D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857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事实、方法、证据与边界审查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69B3F8-563A-45A1-8414-04CA0EE5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3911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72650-2BEC-4219-9A14-A7C7168E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4114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B47"/>
                </a:solidFill>
              </a:defRPr>
            </a:pPr>
            <a:r>
              <a:rPr sz="1125" b="1">
                <a:solidFill>
                  <a:srgbClr val="B78B47"/>
                </a:solidFill>
              </a:rPr>
              <a:t>CAP-05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86C1D0-FD65-46E2-8E3A-0EA9DE6C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4438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证据与洞察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DC197F-472D-4183-B018-BEA1CB1F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4857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发现—证据—洞察—建议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3D104-E438-40DA-B291-1A1F68B8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53911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03B206-1B52-4EAF-8A75-E2E96C87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114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B47"/>
                </a:solidFill>
              </a:defRPr>
            </a:pPr>
            <a:r>
              <a:rPr sz="1125" b="1">
                <a:solidFill>
                  <a:srgbClr val="B78B47"/>
                </a:solidFill>
              </a:rPr>
              <a:t>CAP-06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73961-A94A-4109-9882-D465B4D3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438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研究报告表达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6A7C0B-91A0-4C98-82EC-FCF3FF35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857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把已批洞察转为受众语言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BBA37D-D060-47DC-A3AB-8BB0D500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53911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43547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9">
            <a:extLst xmlns:a="http://schemas.openxmlformats.org/drawingml/2006/main">
              <a:ext uri="{FF2B5EF4-FFF2-40B4-BE49-F238E27FC236}">
                <a16:creationId xmlns:a16="http://schemas.microsoft.com/office/drawing/2014/main" id="{5910C3BE-86CE-407A-8FD0-DF5238AA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提示词设计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C9856E3-C906-41D4-951E-9EB372DC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专家提示词被设计成“可执行合同”，而不是人设说明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52249-59BB-4793-8A19-31CD4622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3A45961E-C44C-419C-9CF2-36A784F6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5A2B1-D5B4-4C89-83DD-FFF62BB0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62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每位专家都必须回答五个问题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46658-D60E-4245-A137-FAE4CFCC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105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5ED25-181D-466F-BA91-4A4B1DA2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1431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29D43-816A-4268-8A04-7763D2C6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076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A44"/>
                </a:solidFill>
              </a:defRPr>
            </a:pPr>
            <a:r>
              <a:rPr sz="1500" b="1">
                <a:solidFill>
                  <a:srgbClr val="132A44"/>
                </a:solidFill>
              </a:rPr>
              <a:t>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568CE-29E2-4817-A8CD-C4CE624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20859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你只负责哪一类判断？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BCDE7-0C37-44F4-B785-07D2A9AD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790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AFED1-927C-4E41-BC66-A2496A3C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828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436E0-E41C-4CD0-B9CA-7E67A710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7622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A44"/>
                </a:solidFill>
              </a:defRPr>
            </a:pPr>
            <a:r>
              <a:rPr sz="1500" b="1">
                <a:solidFill>
                  <a:srgbClr val="132A44"/>
                </a:solidFill>
              </a:rPr>
              <a:t>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D75BF-0DD5-4F3E-9EDC-2891004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27717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缺少哪些上游产物就不能开始？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30E91-F373-4F98-82A4-A124BE44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2B67A-4CCE-4BE3-88C2-7498C0C4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514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92E10-FBEE-4C75-B011-D098414D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4480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A44"/>
                </a:solidFill>
              </a:defRPr>
            </a:pPr>
            <a:r>
              <a:rPr sz="1500" b="1">
                <a:solidFill>
                  <a:srgbClr val="132A44"/>
                </a:solidFill>
              </a:rPr>
              <a:t>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38635-6E9C-41EE-AFBD-B60AB415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34575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哪些事情禁止推断、替代或批准？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A6D5B-DB50-467A-BD37-AC9D5305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162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2533B-DE33-4C36-86EC-4C49F31F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2005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3DB73-344C-4C70-B346-E5B8F249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1338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A44"/>
                </a:solidFill>
              </a:defRPr>
            </a:pPr>
            <a:r>
              <a:rPr sz="1500" b="1">
                <a:solidFill>
                  <a:srgbClr val="132A44"/>
                </a:solidFill>
              </a:rPr>
              <a:t>产物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0886A-4957-4901-95D9-3CBBF5B2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41433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必须生成哪个 Schema 对应的 Artifact？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48E87-42CB-4423-B643-38865578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84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6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96056-7BD0-4298-9174-8D59A029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886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7DEB6-FC57-4DDC-A46F-FED4CEDC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8196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A44"/>
                </a:solidFill>
              </a:defRPr>
            </a:pPr>
            <a:r>
              <a:rPr sz="1500" b="1">
                <a:solidFill>
                  <a:srgbClr val="132A44"/>
                </a:solidFill>
              </a:rPr>
              <a:t>交接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199DC-2542-4429-B99F-C1679166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48291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下一位专家是谁，为什么？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FBFAF8-7878-4EBC-98B4-FCBD19B5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1790700"/>
            <a:ext cx="4953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343C2-DC14-4D07-9529-C84F63D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78B47"/>
                </a:solidFill>
              </a:defRPr>
            </a:pPr>
            <a:r>
              <a:rPr sz="1725" b="1">
                <a:solidFill>
                  <a:srgbClr val="B78B47"/>
                </a:solidFill>
              </a:rPr>
              <a:t>统一交接尾注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62AC30-021B-4709-B08B-9622203B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609850"/>
            <a:ext cx="4191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状态：COMPLETED / WAITING_INPUT / ESCALATED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核心产物：ArtifactID@version /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下一路由：CAP-xx / HUMAN-xx /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原因：一句话说明完成、等待或升级的依据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D6FD1-647A-4C47-80FA-8CB5EB2E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54673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668B"/>
                </a:solidFill>
              </a:defRPr>
            </a:pPr>
            <a:r>
              <a:rPr sz="1275" b="1">
                <a:solidFill>
                  <a:srgbClr val="2E668B"/>
                </a:solidFill>
              </a:rPr>
              <a:t>这四行让总控能够机器路由，也让人类一眼看清“做了什么、没做什么”。</a:t>
            </a:r>
          </a:p>
        </p:txBody>
      </p:sp>
    </p:spTree>
    <p:extLst>
      <p:ext uri="{BB962C8B-B14F-4D97-AF65-F5344CB8AC3E}">
        <p14:creationId xmlns:p14="http://schemas.microsoft.com/office/powerpoint/2010/main" val="11320541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-10">
            <a:extLst xmlns:a="http://schemas.openxmlformats.org/drawingml/2006/main">
              <a:ext uri="{FF2B5EF4-FFF2-40B4-BE49-F238E27FC236}">
                <a16:creationId xmlns:a16="http://schemas.microsoft.com/office/drawing/2014/main" id="{B5C323E9-4EE5-4076-BF0F-5E7E054A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产物与治理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C85829D-0B68-4C65-A917-74AA4A00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Artifact 负责传递事实，Gate 负责承担决定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FB942-68B1-4BB5-99EC-76FD9A46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AF092875-550E-4632-8FD2-39BC3EC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54990-63EF-4D53-A3A0-14B7192F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324100"/>
            <a:ext cx="1676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9050">
            <a:solidFill>
              <a:srgbClr val="E8E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F2FC0-F6BD-42A3-A1C2-0382B09B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5527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A44"/>
                </a:solidFill>
              </a:defRPr>
            </a:pPr>
            <a:r>
              <a:rPr sz="1275" b="1">
                <a:solidFill>
                  <a:srgbClr val="132A44"/>
                </a:solidFill>
              </a:rPr>
              <a:t>ResearchBrief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55A0A-E179-4E6D-A11C-CBDE5974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9908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研究什么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134CA-7EC3-45EB-BAB8-242CAA60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2324100"/>
            <a:ext cx="1676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9050">
            <a:solidFill>
              <a:srgbClr val="E8E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DC908-433E-4D00-94C3-A6918453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25527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A44"/>
                </a:solidFill>
              </a:defRPr>
            </a:pPr>
            <a:r>
              <a:rPr sz="1275" b="1">
                <a:solidFill>
                  <a:srgbClr val="132A44"/>
                </a:solidFill>
              </a:rPr>
              <a:t>Plan + Instrument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43099-35E0-4791-9690-2EF47F82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29908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怎么研究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EAA5C-3468-48CD-8C84-334D952B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324100"/>
            <a:ext cx="1676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9050">
            <a:solidFill>
              <a:srgbClr val="E8E2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00538-B6F6-4D4D-B67D-46A5507F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25527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A44"/>
                </a:solidFill>
              </a:defRPr>
            </a:pPr>
            <a:r>
              <a:rPr sz="1275" b="1">
                <a:solidFill>
                  <a:srgbClr val="132A44"/>
                </a:solidFill>
              </a:rPr>
              <a:t>FieldworkPackage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EFF16-7687-42EA-BCAD-01025A25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29908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收到了什么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24E0B-FE22-47C2-92F8-C9638E47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2324100"/>
            <a:ext cx="1676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9050">
            <a:solidFill>
              <a:srgbClr val="E8E2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D66A7-B661-4CBA-A919-982607B3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25527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A44"/>
                </a:solidFill>
              </a:defRPr>
            </a:pPr>
            <a:r>
              <a:rPr sz="1275" b="1">
                <a:solidFill>
                  <a:srgbClr val="132A44"/>
                </a:solidFill>
              </a:rPr>
              <a:t>InsightPackage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12F64-B15E-457B-8B6C-DDAAA55B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29908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证据说明什么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67BEA-9653-4292-B860-7D419137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2324100"/>
            <a:ext cx="1676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CF"/>
          </a:solidFill>
          <a:ln xmlns:a="http://schemas.openxmlformats.org/drawingml/2006/main" w="19050">
            <a:solidFill>
              <a:srgbClr val="B78B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6BC54-1839-4D01-AF1A-CD13763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5527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A44"/>
                </a:solidFill>
              </a:defRPr>
            </a:pPr>
            <a:r>
              <a:rPr sz="1275" b="1">
                <a:solidFill>
                  <a:srgbClr val="132A44"/>
                </a:solidFill>
              </a:rPr>
              <a:t>ResearchReport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C669F-4067-4377-9526-50D93E35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9908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面向受众表达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E860E-662B-4CFB-889D-7AD3CAD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2647950"/>
            <a:ext cx="381000" cy="381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34CFF-1B9A-4CBD-87E8-3CF807C1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175" y="2752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F6A98-540B-4A5C-8726-F99B89C6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2647950"/>
            <a:ext cx="381000" cy="381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D449E-74EE-45E5-8783-D35162FE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2752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6D5C3A-8496-443B-B27A-6F9DD4B6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2647950"/>
            <a:ext cx="381000" cy="381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B1380-639D-47E2-9753-BE0A5A24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752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068EB-E211-45A3-AC26-75EFCDA2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2647950"/>
            <a:ext cx="381000" cy="381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3E5B7-B00A-436F-BA6A-1019CBED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1775" y="2752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4BF03C-4278-410E-A0B3-EFA35B36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2714625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FDCAA0-A9F3-40A6-AF00-81E341D3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0576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8B47"/>
                </a:solidFill>
              </a:defRPr>
            </a:pPr>
            <a:r>
              <a:rPr sz="1275" b="1">
                <a:solidFill>
                  <a:srgbClr val="B78B47"/>
                </a:solidFill>
              </a:rPr>
              <a:t>Gate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DA7ED6-FB90-4008-B8C6-88AF51C9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381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64B"/>
                </a:solidFill>
              </a:defRPr>
            </a:pPr>
            <a:r>
              <a:rPr sz="1200" b="0">
                <a:solidFill>
                  <a:srgbClr val="25364B"/>
                </a:solidFill>
              </a:rPr>
              <a:t>课题值得继续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5E6D77-CDB2-4DCC-9E32-140EA7B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40576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8B47"/>
                </a:solidFill>
              </a:defRPr>
            </a:pPr>
            <a:r>
              <a:rPr sz="1275" b="1">
                <a:solidFill>
                  <a:srgbClr val="B78B47"/>
                </a:solidFill>
              </a:rPr>
              <a:t>Gate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04F096-C203-49D3-9C70-13E30FC9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4381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64B"/>
                </a:solidFill>
              </a:defRPr>
            </a:pPr>
            <a:r>
              <a:rPr sz="1200" b="0">
                <a:solidFill>
                  <a:srgbClr val="25364B"/>
                </a:solidFill>
              </a:rPr>
              <a:t>可以接触真实参与者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EF06A6-6157-47B7-8150-78732282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0576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8B47"/>
                </a:solidFill>
              </a:defRPr>
            </a:pPr>
            <a:r>
              <a:rPr sz="1275" b="1">
                <a:solidFill>
                  <a:srgbClr val="B78B47"/>
                </a:solidFill>
              </a:rPr>
              <a:t>Gate 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C3B8A5-8150-43BD-BBCB-4E2773E7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381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64B"/>
                </a:solidFill>
              </a:defRPr>
            </a:pPr>
            <a:r>
              <a:rPr sz="1200" b="0">
                <a:solidFill>
                  <a:srgbClr val="25364B"/>
                </a:solidFill>
              </a:rPr>
              <a:t>洞察被证据支持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9CF937-0A68-4941-9618-08DFEFBD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40576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8B47"/>
                </a:solidFill>
              </a:defRPr>
            </a:pPr>
            <a:r>
              <a:rPr sz="1275" b="1">
                <a:solidFill>
                  <a:srgbClr val="B78B47"/>
                </a:solidFill>
              </a:rPr>
              <a:t>Gate 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D97806-0E6E-4A3C-A583-87CAF23F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4381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64B"/>
                </a:solidFill>
              </a:defRPr>
            </a:pPr>
            <a:r>
              <a:rPr sz="1200" b="0">
                <a:solidFill>
                  <a:srgbClr val="25364B"/>
                </a:solidFill>
              </a:rPr>
              <a:t>报告可按范围发布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4E3D4B-E793-4130-9039-8654D66B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2959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4188B7-2693-4927-BDE3-43F3C06E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5476875"/>
            <a:ext cx="1040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4D4D"/>
                </a:solidFill>
              </a:defRPr>
            </a:pPr>
            <a:r>
              <a:rPr sz="1350" b="1">
                <a:solidFill>
                  <a:srgbClr val="A94D4D"/>
                </a:solidFill>
              </a:rPr>
              <a:t>AI 可以预审和提示风险，但不能成为 Gate 审批人；“Review PASS”也不等于业务、合规或管理者已批准。</a:t>
            </a:r>
          </a:p>
        </p:txBody>
      </p:sp>
    </p:spTree>
    <p:extLst>
      <p:ext uri="{BB962C8B-B14F-4D97-AF65-F5344CB8AC3E}">
        <p14:creationId xmlns:p14="http://schemas.microsoft.com/office/powerpoint/2010/main" val="14724160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-11">
            <a:extLst xmlns:a="http://schemas.openxmlformats.org/drawingml/2006/main">
              <a:ext uri="{FF2B5EF4-FFF2-40B4-BE49-F238E27FC236}">
                <a16:creationId xmlns:a16="http://schemas.microsoft.com/office/drawing/2014/main" id="{906D1440-9249-48AD-B8EB-3690678A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运行机制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B079271D-BDD9-43FC-BED0-F3239C6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总控用状态机处理“等待、升级、失效”，避免静默带错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06EC6-36B4-4677-819E-C4317585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5FC16F8B-D4AB-4461-86BF-1D014E81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A4411-4195-4676-8468-556748B6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81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正常路径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88886-9746-47E9-AF2A-93A7821C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019300"/>
            <a:ext cx="4895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8E2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75216-2670-4C66-934B-6695254E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3050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86111-37C1-4957-9EE5-8BC15AC3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229552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读取当前 WorkflowState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AD15E-3C01-45FC-92F2-592BCE1F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84797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75D19-D84E-418A-A6D9-30DDF637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28384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核对上游 Artifact 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D5975-443A-4423-B836-5005648C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390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EB0DE-928E-46CB-8DCE-56D6AB97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338137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调用对应专家并生成目标产物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03629-8C8D-4FC9-AABB-DB24FE5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93382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C208F-9E87-4790-8CEA-57CE6842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392430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CAP-04 预审或进入人工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12D80-0AEC-4399-9CC5-B6CA2C03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4767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8D5DA-8513-4502-B41A-C7203C4B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446722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更新注册表并路由下一任务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17670-1C1E-431E-8F6B-7B2C9734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异常必须显式出状态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2B77D-8327-4F74-9992-5A0703C3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20193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A44"/>
                </a:solidFill>
              </a:defRPr>
            </a:pPr>
            <a:r>
              <a:rPr sz="1275" b="1">
                <a:solidFill>
                  <a:srgbClr val="132A44"/>
                </a:solidFill>
              </a:rPr>
              <a:t>输入缺失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6F7EC-985C-47C4-B889-C8AF4985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2019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68B"/>
                </a:solidFill>
              </a:defRPr>
            </a:pPr>
            <a:r>
              <a:rPr sz="1125" b="1">
                <a:solidFill>
                  <a:srgbClr val="2E668B"/>
                </a:solidFill>
              </a:rPr>
              <a:t>WAITING_INPUT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6B76E-6B3D-415F-B7C5-B39E4123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20193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不猜测上游内容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89FAB-C8DC-4CCE-80B1-F688E7B3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24955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37A51-C81A-4648-AD29-E3F8A724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27051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A44"/>
                </a:solidFill>
              </a:defRPr>
            </a:pPr>
            <a:r>
              <a:rPr sz="1275" b="1">
                <a:solidFill>
                  <a:srgbClr val="132A44"/>
                </a:solidFill>
              </a:rPr>
              <a:t>金融事实不确定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6FA8DE-6049-483A-8968-249727E3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27051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68B"/>
                </a:solidFill>
              </a:defRPr>
            </a:pPr>
            <a:r>
              <a:rPr sz="1125" b="1">
                <a:solidFill>
                  <a:srgbClr val="2E668B"/>
                </a:solidFill>
              </a:rPr>
              <a:t>ESCALATED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A73A92-895F-4D41-9A35-3EE74169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2705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路由人工事实审核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A50C7-4AF5-4BE3-BE92-E5416558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1813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236881-BC0F-4DC1-A189-25CA5C07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3909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A44"/>
                </a:solidFill>
              </a:defRPr>
            </a:pPr>
            <a:r>
              <a:rPr sz="1275" b="1">
                <a:solidFill>
                  <a:srgbClr val="132A44"/>
                </a:solidFill>
              </a:rPr>
              <a:t>上游版本变化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B8C49E-11CF-4DF9-88CC-54A13AD5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33909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68B"/>
                </a:solidFill>
              </a:defRPr>
            </a:pPr>
            <a:r>
              <a:rPr sz="1125" b="1">
                <a:solidFill>
                  <a:srgbClr val="2E668B"/>
                </a:solidFill>
              </a:rPr>
              <a:t>STALE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E7B40-51BA-47F3-8FF4-EAD3F750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33909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下游产物失效并回退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C06ACE-AAF4-4126-BB5D-49CA34F1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8671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3C1384-6C7A-4C85-902B-5BB1BF47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076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A44"/>
                </a:solidFill>
              </a:defRPr>
            </a:pPr>
            <a:r>
              <a:rPr sz="1275" b="1">
                <a:solidFill>
                  <a:srgbClr val="132A44"/>
                </a:solidFill>
              </a:rPr>
              <a:t>请求跳过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047BE7-3FA5-4F27-AAD3-D71EACC1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40767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4D4D"/>
                </a:solidFill>
              </a:defRPr>
            </a:pPr>
            <a:r>
              <a:rPr sz="1125" b="1">
                <a:solidFill>
                  <a:srgbClr val="A94D4D"/>
                </a:solidFill>
              </a:rPr>
              <a:t>REJECTED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F93DE6-7EFC-4D6C-B20A-3E59DB06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40767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记录非法状态迁移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E552BE-F955-41B6-BAA7-AFE78BAF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5529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852C31-EB01-46A3-9EA7-4C77C9AE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762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A44"/>
                </a:solidFill>
              </a:defRPr>
            </a:pPr>
            <a:r>
              <a:rPr sz="1275" b="1">
                <a:solidFill>
                  <a:srgbClr val="132A44"/>
                </a:solidFill>
              </a:rPr>
              <a:t>外部工具失败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44B30C-0AB6-4E7C-BA3E-C550A0F7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4762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68B"/>
                </a:solidFill>
              </a:defRPr>
            </a:pPr>
            <a:r>
              <a:rPr sz="1125" b="1">
                <a:solidFill>
                  <a:srgbClr val="2E668B"/>
                </a:solidFill>
              </a:rPr>
              <a:t>FALLBACK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7487F9-F8B4-4BE0-A81E-32147FB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47625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保留核心产物，改人工导入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F45511-5247-4068-BC1E-959FF68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52387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09537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12">
            <a:extLst xmlns:a="http://schemas.openxmlformats.org/drawingml/2006/main">
              <a:ext uri="{FF2B5EF4-FFF2-40B4-BE49-F238E27FC236}">
                <a16:creationId xmlns:a16="http://schemas.microsoft.com/office/drawing/2014/main" id="{796C5581-48CF-4202-8B62-05906220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问卷—数据一体化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2C9C9508-AD33-4214-ACAD-FDB3B880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题目写下的同时，数据口径、分群与有效性也必须写下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34558-ABBB-420B-83DB-92A2E3D1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35065C54-2CED-4DAA-89D9-E65B5C3D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F2AB3-4A1B-47EF-B7CE-B323472E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430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A44"/>
                </a:solidFill>
              </a:defRPr>
            </a:pPr>
            <a:r>
              <a:rPr sz="1575" b="1">
                <a:solidFill>
                  <a:srgbClr val="132A44"/>
                </a:solidFill>
              </a:rPr>
              <a:t>InstrumentSpec 不只是“题目清单”，而是问卷与未来数据集的共同契约。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B58C3-DBCA-4692-9E47-D82EBB84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09800"/>
            <a:ext cx="18859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8E2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AD86F-7C14-4A5C-826E-A75B1D87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B47"/>
                </a:solidFill>
              </a:defRPr>
            </a:pPr>
            <a:r>
              <a:rPr sz="1125" b="1">
                <a:solidFill>
                  <a:srgbClr val="B78B47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EEA1C-6115-41EB-A343-95747E47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800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A44"/>
                </a:solidFill>
              </a:defRPr>
            </a:pPr>
            <a:r>
              <a:rPr sz="1575" b="1">
                <a:solidFill>
                  <a:srgbClr val="132A44"/>
                </a:solidFill>
              </a:rPr>
              <a:t>题目身份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C9BC7-985B-408A-8A6B-50D3ED0D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35280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question_id</a:t>
            </a:r>
          </a:p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版本与路由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B2532-E61E-4FD0-8459-084CE076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209800"/>
            <a:ext cx="18859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8E2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21124-1551-4268-9659-802517A3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B47"/>
                </a:solidFill>
              </a:defRPr>
            </a:pPr>
            <a:r>
              <a:rPr sz="1125" b="1">
                <a:solidFill>
                  <a:srgbClr val="B78B47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851B2-8DBD-476A-A3AB-330E5AF1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800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A44"/>
                </a:solidFill>
              </a:defRPr>
            </a:pPr>
            <a:r>
              <a:rPr sz="1575" b="1">
                <a:solidFill>
                  <a:srgbClr val="132A44"/>
                </a:solidFill>
              </a:rPr>
              <a:t>返回结构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5DE48-629C-4940-9F99-47C574B0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335280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题型与选项编码</a:t>
            </a:r>
          </a:p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缺失值、多选展开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AF539-CDE2-49BC-92FE-1E5337C7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209800"/>
            <a:ext cx="18859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CF"/>
          </a:solidFill>
          <a:ln xmlns:a="http://schemas.openxmlformats.org/drawingml/2006/main" w="9525">
            <a:solidFill>
              <a:srgbClr val="B78B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DEAE7-E524-42ED-9ED8-CE080840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B47"/>
                </a:solidFill>
              </a:defRPr>
            </a:pPr>
            <a:r>
              <a:rPr sz="1125" b="1">
                <a:solidFill>
                  <a:srgbClr val="B78B4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9F710-335A-4E6D-936C-1A3AB240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2800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A44"/>
                </a:solidFill>
              </a:defRPr>
            </a:pPr>
            <a:r>
              <a:rPr sz="1575" b="1">
                <a:solidFill>
                  <a:srgbClr val="132A44"/>
                </a:solidFill>
              </a:rPr>
              <a:t>分群变量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18D29-ECF7-463E-92CF-17A0EA14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35280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基础分群：年龄</a:t>
            </a:r>
          </a:p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按课题增补画像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93E31-AE7F-4946-8C99-D88D1151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2209800"/>
            <a:ext cx="18859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8E2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634B0-598D-4C4A-BB91-325C0CBE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B47"/>
                </a:solidFill>
              </a:defRPr>
            </a:pPr>
            <a:r>
              <a:rPr sz="1125" b="1">
                <a:solidFill>
                  <a:srgbClr val="B78B47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82173-A03F-4F51-B807-6F4ACA91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800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A44"/>
                </a:solidFill>
              </a:defRPr>
            </a:pPr>
            <a:r>
              <a:rPr sz="1575" b="1">
                <a:solidFill>
                  <a:srgbClr val="132A44"/>
                </a:solidFill>
              </a:rPr>
              <a:t>有效性规则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E0230-CBAC-4522-BAFB-9EA09E43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335280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单份答卷状态</a:t>
            </a:r>
          </a:p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整体数据集状态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D77FE-807E-47D9-9203-4D929546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2209800"/>
            <a:ext cx="18859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8E2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70687-C1D1-40A0-BAAE-A5F1FC11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400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B47"/>
                </a:solidFill>
              </a:defRPr>
            </a:pPr>
            <a:r>
              <a:rPr sz="1125" b="1">
                <a:solidFill>
                  <a:srgbClr val="B78B47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B20C7-4D3C-464E-8266-FAC96359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800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A44"/>
                </a:solidFill>
              </a:defRPr>
            </a:pPr>
            <a:r>
              <a:rPr sz="1575" b="1">
                <a:solidFill>
                  <a:srgbClr val="132A44"/>
                </a:solidFill>
              </a:rPr>
              <a:t>分析映射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7A69F1-2B87-41E9-9475-7043A4E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335280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假设与题目对应</a:t>
            </a:r>
          </a:p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表格、指标映射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DD017-9337-427B-82DD-EF2021F2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2197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68B"/>
                </a:solidFill>
              </a:defRPr>
            </a:pPr>
            <a:r>
              <a:rPr sz="1500" b="1">
                <a:solidFill>
                  <a:srgbClr val="2E668B"/>
                </a:solidFill>
              </a:rPr>
              <a:t>这样，CSV 回传后不是重新猜题意，而是直接按既定字段、有效性与分析计划落地。</a:t>
            </a:r>
          </a:p>
        </p:txBody>
      </p:sp>
    </p:spTree>
    <p:extLst>
      <p:ext uri="{BB962C8B-B14F-4D97-AF65-F5344CB8AC3E}">
        <p14:creationId xmlns:p14="http://schemas.microsoft.com/office/powerpoint/2010/main" val="15205912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13">
            <a:extLst xmlns:a="http://schemas.openxmlformats.org/drawingml/2006/main">
              <a:ext uri="{FF2B5EF4-FFF2-40B4-BE49-F238E27FC236}">
                <a16:creationId xmlns:a16="http://schemas.microsoft.com/office/drawing/2014/main" id="{A00BD5EA-0759-475C-8197-5F0DECE2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工具协作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8BBA609B-2DED-4D77-8277-28097F91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外部平台是适配器：方便发行与获取知识，但不改变研究主线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21270-C64F-4D31-AA79-AAD18316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49F1F0E-9414-4877-8469-12826BB1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600B4-4109-4EDB-A398-E6802072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752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A44"/>
                </a:solidFill>
              </a:defRPr>
            </a:pPr>
            <a:r>
              <a:rPr sz="1800" b="1">
                <a:solidFill>
                  <a:srgbClr val="132A44"/>
                </a:solidFill>
              </a:rPr>
              <a:t>腾讯问卷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DA4EE-F562-45F4-B88E-48EBE1A5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762125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智能发行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222D0-F902-45AC-8D16-69D97AF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17430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承载题目与回收答卷；最终分析以回传 Excel/CSV 字段为准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CBBFD-5BB1-416B-B554-3B79D24A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552700"/>
            <a:ext cx="1049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F9CA0-53CF-4208-A79C-3506DD04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067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A44"/>
                </a:solidFill>
              </a:defRPr>
            </a:pPr>
            <a:r>
              <a:rPr sz="1800" b="1">
                <a:solidFill>
                  <a:srgbClr val="132A44"/>
                </a:solidFill>
              </a:rPr>
              <a:t>Excel /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6E278-FB9C-47A5-95E2-85B9D6B9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3076575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数据回传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7FE77-4E34-4DB5-8342-C6A50956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305752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成为 FieldworkPackage 的数据载体；质量判断与统计在工作流内完成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D2A83-48A2-4F14-B857-FD6D0823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867150"/>
            <a:ext cx="1049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E1CE9-CCD1-48F0-B847-F2457FD8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81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A44"/>
                </a:solidFill>
              </a:defRPr>
            </a:pPr>
            <a:r>
              <a:rPr sz="1800" b="1">
                <a:solidFill>
                  <a:srgbClr val="132A44"/>
                </a:solidFill>
              </a:rPr>
              <a:t>IMA 知识库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E8DAB-E708-4FAA-AD66-FC32557C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4391025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轻量知识桥梁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09D79-2432-444B-8953-9A5964E2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43719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未来可用于金融事实复核与问卷内延伸阅读；当前保留接口，不启用深度追踪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3A3AB-1D9C-46D6-B2E4-29E076B1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81600"/>
            <a:ext cx="1049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13663-53CD-456F-A6C4-06DC3826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626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64CBB-BAFF-4DAD-8CE4-01BB8425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5705475"/>
            <a:ext cx="1040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平台可以替换；ResearchBrief、InstrumentSpec、InsightPackage 和 Gate 语义不能随平台漂移。</a:t>
            </a:r>
          </a:p>
        </p:txBody>
      </p:sp>
    </p:spTree>
    <p:extLst>
      <p:ext uri="{BB962C8B-B14F-4D97-AF65-F5344CB8AC3E}">
        <p14:creationId xmlns:p14="http://schemas.microsoft.com/office/powerpoint/2010/main" val="2909739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14">
            <a:extLst xmlns:a="http://schemas.openxmlformats.org/drawingml/2006/main">
              <a:ext uri="{FF2B5EF4-FFF2-40B4-BE49-F238E27FC236}">
                <a16:creationId xmlns:a16="http://schemas.microsoft.com/office/drawing/2014/main" id="{323A46D0-BCB5-420C-B548-ADFA4CF4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养老目标基金案例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4CA9680C-7EA6-4356-8DC3-1BBE22F8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Demo 先纠正假设：研究购买者，而非预设“开户沉睡”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95FA8-ACBC-464B-98C8-7D5A444D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F81458F-BEB6-4B90-A478-E094065F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CA970-315D-4727-88CC-F49E9493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57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4D4D"/>
                </a:solidFill>
              </a:defRPr>
            </a:pPr>
            <a:r>
              <a:rPr sz="1350" b="1">
                <a:solidFill>
                  <a:srgbClr val="A94D4D"/>
                </a:solidFill>
              </a:rPr>
              <a:t>初始方向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76B4A-5C39-4C8F-B589-1D36E54B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981200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717F"/>
                </a:solidFill>
              </a:defRPr>
            </a:pPr>
            <a:r>
              <a:rPr sz="1800" b="1">
                <a:solidFill>
                  <a:srgbClr val="64717F"/>
                </a:solidFill>
              </a:rPr>
              <a:t>“个人养老金开户后不再缴存或购买”的归因调查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34F4E-B4B9-4153-AE28-CDE75D3B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2114550"/>
            <a:ext cx="8191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2457E-D26F-4BEA-9FC2-A14EF8DF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1657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7F79"/>
                </a:solidFill>
              </a:defRPr>
            </a:pPr>
            <a:r>
              <a:rPr sz="1350" b="1">
                <a:solidFill>
                  <a:srgbClr val="3C7F79"/>
                </a:solidFill>
              </a:rPr>
              <a:t>最终研究命题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F11CA-8C96-45E0-A263-92EA637E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1981200"/>
            <a:ext cx="4629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A44"/>
                </a:solidFill>
              </a:defRPr>
            </a:pPr>
            <a:r>
              <a:rPr sz="2025" b="1">
                <a:solidFill>
                  <a:srgbClr val="132A44"/>
                </a:solidFill>
              </a:rPr>
              <a:t>养老目标基金购买者的认知、决策与持有行为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0BB20-1EA4-4EDB-9EB4-7E9AF7C1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895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B325F-5BE3-4139-9BF4-3F63C8FB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333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产品认知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C2E00-F89B-4A4D-AEBC-1A03E2D7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8290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是否理解目标日期、目标风险与风险边界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46E70-CE00-47BB-92AA-D52D2AFC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8958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D299C-FFF8-4707-9594-75BFFE1F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3333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下滑曲线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B174F-40D2-43A9-9843-CFF8D28E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38290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是否主动接触、如何理解、是否用于判断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53B48-25BF-4756-9127-344088E5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48958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5D685-48DD-47D4-BB1A-33F18FCF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333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决策路径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DE7B6-A2BE-4BD3-9E60-D021EC43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8290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购买触发因素与最终判断依据是否相同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A7AEA-DFE3-4CC4-942F-DD9A125F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8958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3FB870-635E-424E-BC10-B7959FF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333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持有与投教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117FA-3688-428D-AC9E-F4B6D9F4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8290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F"/>
                </a:solidFill>
              </a:defRPr>
            </a:pPr>
            <a:r>
              <a:rPr sz="1200" b="0">
                <a:solidFill>
                  <a:srgbClr val="64717F"/>
                </a:solidFill>
              </a:rPr>
              <a:t>持有期还需要哪些解释与教育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D7A57-4321-4D1D-8F21-49D54773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48958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82318C-6D53-4CDE-86C0-FE52C120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67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668B"/>
                </a:solidFill>
              </a:defRPr>
            </a:pPr>
            <a:r>
              <a:rPr sz="1725" b="1">
                <a:solidFill>
                  <a:srgbClr val="2E668B"/>
                </a:solidFill>
              </a:rPr>
              <a:t>真实执行：35项问卷 · 腾讯问卷发行 · 回传200份CSV答卷</a:t>
            </a:r>
          </a:p>
        </p:txBody>
      </p:sp>
    </p:spTree>
    <p:extLst>
      <p:ext uri="{BB962C8B-B14F-4D97-AF65-F5344CB8AC3E}">
        <p14:creationId xmlns:p14="http://schemas.microsoft.com/office/powerpoint/2010/main" val="19437840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15">
            <a:extLst xmlns:a="http://schemas.openxmlformats.org/drawingml/2006/main">
              <a:ext uri="{FF2B5EF4-FFF2-40B4-BE49-F238E27FC236}">
                <a16:creationId xmlns:a16="http://schemas.microsoft.com/office/drawing/2014/main" id="{2C467073-A70F-4126-BDF1-CCB1A712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数据有效性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3CEA631D-4560-4F40-9F8D-EFE17E2D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数据可以分析，但必须带着质量边界一起进入结论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AE760-77DE-4CAA-B445-EA7D285C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3F3EDD55-7EC4-406F-9D77-ABB53936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9206D-460E-40D1-9E8E-906AE27E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7526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32A44"/>
                </a:solidFill>
              </a:defRPr>
            </a:pPr>
            <a:r>
              <a:rPr sz="3750" b="1">
                <a:solidFill>
                  <a:srgbClr val="132A44"/>
                </a:solidFill>
              </a:rPr>
              <a:t>200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F4AC2-714C-4DE8-8D7C-3D8DC753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5336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F"/>
                </a:solidFill>
              </a:defRPr>
            </a:pPr>
            <a:r>
              <a:rPr sz="1275" b="0">
                <a:solidFill>
                  <a:srgbClr val="64717F"/>
                </a:solidFill>
              </a:rPr>
              <a:t>原始记录</a:t>
            </a:r>
          </a:p>
          <a:p xmlns:a="http://schemas.openxmlformats.org/drawingml/2006/main">
            <a:pPr algn="l">
              <a:defRPr sz="1275" b="0">
                <a:solidFill>
                  <a:srgbClr val="64717F"/>
                </a:solidFill>
              </a:defRPr>
            </a:pPr>
            <a:r>
              <a:rPr sz="1275" b="0">
                <a:solidFill>
                  <a:srgbClr val="64717F"/>
                </a:solidFill>
              </a:rPr>
              <a:t>均进入工作分析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CF27E-CC59-4BEB-B00A-CCE10219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17526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E668B"/>
                </a:solidFill>
              </a:defRPr>
            </a:pPr>
            <a:r>
              <a:rPr sz="3750" b="1">
                <a:solidFill>
                  <a:srgbClr val="2E668B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A426E-3DE8-4F2A-9B62-96C120C5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25336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F"/>
                </a:solidFill>
              </a:defRPr>
            </a:pPr>
            <a:r>
              <a:rPr sz="1275" b="0">
                <a:solidFill>
                  <a:srgbClr val="64717F"/>
                </a:solidFill>
              </a:rPr>
              <a:t>异常时长标记</a:t>
            </a:r>
          </a:p>
          <a:p xmlns:a="http://schemas.openxmlformats.org/drawingml/2006/main">
            <a:pPr algn="l">
              <a:defRPr sz="1275" b="0">
                <a:solidFill>
                  <a:srgbClr val="64717F"/>
                </a:solidFill>
              </a:defRPr>
            </a:pPr>
            <a:r>
              <a:rPr sz="1275" b="0">
                <a:solidFill>
                  <a:srgbClr val="64717F"/>
                </a:solidFill>
              </a:rPr>
              <a:t>用于敏感性分析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8C995-5572-4805-9636-837CE81D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17526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78B47"/>
                </a:solidFill>
              </a:defRPr>
            </a:pPr>
            <a:r>
              <a:rPr sz="3750" b="1">
                <a:solidFill>
                  <a:srgbClr val="B78B47"/>
                </a:solidFill>
              </a:rPr>
              <a:t>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37E90-CCA9-4D7F-8315-C94C7AB7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25336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F"/>
                </a:solidFill>
              </a:defRPr>
            </a:pPr>
            <a:r>
              <a:rPr sz="1275" b="0">
                <a:solidFill>
                  <a:srgbClr val="64717F"/>
                </a:solidFill>
              </a:rPr>
              <a:t>条互斥选择冲突</a:t>
            </a:r>
          </a:p>
          <a:p xmlns:a="http://schemas.openxmlformats.org/drawingml/2006/main">
            <a:pPr algn="l">
              <a:defRPr sz="1275" b="0">
                <a:solidFill>
                  <a:srgbClr val="64717F"/>
                </a:solidFill>
              </a:defRPr>
            </a:pPr>
            <a:r>
              <a:rPr sz="1275" b="0">
                <a:solidFill>
                  <a:srgbClr val="64717F"/>
                </a:solidFill>
              </a:rPr>
              <a:t>保留原始信息并标记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2FD72-2E9B-444D-BC89-94DA5017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17526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C7F79"/>
                </a:solidFill>
              </a:defRPr>
            </a:pPr>
            <a:r>
              <a:rPr sz="3750" b="1">
                <a:solidFill>
                  <a:srgbClr val="3C7F79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B8615-F4A6-4B29-A287-CC03C989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5336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F"/>
                </a:solidFill>
              </a:defRPr>
            </a:pPr>
            <a:r>
              <a:rPr sz="1275" b="0">
                <a:solidFill>
                  <a:srgbClr val="64717F"/>
                </a:solidFill>
              </a:rPr>
              <a:t>硬性剔除</a:t>
            </a:r>
          </a:p>
          <a:p xmlns:a="http://schemas.openxmlformats.org/drawingml/2006/main">
            <a:pPr algn="l">
              <a:defRPr sz="1275" b="0">
                <a:solidFill>
                  <a:srgbClr val="64717F"/>
                </a:solidFill>
              </a:defRPr>
            </a:pPr>
            <a:r>
              <a:rPr sz="1275" b="0">
                <a:solidFill>
                  <a:srgbClr val="64717F"/>
                </a:solidFill>
              </a:rPr>
              <a:t>不机械删除答卷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9D1E4-EEE3-476C-877A-323F701B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390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00242-DBEF-4228-8734-89D2A236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733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敏感性检验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DC63E-8199-4C92-A0DC-695D30D6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64B"/>
                </a:solidFill>
              </a:defRPr>
            </a:pPr>
            <a:r>
              <a:rPr sz="1350" b="0">
                <a:solidFill>
                  <a:srgbClr val="25364B"/>
                </a:solidFill>
              </a:rPr>
              <a:t>剔除12份异常时长答卷后，关键指标最大变化为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5BB5B-95D0-4C72-8C17-205F68F4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403860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56708"/>
                </a:solidFill>
              </a:defRPr>
            </a:pPr>
            <a:r>
              <a:rPr sz="2850" b="1">
                <a:solidFill>
                  <a:srgbClr val="D56708"/>
                </a:solidFill>
              </a:rPr>
              <a:t>2.2 个百分点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04B836-9BC8-4593-B638-CC13A2A3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800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64B"/>
                </a:solidFill>
              </a:defRPr>
            </a:pPr>
            <a:r>
              <a:rPr sz="1350" b="0">
                <a:solidFill>
                  <a:srgbClr val="25364B"/>
                </a:solidFill>
              </a:rPr>
              <a:t>主要方向未改变，因此数据集状态登记为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E0D82-0656-4DC2-8FF4-56552476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4762500"/>
            <a:ext cx="2781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ANALYSIS_READY_WITH_LIMITS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54874-027A-4FAD-8E3D-A44275E3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673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25F33-C5D4-4C57-831D-8E7360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6197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A44"/>
                </a:solidFill>
              </a:defRPr>
            </a:pPr>
            <a:r>
              <a:rPr sz="1350" b="1">
                <a:solidFill>
                  <a:srgbClr val="132A44"/>
                </a:solidFill>
              </a:rPr>
              <a:t>数据状态与治理状态分开：本案例可分析，但历史 Gate 2—4 未形成，不能事后补造。</a:t>
            </a:r>
          </a:p>
        </p:txBody>
      </p:sp>
    </p:spTree>
    <p:extLst>
      <p:ext uri="{BB962C8B-B14F-4D97-AF65-F5344CB8AC3E}">
        <p14:creationId xmlns:p14="http://schemas.microsoft.com/office/powerpoint/2010/main" val="11105715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6">
            <a:extLst xmlns:a="http://schemas.openxmlformats.org/drawingml/2006/main">
              <a:ext uri="{FF2B5EF4-FFF2-40B4-BE49-F238E27FC236}">
                <a16:creationId xmlns:a16="http://schemas.microsoft.com/office/drawing/2014/main" id="{313D0F85-363A-4645-92ED-D49B37CF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关键发现 1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56E5ABE9-DED0-4D9E-9F1C-FC69FA15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购买经历没有自动转化为稳定的跨概念理解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D25E6-D0D8-4029-A883-5BFCB061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6">
            <a:extLst xmlns:a="http://schemas.openxmlformats.org/drawingml/2006/main">
              <a:ext uri="{FF2B5EF4-FFF2-40B4-BE49-F238E27FC236}">
                <a16:creationId xmlns:a16="http://schemas.microsoft.com/office/drawing/2014/main" id="{E857291F-AA53-444D-A6D3-7CBAA9F1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5a867b56341f7"/>
          <a:stretch xmlns:a="http://schemas.openxmlformats.org/drawingml/2006/main"/>
        </p:blipFill>
        <p:spPr>
          <a:xfrm xmlns:a="http://schemas.openxmlformats.org/drawingml/2006/main">
            <a:off x="514350" y="1571625"/>
            <a:ext cx="7429500" cy="4457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6AEED-E7FA-4AAC-853A-2BDDDBC8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1657350"/>
            <a:ext cx="571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E0DE3-C053-4503-9C82-35FF220D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17907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56708"/>
                </a:solidFill>
              </a:defRPr>
            </a:pPr>
            <a:r>
              <a:rPr sz="3450" b="1">
                <a:solidFill>
                  <a:srgbClr val="D56708"/>
                </a:solidFill>
              </a:rPr>
              <a:t>20.0%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CDFB9-8985-4F11-983B-47DE0D74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2400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A44"/>
                </a:solidFill>
              </a:defRPr>
            </a:pPr>
            <a:r>
              <a:rPr sz="1425" b="1">
                <a:solidFill>
                  <a:srgbClr val="132A44"/>
                </a:solidFill>
              </a:rPr>
              <a:t>四项核心知识题全部答对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8D6BD-EC1D-4DF1-AE5F-B077952E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3238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C7F79"/>
                </a:solidFill>
              </a:defRPr>
            </a:pPr>
            <a:r>
              <a:rPr sz="2850" b="1">
                <a:solidFill>
                  <a:srgbClr val="3C7F79"/>
                </a:solidFill>
              </a:rPr>
              <a:t>39.5%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9C18B-7D25-4AEE-ABC7-1D1EC1C8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37909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64B"/>
                </a:solidFill>
              </a:defRPr>
            </a:pPr>
            <a:r>
              <a:rPr sz="1350" b="0">
                <a:solidFill>
                  <a:srgbClr val="25364B"/>
                </a:solidFill>
              </a:rPr>
              <a:t>产品类型两题均答对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9C0F7-9FFD-40E8-8EB4-0731FA74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4552950"/>
            <a:ext cx="2724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68B"/>
                </a:solidFill>
              </a:defRPr>
            </a:pPr>
            <a:r>
              <a:rPr sz="1275" b="1">
                <a:solidFill>
                  <a:srgbClr val="2E668B"/>
                </a:solidFill>
              </a:rPr>
              <a:t>结论不是“购买者完全不知道”，而是“单项会识别，但跨概念、跨风险边界的稳定理解不足”。</a:t>
            </a:r>
          </a:p>
        </p:txBody>
      </p:sp>
    </p:spTree>
    <p:extLst>
      <p:ext uri="{BB962C8B-B14F-4D97-AF65-F5344CB8AC3E}">
        <p14:creationId xmlns:p14="http://schemas.microsoft.com/office/powerpoint/2010/main" val="18058963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17">
            <a:extLst xmlns:a="http://schemas.openxmlformats.org/drawingml/2006/main">
              <a:ext uri="{FF2B5EF4-FFF2-40B4-BE49-F238E27FC236}">
                <a16:creationId xmlns:a16="http://schemas.microsoft.com/office/drawing/2014/main" id="{6F39A25A-5A59-4EE2-B2BF-398567FF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关键发现 2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D11694E0-B9BD-4A77-A576-9A837A04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下滑曲线“听过”不等于购买时真正拿来比较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BE195-3F67-4291-9B22-B5784070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7">
            <a:extLst xmlns:a="http://schemas.openxmlformats.org/drawingml/2006/main">
              <a:ext uri="{FF2B5EF4-FFF2-40B4-BE49-F238E27FC236}">
                <a16:creationId xmlns:a16="http://schemas.microsoft.com/office/drawing/2014/main" id="{41D80090-5A04-4A73-959E-5654B16C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17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d5c01be634bbf"/>
          <a:stretch xmlns:a="http://schemas.openxmlformats.org/drawingml/2006/main"/>
        </p:blipFill>
        <p:spPr>
          <a:xfrm xmlns:a="http://schemas.openxmlformats.org/drawingml/2006/main">
            <a:off x="524838" y="1485900"/>
            <a:ext cx="7541874" cy="4629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6D950-929B-4084-9822-68517D94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1657350"/>
            <a:ext cx="571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C5232-7098-430C-8AB2-F823FB82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1790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56708"/>
                </a:solidFill>
              </a:defRPr>
            </a:pPr>
            <a:r>
              <a:rPr sz="3150" b="1">
                <a:solidFill>
                  <a:srgbClr val="D56708"/>
                </a:solidFill>
              </a:rPr>
              <a:t>3.5%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CD2AF-7B46-4FA7-8646-A825023C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324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A44"/>
                </a:solidFill>
              </a:defRPr>
            </a:pPr>
            <a:r>
              <a:rPr sz="1350" b="1">
                <a:solidFill>
                  <a:srgbClr val="132A44"/>
                </a:solidFill>
              </a:rPr>
              <a:t>购买前主动比较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9D17F-CDDF-4D54-8054-C821EF2E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30289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78B47"/>
                </a:solidFill>
              </a:defRPr>
            </a:pPr>
            <a:r>
              <a:rPr sz="3150" b="1">
                <a:solidFill>
                  <a:srgbClr val="B78B47"/>
                </a:solidFill>
              </a:rPr>
              <a:t>51.0%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A7028-C88C-42D3-B236-7AA74383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3562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A44"/>
                </a:solidFill>
              </a:defRPr>
            </a:pPr>
            <a:r>
              <a:rPr sz="1350" b="1">
                <a:solidFill>
                  <a:srgbClr val="132A44"/>
                </a:solidFill>
              </a:rPr>
              <a:t>提示后自报影响决策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EF6E6-2CBF-4283-BD83-BE00C114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2672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C7F79"/>
                </a:solidFill>
              </a:defRPr>
            </a:pPr>
            <a:r>
              <a:rPr sz="3150" b="1">
                <a:solidFill>
                  <a:srgbClr val="3C7F79"/>
                </a:solidFill>
              </a:rPr>
              <a:t>59.5%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7ABB5-1C96-4DF6-9B27-CE8EAAD9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8006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持有期从未查看或想看但找不到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09B6C-CB1E-4815-ABB9-2EA54EF4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54673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4D4D"/>
                </a:solidFill>
              </a:defRPr>
            </a:pPr>
            <a:r>
              <a:rPr sz="1200" b="1">
                <a:solidFill>
                  <a:srgbClr val="A94D4D"/>
                </a:solidFill>
              </a:rPr>
              <a:t>三类指标来自不同题目和回忆方式，不能画成同一转化漏斗。</a:t>
            </a:r>
          </a:p>
        </p:txBody>
      </p:sp>
    </p:spTree>
    <p:extLst>
      <p:ext uri="{BB962C8B-B14F-4D97-AF65-F5344CB8AC3E}">
        <p14:creationId xmlns:p14="http://schemas.microsoft.com/office/powerpoint/2010/main" val="17392696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18">
            <a:extLst xmlns:a="http://schemas.openxmlformats.org/drawingml/2006/main">
              <a:ext uri="{FF2B5EF4-FFF2-40B4-BE49-F238E27FC236}">
                <a16:creationId xmlns:a16="http://schemas.microsoft.com/office/drawing/2014/main" id="{05570F2F-15DA-452B-A26F-F1EEF6A3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洞察与建议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F17DF567-0E7E-40BD-A839-DCD6256C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研究结论最终落到三类决策，而不是停在结果比例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CA325-C50D-4BC1-8E51-6B26A9C4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8">
            <a:extLst xmlns:a="http://schemas.openxmlformats.org/drawingml/2006/main">
              <a:ext uri="{FF2B5EF4-FFF2-40B4-BE49-F238E27FC236}">
                <a16:creationId xmlns:a16="http://schemas.microsoft.com/office/drawing/2014/main" id="{D5DF9629-B6F5-4E32-91DC-8914A96A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81AF1-B0E0-4F3A-8A38-0E644F8E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192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78B47"/>
                </a:solidFill>
              </a:defRPr>
            </a:pPr>
            <a:r>
              <a:rPr sz="1950" b="1">
                <a:solidFill>
                  <a:srgbClr val="B78B4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0874F-C49C-4FA8-8A80-0D63F5AC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619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认知状态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93B80-AF60-496A-8F47-E0A5A248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619250"/>
            <a:ext cx="451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364B"/>
                </a:solidFill>
              </a:defRPr>
            </a:pPr>
            <a:r>
              <a:rPr sz="1350" b="1">
                <a:solidFill>
                  <a:srgbClr val="25364B"/>
                </a:solidFill>
              </a:rPr>
              <a:t>购买者处于“知道一些，但关键边界不稳定”的中间状态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36C20-4702-4334-9615-43D6E0D1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192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668B"/>
                </a:solidFill>
              </a:defRPr>
            </a:pPr>
            <a:r>
              <a:rPr sz="1275" b="0">
                <a:solidFill>
                  <a:srgbClr val="2E668B"/>
                </a:solidFill>
              </a:rPr>
              <a:t>先解释产品类型与匹配，再讲收益叙事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393C2-05B0-4532-AE9B-71EA3981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514600"/>
            <a:ext cx="979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0855F-D4AF-4C2D-ADF6-8591BDF2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9718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78B47"/>
                </a:solidFill>
              </a:defRPr>
            </a:pPr>
            <a:r>
              <a:rPr sz="1950" b="1">
                <a:solidFill>
                  <a:srgbClr val="B78B4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C03AC-8EF2-4E6B-9E14-165AA333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971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决策信息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D282C-2500-4818-8120-809FF948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2971800"/>
            <a:ext cx="451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364B"/>
                </a:solidFill>
              </a:defRPr>
            </a:pPr>
            <a:r>
              <a:rPr sz="1350" b="1">
                <a:solidFill>
                  <a:srgbClr val="25364B"/>
                </a:solidFill>
              </a:rPr>
              <a:t>吸引点击的信息与支撑判断的信息并不相同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63582-1F23-4D54-9ABE-B70DC0DF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9718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668B"/>
                </a:solidFill>
              </a:defRPr>
            </a:pPr>
            <a:r>
              <a:rPr sz="1275" b="0">
                <a:solidFill>
                  <a:srgbClr val="2E668B"/>
                </a:solidFill>
              </a:rPr>
              <a:t>呈现当前/未来配置、变化原因与风险边界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D969D-8B16-4895-9F7A-14838924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3867150"/>
            <a:ext cx="979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8C46B-8144-47ED-9665-47866F13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243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56708"/>
                </a:solidFill>
              </a:defRPr>
            </a:pPr>
            <a:r>
              <a:rPr sz="1950" b="1">
                <a:solidFill>
                  <a:srgbClr val="D5670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61E77-F64D-4C78-84B7-05EC724B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A44"/>
                </a:solidFill>
              </a:defRPr>
            </a:pPr>
            <a:r>
              <a:rPr sz="1650" b="1">
                <a:solidFill>
                  <a:srgbClr val="132A44"/>
                </a:solidFill>
              </a:rPr>
              <a:t>投教时点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F985C-8D07-4E27-BC1A-29B97A53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324350"/>
            <a:ext cx="451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364B"/>
                </a:solidFill>
              </a:defRPr>
            </a:pPr>
            <a:r>
              <a:rPr sz="1350" b="1">
                <a:solidFill>
                  <a:srgbClr val="25364B"/>
                </a:solidFill>
              </a:rPr>
              <a:t>投资者教育不应只发生在购买前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9344F-2213-49FC-BC1E-AB146C36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3243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668B"/>
                </a:solidFill>
              </a:defRPr>
            </a:pPr>
            <a:r>
              <a:rPr sz="1275" b="0">
                <a:solidFill>
                  <a:srgbClr val="2E668B"/>
                </a:solidFill>
              </a:rPr>
              <a:t>在配置变化、市场波动与持有复盘时持续介入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F3281-8ECC-483F-9D21-FAA669B8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5219700"/>
            <a:ext cx="979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D6120-C6D8-4940-9333-69C1C50A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676900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028AB-7657-4660-9E0B-8756D3C9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7816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投教评价：验证“是否看懂与能否做判断”，不以点击量替代理解度。</a:t>
            </a:r>
          </a:p>
        </p:txBody>
      </p:sp>
    </p:spTree>
    <p:extLst>
      <p:ext uri="{BB962C8B-B14F-4D97-AF65-F5344CB8AC3E}">
        <p14:creationId xmlns:p14="http://schemas.microsoft.com/office/powerpoint/2010/main" val="13029761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-19">
            <a:extLst xmlns:a="http://schemas.openxmlformats.org/drawingml/2006/main">
              <a:ext uri="{FF2B5EF4-FFF2-40B4-BE49-F238E27FC236}">
                <a16:creationId xmlns:a16="http://schemas.microsoft.com/office/drawing/2014/main" id="{99F6EA62-3BCE-4ECE-AEA6-483DFF2C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能力边界与验证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46919C81-C371-4C61-B1C9-AFB5E17A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AI 提升研究产能，但证据边界和批准责任仍由人承担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40330-8AE0-411A-AEB7-5D207C2A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9">
            <a:extLst xmlns:a="http://schemas.openxmlformats.org/drawingml/2006/main">
              <a:ext uri="{FF2B5EF4-FFF2-40B4-BE49-F238E27FC236}">
                <a16:creationId xmlns:a16="http://schemas.microsoft.com/office/drawing/2014/main" id="{94CF3C9B-F703-44EF-AB60-4402AF16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1470F-1534-41AF-A9FA-4A318699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62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C7F79"/>
                </a:solidFill>
              </a:defRPr>
            </a:pPr>
            <a:r>
              <a:rPr sz="1650" b="1">
                <a:solidFill>
                  <a:srgbClr val="3C7F79"/>
                </a:solidFill>
              </a:rPr>
              <a:t>AI 已经承担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25D15-520C-46F4-9775-355B53D1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114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1DFCC-DCE6-41DF-BE8E-49B7D2C9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03835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需求转译与假设结构化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73E62-C6C6-4C52-8BA0-0EDF1278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7E33D-611E-44DF-8BE9-D77F21AE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5527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问卷/访谈初稿与数据契约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DCF51-061D-49B8-9F4A-E1662FD3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5D4B2-B201-482E-B058-81320996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06705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质量检查、编码统计与敏感性分析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66E01-7D58-4C1E-9AC4-F8483036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EB951-9612-4EA5-9A57-577B9A91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814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洞察链与展示报告初稿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EC465-9851-4011-A196-7850DBD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562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4D4D"/>
                </a:solidFill>
              </a:defRPr>
            </a:pPr>
            <a:r>
              <a:rPr sz="1650" b="1">
                <a:solidFill>
                  <a:srgbClr val="A94D4D"/>
                </a:solidFill>
              </a:rPr>
              <a:t>AI 明确不替代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DD376-797A-49FE-8EA3-330AC5F6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114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7E17A-530D-4214-A7B2-ACE4331C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0383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金融事实权威来源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7C226-DBDD-446D-B987-B6082A7A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A638D-40BE-44E1-AE5F-9716C310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527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样本代表性与业务意义判断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D8B71-312B-44CC-B8D1-72717A4C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BD6D8-B322-429D-B305-A5CDD77B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30670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Gate 审批、合规与分发授权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98DF-CB11-47E8-A421-25333A33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8F8DA-FCA6-442A-A1C9-50196C6B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35814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将研究建议直接变成业务决策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5ABA1-55C7-4B1B-856E-AEFB8FAB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248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117A6-B99D-4794-91DF-3525214A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14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A44"/>
                </a:solidFill>
              </a:defRPr>
            </a:pPr>
            <a:r>
              <a:rPr sz="1500" b="1">
                <a:solidFill>
                  <a:srgbClr val="132A44"/>
                </a:solidFill>
              </a:rPr>
              <a:t>当前验证证据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D1BFB4-036A-43D8-8ABF-AD6FBF58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914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E668B"/>
                </a:solidFill>
              </a:defRPr>
            </a:pPr>
            <a:r>
              <a:rPr sz="2400" b="1">
                <a:solidFill>
                  <a:srgbClr val="2E668B"/>
                </a:solidFill>
              </a:rPr>
              <a:t>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46B7F-6380-4B47-8477-A2467FA7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372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Schema 示例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9B24A4-4088-4C3E-B398-C5F49AC8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4914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E668B"/>
                </a:solidFill>
              </a:defRPr>
            </a:pPr>
            <a:r>
              <a:rPr sz="2400" b="1">
                <a:solidFill>
                  <a:srgbClr val="2E668B"/>
                </a:solidFill>
              </a:rPr>
              <a:t>39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E2CFC-E4E7-49D2-B46E-2357E8B1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5372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合同定义/盲测包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BEB173-83C5-4467-8690-C7074E58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4914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E668B"/>
                </a:solidFill>
              </a:defRPr>
            </a:pPr>
            <a:r>
              <a:rPr sz="2400" b="1">
                <a:solidFill>
                  <a:srgbClr val="2E668B"/>
                </a:solidFill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F3DD52-D2C3-4908-B8D4-B9FD22D8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5372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评估器测试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D0A465-F953-421D-882E-50433CCF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914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E668B"/>
                </a:solidFill>
              </a:defRPr>
            </a:pPr>
            <a:r>
              <a:rPr sz="2400" b="1">
                <a:solidFill>
                  <a:srgbClr val="2E668B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35E2A6-E635-43E7-B1B9-36441E0B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5372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运行时测试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C52DD1-CABF-4C01-9D0C-A0599042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4914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56708"/>
                </a:solidFill>
              </a:defRPr>
            </a:pPr>
            <a:r>
              <a:rPr sz="2400" b="1">
                <a:solidFill>
                  <a:srgbClr val="D56708"/>
                </a:solidFill>
              </a:rPr>
              <a:t>7+3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16ECF4-38F0-4588-8CA1-501058AD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5372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7F"/>
                </a:solidFill>
              </a:defRPr>
            </a:pPr>
            <a:r>
              <a:rPr sz="1125" b="0">
                <a:solidFill>
                  <a:srgbClr val="64717F"/>
                </a:solidFill>
              </a:rPr>
              <a:t>Agent 冒烟/回归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4FAA5A-94F8-4302-AD55-0A370A9C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9436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4D4D"/>
                </a:solidFill>
              </a:defRPr>
            </a:pPr>
            <a:r>
              <a:rPr sz="1275" b="1">
                <a:solidFill>
                  <a:srgbClr val="A94D4D"/>
                </a:solidFill>
              </a:rPr>
              <a:t>全项目自动检查已通过；但全部39条独立Agent测试与人工语义验收仍属于 TARGET。</a:t>
            </a:r>
          </a:p>
        </p:txBody>
      </p:sp>
    </p:spTree>
    <p:extLst>
      <p:ext uri="{BB962C8B-B14F-4D97-AF65-F5344CB8AC3E}">
        <p14:creationId xmlns:p14="http://schemas.microsoft.com/office/powerpoint/2010/main" val="19284407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20">
            <a:extLst xmlns:a="http://schemas.openxmlformats.org/drawingml/2006/main">
              <a:ext uri="{FF2B5EF4-FFF2-40B4-BE49-F238E27FC236}">
                <a16:creationId xmlns:a16="http://schemas.microsoft.com/office/drawing/2014/main" id="{E000BC7A-EA96-462F-99B2-F3C78552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8B47"/>
                </a:solidFill>
              </a:defRPr>
            </a:pPr>
            <a:r>
              <a:rPr sz="975" b="1">
                <a:solidFill>
                  <a:srgbClr val="B78B47"/>
                </a:solidFill>
              </a:rPr>
              <a:t>演进路线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52E41980-A21D-40E8-8ADB-8004AFF8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A44"/>
                </a:solidFill>
              </a:defRPr>
            </a:pPr>
            <a:r>
              <a:rPr sz="2850" b="1">
                <a:solidFill>
                  <a:srgbClr val="132A44"/>
                </a:solidFill>
              </a:rPr>
              <a:t>下一步不是扩张功能，而是用新课题完成真实治理闭环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A02FD-91F6-465E-BE86-09B557B0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19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0">
            <a:extLst xmlns:a="http://schemas.openxmlformats.org/drawingml/2006/main">
              <a:ext uri="{FF2B5EF4-FFF2-40B4-BE49-F238E27FC236}">
                <a16:creationId xmlns:a16="http://schemas.microsoft.com/office/drawing/2014/main" id="{68D75044-C053-4F44-AA70-A90E4077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103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17F"/>
                </a:solidFill>
              </a:defRPr>
            </a:pPr>
            <a:r>
              <a:rPr sz="900" b="0">
                <a:solidFill>
                  <a:srgbClr val="64717F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94719-E390-48B0-81C2-4D0F79DD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638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77B7B-EAA9-40A4-BFBD-C7F3C1AA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20383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3454B-7508-4A01-BB9C-AFCFDB22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1600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7F79"/>
                </a:solidFill>
              </a:defRPr>
            </a:pPr>
            <a:r>
              <a:rPr sz="1350" b="1">
                <a:solidFill>
                  <a:srgbClr val="3C7F79"/>
                </a:solidFill>
              </a:rPr>
              <a:t>现在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5AC33-59DB-4568-AA07-80DA99BC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1600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最小 Demo 已完成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06C5D-533D-4162-83DD-AD6CEA71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1609725"/>
            <a:ext cx="558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问卷主链、真实数据、洞察报告、本地运行与边界测试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99A8D-5866-41D6-95F5-8A837943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609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6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A5A21-02F9-4CC9-9677-6BB0C737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30099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8BCC2-6289-4EA7-9F9B-AC5451E8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25717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68B"/>
                </a:solidFill>
              </a:defRPr>
            </a:pPr>
            <a:r>
              <a:rPr sz="1350" b="1">
                <a:solidFill>
                  <a:srgbClr val="2E668B"/>
                </a:solidFill>
              </a:rPr>
              <a:t>下一轮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47602-8B5F-4A80-81EE-3848759D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2571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真实 Gate 2—4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933AF-BC7B-42B8-819C-6B815F2F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581275"/>
            <a:ext cx="558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用一个全新课题在发行前、洞察后和分发前留下真实审批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71CE8-84BC-47FB-AE8B-8FC5575B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24E82-8D9D-487D-BCC0-58D17900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39814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E82D7-2B18-4C7C-8DE3-50686537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35433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8B47"/>
                </a:solidFill>
              </a:defRPr>
            </a:pPr>
            <a:r>
              <a:rPr sz="1350" b="1">
                <a:solidFill>
                  <a:srgbClr val="B78B47"/>
                </a:solidFill>
              </a:rPr>
              <a:t>中期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B27E6-8FF2-4348-9C8B-3D0524EC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3543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补齐满血版验证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23592-0CD1-44DD-9988-8C3F2603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552825"/>
            <a:ext cx="558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访谈/组合研究路线、全部39条独立Agent测试、人工语义验收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0D8A5-94DA-42EC-8D34-D5737765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552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F2293-FFBD-4246-AD54-8D3D5A43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45148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A44"/>
                </a:solidFill>
              </a:defRPr>
            </a:pPr>
            <a:r>
              <a:rPr sz="1350" b="1">
                <a:solidFill>
                  <a:srgbClr val="132A44"/>
                </a:solidFill>
              </a:rPr>
              <a:t>生产化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70412-F7A5-4107-AEB3-E53C5BE5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4514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A44"/>
                </a:solidFill>
              </a:defRPr>
            </a:pPr>
            <a:r>
              <a:rPr sz="1725" b="1">
                <a:solidFill>
                  <a:srgbClr val="132A44"/>
                </a:solidFill>
              </a:rPr>
              <a:t>组织级迁移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2ED794-AB1C-447E-9073-AECEDDBE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524375"/>
            <a:ext cx="558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64B"/>
                </a:solidFill>
              </a:defRPr>
            </a:pPr>
            <a:r>
              <a:rPr sz="1275" b="0">
                <a:solidFill>
                  <a:srgbClr val="25364B"/>
                </a:solidFill>
              </a:rPr>
              <a:t>身份权限、审计、跨项目检索与资产复用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EEDA7-766B-476B-BC36-A04AE4C0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638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7A5AC-5017-4CB9-96B4-6B75A490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581025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最终价值：把 AI 从“临时写作助手”变成可审计、可复用、可持续进化的研究协作者。</a:t>
            </a:r>
          </a:p>
        </p:txBody>
      </p:sp>
    </p:spTree>
    <p:extLst>
      <p:ext uri="{BB962C8B-B14F-4D97-AF65-F5344CB8AC3E}">
        <p14:creationId xmlns:p14="http://schemas.microsoft.com/office/powerpoint/2010/main" val="1688110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2026-07-27T08:24:19.5830000Z</dcterms:created>
  <dcterms:modified xsi:type="dcterms:W3CDTF">2026-07-27T08:24:19.5830000Z</dcterms:modified>
</coreProperties>
</file>